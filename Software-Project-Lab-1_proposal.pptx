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1" r:id="rId3"/>
    <p:sldId id="258" r:id="rId4"/>
    <p:sldId id="262" r:id="rId5"/>
    <p:sldId id="259" r:id="rId6"/>
    <p:sldId id="264" r:id="rId7"/>
    <p:sldId id="257" r:id="rId8"/>
    <p:sldId id="263" r:id="rId9"/>
    <p:sldId id="260" r:id="rId10"/>
  </p:sldIdLst>
  <p:sldSz cx="14630400" cy="8229600"/>
  <p:notesSz cx="8229600" cy="14630400"/>
  <p:embeddedFontLst>
    <p:embeddedFont>
      <p:font typeface="Inter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33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1883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7F726-77B3-D272-84F5-AC99BEF24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1D2040-DFFC-9FCC-EE7A-D10BEC81D2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4A3795-113B-AC27-2D6C-3FC3B204BD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3683EA-610B-FC4D-7013-9648825AAA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8516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08E7F-319B-7048-0EC6-4274C8BA9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3912FA-2F61-D1A6-ABF2-30D094F884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A1BC21-C85C-EDF3-9921-9E1445E35D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DDFC9-D7EA-831C-B6FF-118EAA0808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1989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8AC0C-EE5A-AA92-11B9-BF7C62569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DBFFD6-9CB1-D5EB-4912-EFEC161916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3CE8A4-D95E-81F9-8F3F-C4CB214527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D2B63D-2D33-5704-B0F0-CD736EA646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8722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72C9C-1EC8-0BEA-C2AF-131142346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61A950-854A-6D3A-B5B6-D1B4326728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156F94-C428-46FB-ED12-03A32EE881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1ABD5E-E62D-26B6-272A-D218A4F144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882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C825011C-07C6-575C-9AB4-3927773A3576}"/>
              </a:ext>
            </a:extLst>
          </p:cNvPr>
          <p:cNvSpPr/>
          <p:nvPr/>
        </p:nvSpPr>
        <p:spPr>
          <a:xfrm>
            <a:off x="12788900" y="7734300"/>
            <a:ext cx="1828800" cy="469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1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E0F0A1A-0068-0528-BA67-979758BBE8FE}"/>
              </a:ext>
            </a:extLst>
          </p:cNvPr>
          <p:cNvGrpSpPr/>
          <p:nvPr/>
        </p:nvGrpSpPr>
        <p:grpSpPr>
          <a:xfrm>
            <a:off x="793790" y="660948"/>
            <a:ext cx="13042821" cy="1258848"/>
            <a:chOff x="793790" y="969169"/>
            <a:chExt cx="13042821" cy="1258848"/>
          </a:xfrm>
        </p:grpSpPr>
        <p:sp>
          <p:nvSpPr>
            <p:cNvPr id="2" name="Shape 0"/>
            <p:cNvSpPr/>
            <p:nvPr/>
          </p:nvSpPr>
          <p:spPr>
            <a:xfrm>
              <a:off x="793790" y="969169"/>
              <a:ext cx="13042821" cy="1258848"/>
            </a:xfrm>
            <a:prstGeom prst="roundRect">
              <a:avLst>
                <a:gd name="adj" fmla="val 7568"/>
              </a:avLst>
            </a:prstGeom>
            <a:solidFill>
              <a:schemeClr val="accent5">
                <a:lumMod val="40000"/>
                <a:lumOff val="60000"/>
                <a:alpha val="95000"/>
              </a:schemeClr>
            </a:solidFill>
            <a:ln w="30480">
              <a:solidFill>
                <a:schemeClr val="accent5">
                  <a:lumMod val="75000"/>
                </a:schemeClr>
              </a:solidFill>
              <a:prstDash val="solid"/>
            </a:ln>
          </p:spPr>
        </p:sp>
        <p:sp>
          <p:nvSpPr>
            <p:cNvPr id="3" name="Text 1"/>
            <p:cNvSpPr/>
            <p:nvPr/>
          </p:nvSpPr>
          <p:spPr>
            <a:xfrm>
              <a:off x="4062412" y="1226463"/>
              <a:ext cx="6505575" cy="74426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5850"/>
                </a:lnSpc>
                <a:buNone/>
              </a:pPr>
              <a:r>
                <a:rPr lang="en-US" sz="4650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 pitchFamily="34" charset="-122"/>
                  <a:cs typeface="Times New Roman" panose="02020603050405020304" pitchFamily="18" charset="0"/>
                </a:rPr>
                <a:t>Software Project Lab – 1 Proposal Presentation</a:t>
              </a:r>
              <a:endParaRPr lang="en-US" sz="4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" name="Text 2"/>
          <p:cNvSpPr/>
          <p:nvPr/>
        </p:nvSpPr>
        <p:spPr>
          <a:xfrm>
            <a:off x="793790" y="248316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1ABEC30-3AF0-2785-0390-CFCFF5FD6C5E}"/>
              </a:ext>
            </a:extLst>
          </p:cNvPr>
          <p:cNvGrpSpPr/>
          <p:nvPr/>
        </p:nvGrpSpPr>
        <p:grpSpPr>
          <a:xfrm>
            <a:off x="793790" y="2446988"/>
            <a:ext cx="13042821" cy="961192"/>
            <a:chOff x="793790" y="3464123"/>
            <a:chExt cx="13042821" cy="961192"/>
          </a:xfrm>
        </p:grpSpPr>
        <p:sp>
          <p:nvSpPr>
            <p:cNvPr id="5" name="Shape 3"/>
            <p:cNvSpPr/>
            <p:nvPr/>
          </p:nvSpPr>
          <p:spPr>
            <a:xfrm>
              <a:off x="793790" y="3464123"/>
              <a:ext cx="13042821" cy="961192"/>
            </a:xfrm>
            <a:prstGeom prst="roundRect">
              <a:avLst>
                <a:gd name="adj" fmla="val 9911"/>
              </a:avLst>
            </a:prstGeom>
            <a:solidFill>
              <a:schemeClr val="accent5">
                <a:lumMod val="40000"/>
                <a:lumOff val="60000"/>
                <a:alpha val="95000"/>
              </a:schemeClr>
            </a:solidFill>
            <a:ln w="30480">
              <a:solidFill>
                <a:schemeClr val="accent5">
                  <a:lumMod val="75000"/>
                </a:schemeClr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1549837" y="3721418"/>
              <a:ext cx="11530727" cy="4466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3500"/>
                </a:lnSpc>
                <a:buNone/>
              </a:pPr>
              <a:r>
                <a:rPr lang="en-US" sz="2800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 pitchFamily="34" charset="-122"/>
                  <a:cs typeface="Times New Roman" panose="02020603050405020304" pitchFamily="18" charset="0"/>
                </a:rPr>
                <a:t>Project Title: ImCloneDetect (Image-Based Code Clone Detection Tool)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Text 5"/>
          <p:cNvSpPr/>
          <p:nvPr/>
        </p:nvSpPr>
        <p:spPr>
          <a:xfrm>
            <a:off x="793790" y="468046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7B3FEAC-0E41-508C-E2C7-C721CCBCA9F0}"/>
              </a:ext>
            </a:extLst>
          </p:cNvPr>
          <p:cNvGrpSpPr/>
          <p:nvPr/>
        </p:nvGrpSpPr>
        <p:grpSpPr>
          <a:xfrm>
            <a:off x="793789" y="4411028"/>
            <a:ext cx="6089611" cy="2503129"/>
            <a:chOff x="793790" y="3464123"/>
            <a:chExt cx="13042821" cy="961192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5" name="Text 4">
              <a:extLst>
                <a:ext uri="{FF2B5EF4-FFF2-40B4-BE49-F238E27FC236}">
                  <a16:creationId xmlns:a16="http://schemas.microsoft.com/office/drawing/2014/main" id="{7825AABB-A8CF-EAF0-8AD4-DB0CFAB6EC40}"/>
                </a:ext>
              </a:extLst>
            </p:cNvPr>
            <p:cNvSpPr/>
            <p:nvPr/>
          </p:nvSpPr>
          <p:spPr>
            <a:xfrm>
              <a:off x="1549836" y="3566968"/>
              <a:ext cx="11530727" cy="759716"/>
            </a:xfrm>
            <a:prstGeom prst="rect">
              <a:avLst/>
            </a:prstGeom>
            <a:grpFill/>
            <a:ln/>
          </p:spPr>
          <p:txBody>
            <a:bodyPr wrap="none" lIns="0" tIns="0" rIns="0" bIns="0" rtlCol="0" anchor="t"/>
            <a:lstStyle/>
            <a:p>
              <a:endParaRPr lang="en-US" sz="2800" dirty="0"/>
            </a:p>
          </p:txBody>
        </p:sp>
        <p:sp>
          <p:nvSpPr>
            <p:cNvPr id="14" name="Shape 3">
              <a:extLst>
                <a:ext uri="{FF2B5EF4-FFF2-40B4-BE49-F238E27FC236}">
                  <a16:creationId xmlns:a16="http://schemas.microsoft.com/office/drawing/2014/main" id="{5CF51CB9-D735-30F0-B277-4F4DE4CBE599}"/>
                </a:ext>
              </a:extLst>
            </p:cNvPr>
            <p:cNvSpPr/>
            <p:nvPr/>
          </p:nvSpPr>
          <p:spPr>
            <a:xfrm>
              <a:off x="793790" y="3464123"/>
              <a:ext cx="13042821" cy="961192"/>
            </a:xfrm>
            <a:prstGeom prst="roundRect">
              <a:avLst>
                <a:gd name="adj" fmla="val 9911"/>
              </a:avLst>
            </a:prstGeom>
            <a:grpFill/>
            <a:ln w="30480">
              <a:solidFill>
                <a:schemeClr val="accent5">
                  <a:lumMod val="75000"/>
                </a:schemeClr>
              </a:solidFill>
              <a:prstDash val="solid"/>
            </a:ln>
          </p:spPr>
          <p:txBody>
            <a:bodyPr/>
            <a:lstStyle/>
            <a:p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Student Details:</a:t>
              </a:r>
            </a:p>
            <a:p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Md. Tawrat Hossen Nibir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Roll: BSSE 1625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Institute of Information Technology (IIT)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University of Dhaka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CFA3133-44E4-35A1-8A84-D53532840D5B}"/>
              </a:ext>
            </a:extLst>
          </p:cNvPr>
          <p:cNvGrpSpPr/>
          <p:nvPr/>
        </p:nvGrpSpPr>
        <p:grpSpPr>
          <a:xfrm>
            <a:off x="7746999" y="4411028"/>
            <a:ext cx="6089611" cy="2503129"/>
            <a:chOff x="793790" y="3464123"/>
            <a:chExt cx="13042821" cy="961192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22" name="Text 4">
              <a:extLst>
                <a:ext uri="{FF2B5EF4-FFF2-40B4-BE49-F238E27FC236}">
                  <a16:creationId xmlns:a16="http://schemas.microsoft.com/office/drawing/2014/main" id="{A3EB76B9-F8D4-A1CF-FE84-5CB50ED4A455}"/>
                </a:ext>
              </a:extLst>
            </p:cNvPr>
            <p:cNvSpPr/>
            <p:nvPr/>
          </p:nvSpPr>
          <p:spPr>
            <a:xfrm>
              <a:off x="1549836" y="3566968"/>
              <a:ext cx="11530727" cy="759716"/>
            </a:xfrm>
            <a:prstGeom prst="rect">
              <a:avLst/>
            </a:prstGeom>
            <a:grpFill/>
            <a:ln/>
          </p:spPr>
          <p:txBody>
            <a:bodyPr wrap="none" lIns="0" tIns="0" rIns="0" bIns="0" rtlCol="0" anchor="t"/>
            <a:lstStyle/>
            <a:p>
              <a:endParaRPr lang="en-US" sz="2800" dirty="0"/>
            </a:p>
          </p:txBody>
        </p:sp>
        <p:sp>
          <p:nvSpPr>
            <p:cNvPr id="21" name="Shape 3">
              <a:extLst>
                <a:ext uri="{FF2B5EF4-FFF2-40B4-BE49-F238E27FC236}">
                  <a16:creationId xmlns:a16="http://schemas.microsoft.com/office/drawing/2014/main" id="{48CD6C23-6CA0-989D-C0C9-8C8F0F77EEAD}"/>
                </a:ext>
              </a:extLst>
            </p:cNvPr>
            <p:cNvSpPr/>
            <p:nvPr/>
          </p:nvSpPr>
          <p:spPr>
            <a:xfrm>
              <a:off x="793790" y="3464123"/>
              <a:ext cx="13042821" cy="961192"/>
            </a:xfrm>
            <a:prstGeom prst="roundRect">
              <a:avLst>
                <a:gd name="adj" fmla="val 9911"/>
              </a:avLst>
            </a:prstGeom>
            <a:grpFill/>
            <a:ln w="30480">
              <a:solidFill>
                <a:schemeClr val="accent5">
                  <a:lumMod val="75000"/>
                </a:schemeClr>
              </a:solidFill>
              <a:prstDash val="solid"/>
            </a:ln>
          </p:spPr>
          <p:txBody>
            <a:bodyPr/>
            <a:lstStyle/>
            <a:p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Supervisor Details:</a:t>
              </a:r>
            </a:p>
            <a:p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Toukir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Ahammed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Lecturer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Institute of Information Technology (IIT)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University of Dhaka</a:t>
              </a:r>
            </a:p>
          </p:txBody>
        </p:sp>
      </p:grp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A7E42-F8A9-B9D3-F7F3-900D5B301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E8E7D2E7-3297-9C22-82BE-9B00E72E3AB8}"/>
              </a:ext>
            </a:extLst>
          </p:cNvPr>
          <p:cNvSpPr/>
          <p:nvPr/>
        </p:nvSpPr>
        <p:spPr>
          <a:xfrm>
            <a:off x="12788900" y="7734300"/>
            <a:ext cx="1828800" cy="469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2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D6406C9-D772-42DB-F7F5-30D40F15ADF6}"/>
              </a:ext>
            </a:extLst>
          </p:cNvPr>
          <p:cNvGrpSpPr/>
          <p:nvPr/>
        </p:nvGrpSpPr>
        <p:grpSpPr>
          <a:xfrm>
            <a:off x="793789" y="265272"/>
            <a:ext cx="13042821" cy="1258848"/>
            <a:chOff x="793790" y="969169"/>
            <a:chExt cx="13042821" cy="1258848"/>
          </a:xfrm>
        </p:grpSpPr>
        <p:sp>
          <p:nvSpPr>
            <p:cNvPr id="2" name="Shape 0">
              <a:extLst>
                <a:ext uri="{FF2B5EF4-FFF2-40B4-BE49-F238E27FC236}">
                  <a16:creationId xmlns:a16="http://schemas.microsoft.com/office/drawing/2014/main" id="{8C610857-4504-6BA3-9DB8-E92B3BBDD58C}"/>
                </a:ext>
              </a:extLst>
            </p:cNvPr>
            <p:cNvSpPr/>
            <p:nvPr/>
          </p:nvSpPr>
          <p:spPr>
            <a:xfrm>
              <a:off x="793790" y="969169"/>
              <a:ext cx="13042821" cy="1258848"/>
            </a:xfrm>
            <a:prstGeom prst="roundRect">
              <a:avLst>
                <a:gd name="adj" fmla="val 7568"/>
              </a:avLst>
            </a:prstGeom>
            <a:solidFill>
              <a:schemeClr val="accent5">
                <a:lumMod val="40000"/>
                <a:lumOff val="60000"/>
                <a:alpha val="95000"/>
              </a:schemeClr>
            </a:solidFill>
            <a:ln w="30480">
              <a:solidFill>
                <a:schemeClr val="accent5">
                  <a:lumMod val="75000"/>
                </a:schemeClr>
              </a:solidFill>
              <a:prstDash val="solid"/>
            </a:ln>
          </p:spPr>
        </p:sp>
        <p:sp>
          <p:nvSpPr>
            <p:cNvPr id="3" name="Text 1">
              <a:extLst>
                <a:ext uri="{FF2B5EF4-FFF2-40B4-BE49-F238E27FC236}">
                  <a16:creationId xmlns:a16="http://schemas.microsoft.com/office/drawing/2014/main" id="{DE446526-11A3-BAF5-1F50-AA92D34D69DD}"/>
                </a:ext>
              </a:extLst>
            </p:cNvPr>
            <p:cNvSpPr/>
            <p:nvPr/>
          </p:nvSpPr>
          <p:spPr>
            <a:xfrm>
              <a:off x="4062412" y="1226463"/>
              <a:ext cx="6505575" cy="74426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5850"/>
                </a:lnSpc>
                <a:buNone/>
              </a:pPr>
              <a:r>
                <a:rPr lang="en-US" sz="4650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 pitchFamily="34" charset="-122"/>
                  <a:cs typeface="Times New Roman" panose="02020603050405020304" pitchFamily="18" charset="0"/>
                </a:rPr>
                <a:t>Introduction</a:t>
              </a:r>
              <a:endParaRPr lang="en-US" sz="4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" name="Text 2">
            <a:extLst>
              <a:ext uri="{FF2B5EF4-FFF2-40B4-BE49-F238E27FC236}">
                <a16:creationId xmlns:a16="http://schemas.microsoft.com/office/drawing/2014/main" id="{482C73F1-A547-74E0-24D1-67BEE76D0C99}"/>
              </a:ext>
            </a:extLst>
          </p:cNvPr>
          <p:cNvSpPr/>
          <p:nvPr/>
        </p:nvSpPr>
        <p:spPr>
          <a:xfrm>
            <a:off x="793790" y="248316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EF0A698-AABF-073D-AF4D-8DE67126B45F}"/>
              </a:ext>
            </a:extLst>
          </p:cNvPr>
          <p:cNvGrpSpPr/>
          <p:nvPr/>
        </p:nvGrpSpPr>
        <p:grpSpPr>
          <a:xfrm>
            <a:off x="793787" y="1777127"/>
            <a:ext cx="13042821" cy="961192"/>
            <a:chOff x="793790" y="3464123"/>
            <a:chExt cx="13042821" cy="961192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ED7AA971-F1E6-EAED-080E-EDA27A04BCA5}"/>
                </a:ext>
              </a:extLst>
            </p:cNvPr>
            <p:cNvSpPr/>
            <p:nvPr/>
          </p:nvSpPr>
          <p:spPr>
            <a:xfrm>
              <a:off x="793790" y="3464123"/>
              <a:ext cx="13042821" cy="961192"/>
            </a:xfrm>
            <a:prstGeom prst="roundRect">
              <a:avLst>
                <a:gd name="adj" fmla="val 9911"/>
              </a:avLst>
            </a:prstGeom>
            <a:solidFill>
              <a:schemeClr val="accent5">
                <a:lumMod val="40000"/>
                <a:lumOff val="60000"/>
                <a:alpha val="95000"/>
              </a:schemeClr>
            </a:solidFill>
            <a:ln w="30480">
              <a:solidFill>
                <a:schemeClr val="accent5">
                  <a:lumMod val="75000"/>
                </a:schemeClr>
              </a:solidFill>
              <a:prstDash val="solid"/>
            </a:ln>
          </p:spPr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B18D4FB5-3893-76FA-6D3F-984D11A865AD}"/>
                </a:ext>
              </a:extLst>
            </p:cNvPr>
            <p:cNvSpPr/>
            <p:nvPr/>
          </p:nvSpPr>
          <p:spPr>
            <a:xfrm>
              <a:off x="1549837" y="3721418"/>
              <a:ext cx="11530727" cy="4466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3500"/>
                </a:lnSpc>
                <a:buNone/>
              </a:pPr>
              <a:r>
                <a:rPr lang="en-US" sz="2800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 pitchFamily="34" charset="-122"/>
                  <a:cs typeface="Times New Roman" panose="02020603050405020304" pitchFamily="18" charset="0"/>
                </a:rPr>
                <a:t>What is code clone?</a:t>
              </a:r>
            </a:p>
          </p:txBody>
        </p:sp>
      </p:grpSp>
      <p:sp>
        <p:nvSpPr>
          <p:cNvPr id="7" name="Text 5">
            <a:extLst>
              <a:ext uri="{FF2B5EF4-FFF2-40B4-BE49-F238E27FC236}">
                <a16:creationId xmlns:a16="http://schemas.microsoft.com/office/drawing/2014/main" id="{B5AA2D78-F823-C888-F9E6-CACC49384347}"/>
              </a:ext>
            </a:extLst>
          </p:cNvPr>
          <p:cNvSpPr/>
          <p:nvPr/>
        </p:nvSpPr>
        <p:spPr>
          <a:xfrm>
            <a:off x="793790" y="468046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507F6FA-5B3C-EAD6-9383-5AE21CB3FCF2}"/>
              </a:ext>
            </a:extLst>
          </p:cNvPr>
          <p:cNvGrpSpPr/>
          <p:nvPr/>
        </p:nvGrpSpPr>
        <p:grpSpPr>
          <a:xfrm>
            <a:off x="793790" y="3440073"/>
            <a:ext cx="5486400" cy="4209782"/>
            <a:chOff x="793790" y="3440073"/>
            <a:chExt cx="5486400" cy="4209782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C1B28171-2BBA-D095-5BED-600423D4A0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3790" y="3440073"/>
              <a:ext cx="5486400" cy="380047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11411E0-8293-32F6-36E8-307F8682EBAF}"/>
                </a:ext>
              </a:extLst>
            </p:cNvPr>
            <p:cNvSpPr/>
            <p:nvPr/>
          </p:nvSpPr>
          <p:spPr>
            <a:xfrm>
              <a:off x="3265120" y="7188190"/>
              <a:ext cx="543739" cy="46166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400" b="0" cap="none" spc="0" dirty="0">
                  <a:ln w="0"/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[2]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329875B-60D3-2ABE-64D4-4D96170ABF9E}"/>
              </a:ext>
            </a:extLst>
          </p:cNvPr>
          <p:cNvGrpSpPr/>
          <p:nvPr/>
        </p:nvGrpSpPr>
        <p:grpSpPr>
          <a:xfrm>
            <a:off x="8359736" y="3378160"/>
            <a:ext cx="5476875" cy="4271695"/>
            <a:chOff x="8359736" y="3378160"/>
            <a:chExt cx="5476875" cy="427169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7B024DED-CC7A-57B6-9805-01DC5572CB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59736" y="3378160"/>
              <a:ext cx="5476875" cy="3924300"/>
            </a:xfrm>
            <a:prstGeom prst="rect">
              <a:avLst/>
            </a:prstGeom>
          </p:spPr>
        </p:pic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31D65D2-F618-9828-5D67-B281B22ED42D}"/>
                </a:ext>
              </a:extLst>
            </p:cNvPr>
            <p:cNvSpPr/>
            <p:nvPr/>
          </p:nvSpPr>
          <p:spPr>
            <a:xfrm>
              <a:off x="10831067" y="7188190"/>
              <a:ext cx="543739" cy="46166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400" b="0" cap="none" spc="0" dirty="0">
                  <a:ln w="0"/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[2]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73935211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524C27BE-9CF1-88C0-768B-BC7AA093901B}"/>
              </a:ext>
            </a:extLst>
          </p:cNvPr>
          <p:cNvGrpSpPr/>
          <p:nvPr/>
        </p:nvGrpSpPr>
        <p:grpSpPr>
          <a:xfrm>
            <a:off x="793790" y="362506"/>
            <a:ext cx="13042821" cy="1258848"/>
            <a:chOff x="793790" y="1149906"/>
            <a:chExt cx="13042821" cy="1258848"/>
          </a:xfrm>
        </p:grpSpPr>
        <p:sp>
          <p:nvSpPr>
            <p:cNvPr id="2" name="Shape 0"/>
            <p:cNvSpPr/>
            <p:nvPr/>
          </p:nvSpPr>
          <p:spPr>
            <a:xfrm>
              <a:off x="793790" y="1149906"/>
              <a:ext cx="13042821" cy="1258848"/>
            </a:xfrm>
            <a:prstGeom prst="roundRect">
              <a:avLst>
                <a:gd name="adj" fmla="val 7568"/>
              </a:avLst>
            </a:prstGeom>
            <a:solidFill>
              <a:schemeClr val="accent5">
                <a:lumMod val="40000"/>
                <a:lumOff val="60000"/>
                <a:alpha val="95000"/>
              </a:schemeClr>
            </a:solidFill>
            <a:ln w="30480">
              <a:solidFill>
                <a:schemeClr val="accent5">
                  <a:lumMod val="75000"/>
                </a:schemeClr>
              </a:solidFill>
              <a:prstDash val="solid"/>
            </a:ln>
          </p:spPr>
        </p:sp>
        <p:sp>
          <p:nvSpPr>
            <p:cNvPr id="3" name="Text 1"/>
            <p:cNvSpPr/>
            <p:nvPr/>
          </p:nvSpPr>
          <p:spPr>
            <a:xfrm>
              <a:off x="3229471" y="1407200"/>
              <a:ext cx="8171458" cy="74426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5850"/>
                </a:lnSpc>
                <a:buNone/>
              </a:pPr>
              <a:r>
                <a:rPr lang="en-US" sz="4650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 pitchFamily="34" charset="-122"/>
                  <a:cs typeface="Times New Roman" panose="02020603050405020304" pitchFamily="18" charset="0"/>
                </a:rPr>
                <a:t>Project Description – “What?”</a:t>
              </a:r>
              <a:endParaRPr lang="en-US" sz="4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8F81AB8-702D-D518-9A00-D84FCC03F092}"/>
              </a:ext>
            </a:extLst>
          </p:cNvPr>
          <p:cNvGrpSpPr/>
          <p:nvPr/>
        </p:nvGrpSpPr>
        <p:grpSpPr>
          <a:xfrm>
            <a:off x="793790" y="2919054"/>
            <a:ext cx="13042821" cy="4557951"/>
            <a:chOff x="793790" y="2919055"/>
            <a:chExt cx="6244709" cy="1839278"/>
          </a:xfrm>
        </p:grpSpPr>
        <p:sp>
          <p:nvSpPr>
            <p:cNvPr id="4" name="Shape 2"/>
            <p:cNvSpPr/>
            <p:nvPr/>
          </p:nvSpPr>
          <p:spPr>
            <a:xfrm>
              <a:off x="793790" y="2919055"/>
              <a:ext cx="6244709" cy="1839278"/>
            </a:xfrm>
            <a:prstGeom prst="roundRect">
              <a:avLst>
                <a:gd name="adj" fmla="val 5180"/>
              </a:avLst>
            </a:prstGeom>
            <a:solidFill>
              <a:schemeClr val="accent4">
                <a:lumMod val="20000"/>
                <a:lumOff val="80000"/>
                <a:alpha val="95000"/>
              </a:schemeClr>
            </a:solidFill>
            <a:ln w="30480">
              <a:solidFill>
                <a:schemeClr val="accent5">
                  <a:lumMod val="75000"/>
                </a:schemeClr>
              </a:solidFill>
              <a:prstDash val="solid"/>
            </a:ln>
          </p:spPr>
        </p:sp>
        <p:sp>
          <p:nvSpPr>
            <p:cNvPr id="5" name="Text 3"/>
            <p:cNvSpPr/>
            <p:nvPr/>
          </p:nvSpPr>
          <p:spPr>
            <a:xfrm>
              <a:off x="2427625" y="3029506"/>
              <a:ext cx="2977039" cy="37207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900"/>
                </a:lnSpc>
                <a:buNone/>
              </a:pPr>
              <a:r>
                <a:rPr lang="en-US" sz="3600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 pitchFamily="34" charset="-122"/>
                  <a:cs typeface="Times New Roman" panose="02020603050405020304" pitchFamily="18" charset="0"/>
                </a:rPr>
                <a:t>Tool Development</a:t>
              </a:r>
              <a:endParaRPr lang="en-US" sz="3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Text 4"/>
            <p:cNvSpPr/>
            <p:nvPr/>
          </p:nvSpPr>
          <p:spPr>
            <a:xfrm>
              <a:off x="1051084" y="3775234"/>
              <a:ext cx="5730121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850"/>
                </a:lnSpc>
                <a:buNone/>
              </a:pPr>
              <a:r>
                <a:rPr lang="en-US" sz="240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Develop an Image-Based Code Clone Detection Tool designed for precision and efficiency.</a:t>
              </a:r>
              <a:endParaRPr lang="en-US" sz="2400" dirty="0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67C869AC-F46C-1933-D85F-F0E84B76B00F}"/>
              </a:ext>
            </a:extLst>
          </p:cNvPr>
          <p:cNvSpPr/>
          <p:nvPr/>
        </p:nvSpPr>
        <p:spPr>
          <a:xfrm>
            <a:off x="12788900" y="7734300"/>
            <a:ext cx="1828800" cy="469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3</a:t>
            </a: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630A7-4986-82BF-7017-5DA4A38F7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B3B1E0B8-1186-8F85-FA99-2760ADA2D3A5}"/>
              </a:ext>
            </a:extLst>
          </p:cNvPr>
          <p:cNvGrpSpPr/>
          <p:nvPr/>
        </p:nvGrpSpPr>
        <p:grpSpPr>
          <a:xfrm>
            <a:off x="793790" y="363775"/>
            <a:ext cx="13042821" cy="1258848"/>
            <a:chOff x="793790" y="1149906"/>
            <a:chExt cx="13042821" cy="1258848"/>
          </a:xfrm>
        </p:grpSpPr>
        <p:sp>
          <p:nvSpPr>
            <p:cNvPr id="2" name="Shape 0">
              <a:extLst>
                <a:ext uri="{FF2B5EF4-FFF2-40B4-BE49-F238E27FC236}">
                  <a16:creationId xmlns:a16="http://schemas.microsoft.com/office/drawing/2014/main" id="{0E8C6C66-A626-3E39-0217-2D33F533E568}"/>
                </a:ext>
              </a:extLst>
            </p:cNvPr>
            <p:cNvSpPr/>
            <p:nvPr/>
          </p:nvSpPr>
          <p:spPr>
            <a:xfrm>
              <a:off x="793790" y="1149906"/>
              <a:ext cx="13042821" cy="1258848"/>
            </a:xfrm>
            <a:prstGeom prst="roundRect">
              <a:avLst>
                <a:gd name="adj" fmla="val 7568"/>
              </a:avLst>
            </a:prstGeom>
            <a:solidFill>
              <a:schemeClr val="accent5">
                <a:lumMod val="40000"/>
                <a:lumOff val="60000"/>
                <a:alpha val="95000"/>
              </a:schemeClr>
            </a:solidFill>
            <a:ln w="30480">
              <a:solidFill>
                <a:schemeClr val="accent5">
                  <a:lumMod val="75000"/>
                </a:schemeClr>
              </a:solidFill>
              <a:prstDash val="solid"/>
            </a:ln>
          </p:spPr>
        </p:sp>
        <p:sp>
          <p:nvSpPr>
            <p:cNvPr id="3" name="Text 1">
              <a:extLst>
                <a:ext uri="{FF2B5EF4-FFF2-40B4-BE49-F238E27FC236}">
                  <a16:creationId xmlns:a16="http://schemas.microsoft.com/office/drawing/2014/main" id="{C09A7585-850A-B3EC-1D22-031E2EF5A257}"/>
                </a:ext>
              </a:extLst>
            </p:cNvPr>
            <p:cNvSpPr/>
            <p:nvPr/>
          </p:nvSpPr>
          <p:spPr>
            <a:xfrm>
              <a:off x="3229471" y="1407200"/>
              <a:ext cx="8171458" cy="74426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5850"/>
                </a:lnSpc>
                <a:buNone/>
              </a:pPr>
              <a:r>
                <a:rPr lang="en-US" sz="4650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 pitchFamily="34" charset="-122"/>
                  <a:cs typeface="Times New Roman" panose="02020603050405020304" pitchFamily="18" charset="0"/>
                </a:rPr>
                <a:t>Project Description – “How?”</a:t>
              </a:r>
              <a:endParaRPr lang="en-US" sz="4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6BA9F18-62FF-D1F7-D65F-BA59C050CFF5}"/>
              </a:ext>
            </a:extLst>
          </p:cNvPr>
          <p:cNvGrpSpPr/>
          <p:nvPr/>
        </p:nvGrpSpPr>
        <p:grpSpPr>
          <a:xfrm>
            <a:off x="7591903" y="3154223"/>
            <a:ext cx="6244709" cy="1839278"/>
            <a:chOff x="793790" y="4985147"/>
            <a:chExt cx="6244709" cy="1839278"/>
          </a:xfrm>
        </p:grpSpPr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AD11F751-F5C2-EE82-5271-6D5DE009F2B3}"/>
                </a:ext>
              </a:extLst>
            </p:cNvPr>
            <p:cNvSpPr/>
            <p:nvPr/>
          </p:nvSpPr>
          <p:spPr>
            <a:xfrm>
              <a:off x="793790" y="4985147"/>
              <a:ext cx="6244709" cy="1839278"/>
            </a:xfrm>
            <a:prstGeom prst="roundRect">
              <a:avLst>
                <a:gd name="adj" fmla="val 5180"/>
              </a:avLst>
            </a:prstGeom>
            <a:solidFill>
              <a:schemeClr val="accent4">
                <a:lumMod val="20000"/>
                <a:lumOff val="80000"/>
                <a:alpha val="95000"/>
              </a:schemeClr>
            </a:solidFill>
            <a:ln w="30480">
              <a:solidFill>
                <a:schemeClr val="accent5">
                  <a:lumMod val="75000"/>
                </a:schemeClr>
              </a:solidFill>
              <a:prstDash val="solid"/>
            </a:ln>
          </p:spPr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F702665F-B7F5-7693-E4FC-37AF8A6A235C}"/>
                </a:ext>
              </a:extLst>
            </p:cNvPr>
            <p:cNvSpPr/>
            <p:nvPr/>
          </p:nvSpPr>
          <p:spPr>
            <a:xfrm>
              <a:off x="1051084" y="5242441"/>
              <a:ext cx="2977039" cy="37207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900"/>
                </a:lnSpc>
                <a:buNone/>
              </a:pPr>
              <a:r>
                <a:rPr lang="en-US" sz="2300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 pitchFamily="34" charset="-122"/>
                  <a:cs typeface="Times New Roman" panose="02020603050405020304" pitchFamily="18" charset="0"/>
                </a:rPr>
                <a:t>Image Similarity</a:t>
              </a:r>
              <a:endParaRPr lang="en-US" sz="2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A1E9F406-FED6-8DF2-475E-FAD09402E8C6}"/>
                </a:ext>
              </a:extLst>
            </p:cNvPr>
            <p:cNvSpPr/>
            <p:nvPr/>
          </p:nvSpPr>
          <p:spPr>
            <a:xfrm>
              <a:off x="1051084" y="5841325"/>
              <a:ext cx="5730121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Detect similarities among source code images (PNG files) using advanced algorithms.</a:t>
              </a:r>
              <a:endParaRPr lang="en-US" sz="175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F6B93DC-EC52-A777-C7A5-8F683CA5F212}"/>
              </a:ext>
            </a:extLst>
          </p:cNvPr>
          <p:cNvGrpSpPr/>
          <p:nvPr/>
        </p:nvGrpSpPr>
        <p:grpSpPr>
          <a:xfrm>
            <a:off x="793790" y="3138983"/>
            <a:ext cx="6244709" cy="1839278"/>
            <a:chOff x="7599521" y="2919055"/>
            <a:chExt cx="6244709" cy="1839278"/>
          </a:xfrm>
        </p:grpSpPr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DFFFBDBF-1ADA-3468-38DE-7C67988C8AE0}"/>
                </a:ext>
              </a:extLst>
            </p:cNvPr>
            <p:cNvSpPr/>
            <p:nvPr/>
          </p:nvSpPr>
          <p:spPr>
            <a:xfrm>
              <a:off x="7599521" y="2919055"/>
              <a:ext cx="6244709" cy="1839278"/>
            </a:xfrm>
            <a:prstGeom prst="roundRect">
              <a:avLst>
                <a:gd name="adj" fmla="val 5180"/>
              </a:avLst>
            </a:prstGeom>
            <a:solidFill>
              <a:schemeClr val="accent4">
                <a:lumMod val="20000"/>
                <a:lumOff val="80000"/>
                <a:alpha val="95000"/>
              </a:schemeClr>
            </a:solidFill>
            <a:ln w="30480">
              <a:solidFill>
                <a:schemeClr val="accent5">
                  <a:lumMod val="75000"/>
                </a:schemeClr>
              </a:solidFill>
              <a:prstDash val="solid"/>
            </a:ln>
          </p:spPr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EF3ED97C-8758-FD21-48FD-B8EF0C55F4F2}"/>
                </a:ext>
              </a:extLst>
            </p:cNvPr>
            <p:cNvSpPr/>
            <p:nvPr/>
          </p:nvSpPr>
          <p:spPr>
            <a:xfrm>
              <a:off x="7856815" y="3176349"/>
              <a:ext cx="2977039" cy="37207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900"/>
                </a:lnSpc>
                <a:buNone/>
              </a:pPr>
              <a:r>
                <a:rPr lang="en-US" sz="2300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 pitchFamily="34" charset="-122"/>
                  <a:cs typeface="Times New Roman" panose="02020603050405020304" pitchFamily="18" charset="0"/>
                </a:rPr>
                <a:t>Core Algorithms</a:t>
              </a:r>
              <a:endParaRPr lang="en-US" sz="2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5B29D52F-08E5-B3C5-1792-76EB17E33B39}"/>
                </a:ext>
              </a:extLst>
            </p:cNvPr>
            <p:cNvSpPr/>
            <p:nvPr/>
          </p:nvSpPr>
          <p:spPr>
            <a:xfrm>
              <a:off x="7856815" y="3775234"/>
              <a:ext cx="5730121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Utilize Jaccard Distance </a:t>
              </a:r>
              <a:r>
                <a:rPr lang="en-US" sz="1750" dirty="0">
                  <a:solidFill>
                    <a:srgbClr val="272525"/>
                  </a:solidFill>
                  <a:latin typeface="Times New Roman" panose="02020603050405020304" pitchFamily="18" charset="0"/>
                  <a:ea typeface="Inter" pitchFamily="34" charset="-122"/>
                  <a:cs typeface="Times New Roman" panose="02020603050405020304" pitchFamily="18" charset="0"/>
                </a:rPr>
                <a:t>[1]</a:t>
              </a:r>
              <a:r>
                <a:rPr lang="en-US" sz="175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, Perceptual Hash (</a:t>
              </a:r>
              <a:r>
                <a:rPr lang="en-US" sz="1750" dirty="0" err="1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pHash</a:t>
              </a:r>
              <a:r>
                <a:rPr lang="en-US" sz="175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) [1], and Earth Mover's Distance (EMD) [2].</a:t>
              </a:r>
              <a:endParaRPr lang="en-US" sz="175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584F185-FCF5-6A88-3C8E-067E79116C19}"/>
              </a:ext>
            </a:extLst>
          </p:cNvPr>
          <p:cNvGrpSpPr/>
          <p:nvPr/>
        </p:nvGrpSpPr>
        <p:grpSpPr>
          <a:xfrm>
            <a:off x="4192845" y="5574982"/>
            <a:ext cx="6244709" cy="1839278"/>
            <a:chOff x="7599521" y="4985147"/>
            <a:chExt cx="6244709" cy="1839278"/>
          </a:xfrm>
        </p:grpSpPr>
        <p:sp>
          <p:nvSpPr>
            <p:cNvPr id="13" name="Shape 11">
              <a:extLst>
                <a:ext uri="{FF2B5EF4-FFF2-40B4-BE49-F238E27FC236}">
                  <a16:creationId xmlns:a16="http://schemas.microsoft.com/office/drawing/2014/main" id="{B4013FCE-B3EC-DBA0-56DF-8B48A9E2C3E8}"/>
                </a:ext>
              </a:extLst>
            </p:cNvPr>
            <p:cNvSpPr/>
            <p:nvPr/>
          </p:nvSpPr>
          <p:spPr>
            <a:xfrm>
              <a:off x="7599521" y="4985147"/>
              <a:ext cx="6244709" cy="1839278"/>
            </a:xfrm>
            <a:prstGeom prst="roundRect">
              <a:avLst>
                <a:gd name="adj" fmla="val 5180"/>
              </a:avLst>
            </a:prstGeom>
            <a:solidFill>
              <a:schemeClr val="accent4">
                <a:lumMod val="20000"/>
                <a:lumOff val="80000"/>
                <a:alpha val="95000"/>
              </a:schemeClr>
            </a:solidFill>
            <a:ln w="30480">
              <a:solidFill>
                <a:schemeClr val="accent5">
                  <a:lumMod val="75000"/>
                </a:schemeClr>
              </a:solidFill>
              <a:prstDash val="solid"/>
            </a:ln>
          </p:spPr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614620E1-AB49-485B-E15F-525A123E4143}"/>
                </a:ext>
              </a:extLst>
            </p:cNvPr>
            <p:cNvSpPr/>
            <p:nvPr/>
          </p:nvSpPr>
          <p:spPr>
            <a:xfrm>
              <a:off x="7856815" y="5242441"/>
              <a:ext cx="3135511" cy="37207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900"/>
                </a:lnSpc>
                <a:buNone/>
              </a:pPr>
              <a:r>
                <a:rPr lang="en-US" sz="2300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 pitchFamily="34" charset="-122"/>
                  <a:cs typeface="Times New Roman" panose="02020603050405020304" pitchFamily="18" charset="0"/>
                </a:rPr>
                <a:t>Output &amp; Visualization</a:t>
              </a:r>
              <a:endParaRPr lang="en-US" sz="2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AA8A6612-4D24-8729-BF89-B095F1BAA116}"/>
                </a:ext>
              </a:extLst>
            </p:cNvPr>
            <p:cNvSpPr/>
            <p:nvPr/>
          </p:nvSpPr>
          <p:spPr>
            <a:xfrm>
              <a:off x="7856815" y="5841325"/>
              <a:ext cx="5730121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Generate similarity results in CSV files and display them in the terminal, enabling visualization in future.</a:t>
              </a:r>
              <a:endParaRPr lang="en-US" sz="1750" dirty="0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84247BD6-89D4-B0E4-A339-74F4BFE5273F}"/>
              </a:ext>
            </a:extLst>
          </p:cNvPr>
          <p:cNvSpPr/>
          <p:nvPr/>
        </p:nvSpPr>
        <p:spPr>
          <a:xfrm>
            <a:off x="12788900" y="7734300"/>
            <a:ext cx="1828800" cy="469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63891437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19E48B13-D220-E6F3-A8FC-AD0D13AEA90B}"/>
              </a:ext>
            </a:extLst>
          </p:cNvPr>
          <p:cNvGrpSpPr/>
          <p:nvPr/>
        </p:nvGrpSpPr>
        <p:grpSpPr>
          <a:xfrm>
            <a:off x="793790" y="422160"/>
            <a:ext cx="13042821" cy="1258848"/>
            <a:chOff x="793790" y="1593413"/>
            <a:chExt cx="13042821" cy="1258848"/>
          </a:xfrm>
        </p:grpSpPr>
        <p:sp>
          <p:nvSpPr>
            <p:cNvPr id="2" name="Shape 0"/>
            <p:cNvSpPr/>
            <p:nvPr/>
          </p:nvSpPr>
          <p:spPr>
            <a:xfrm>
              <a:off x="793790" y="1593413"/>
              <a:ext cx="13042821" cy="1258848"/>
            </a:xfrm>
            <a:prstGeom prst="roundRect">
              <a:avLst>
                <a:gd name="adj" fmla="val 7568"/>
              </a:avLst>
            </a:prstGeom>
            <a:solidFill>
              <a:schemeClr val="accent5">
                <a:lumMod val="40000"/>
                <a:lumOff val="60000"/>
                <a:alpha val="95000"/>
              </a:schemeClr>
            </a:solidFill>
            <a:ln w="30480">
              <a:solidFill>
                <a:schemeClr val="accent5">
                  <a:lumMod val="75000"/>
                </a:schemeClr>
              </a:solidFill>
              <a:prstDash val="solid"/>
            </a:ln>
          </p:spPr>
        </p:sp>
        <p:sp>
          <p:nvSpPr>
            <p:cNvPr id="3" name="Text 1"/>
            <p:cNvSpPr/>
            <p:nvPr/>
          </p:nvSpPr>
          <p:spPr>
            <a:xfrm>
              <a:off x="4338042" y="1850708"/>
              <a:ext cx="5954197" cy="74426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5850"/>
                </a:lnSpc>
                <a:buNone/>
              </a:pPr>
              <a:r>
                <a:rPr lang="en-US" sz="4650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 pitchFamily="34" charset="-122"/>
                  <a:cs typeface="Times New Roman" panose="02020603050405020304" pitchFamily="18" charset="0"/>
                </a:rPr>
                <a:t>Project </a:t>
              </a:r>
              <a:r>
                <a:rPr lang="en-US" sz="4650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/>
                  <a:cs typeface="Times New Roman" panose="02020603050405020304" pitchFamily="18" charset="0"/>
                </a:rPr>
                <a:t>Scope</a:t>
              </a:r>
              <a:endParaRPr lang="en-US" sz="4650" dirty="0">
                <a:latin typeface="Times New Roman" panose="02020603050405020304" pitchFamily="18" charset="0"/>
                <a:ea typeface="Petrona Bold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D19B37C-0004-38D7-0EAC-DF9E8B189CB0}"/>
              </a:ext>
            </a:extLst>
          </p:cNvPr>
          <p:cNvGrpSpPr/>
          <p:nvPr/>
        </p:nvGrpSpPr>
        <p:grpSpPr>
          <a:xfrm>
            <a:off x="793790" y="3362562"/>
            <a:ext cx="6244709" cy="3622437"/>
            <a:chOff x="793790" y="3362562"/>
            <a:chExt cx="6244709" cy="3622437"/>
          </a:xfrm>
        </p:grpSpPr>
        <p:sp>
          <p:nvSpPr>
            <p:cNvPr id="4" name="Shape 2"/>
            <p:cNvSpPr/>
            <p:nvPr/>
          </p:nvSpPr>
          <p:spPr>
            <a:xfrm>
              <a:off x="793790" y="3362562"/>
              <a:ext cx="6244709" cy="3273625"/>
            </a:xfrm>
            <a:prstGeom prst="roundRect">
              <a:avLst>
                <a:gd name="adj" fmla="val 10745"/>
              </a:avLst>
            </a:prstGeom>
            <a:solidFill>
              <a:schemeClr val="accent4">
                <a:lumMod val="20000"/>
                <a:lumOff val="80000"/>
                <a:alpha val="95000"/>
              </a:schemeClr>
            </a:solidFill>
            <a:ln w="30480">
              <a:solidFill>
                <a:schemeClr val="accent5">
                  <a:lumMod val="75000"/>
                </a:scheme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 3"/>
            <p:cNvSpPr/>
            <p:nvPr/>
          </p:nvSpPr>
          <p:spPr>
            <a:xfrm>
              <a:off x="1051084" y="3619856"/>
              <a:ext cx="5591016" cy="336514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900"/>
                </a:lnSpc>
                <a:buNone/>
              </a:pPr>
              <a:r>
                <a:rPr lang="en-US" sz="2300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 pitchFamily="34" charset="-122"/>
                  <a:cs typeface="Times New Roman" panose="02020603050405020304" pitchFamily="18" charset="0"/>
                </a:rPr>
                <a:t>What I Will Do:</a:t>
              </a:r>
            </a:p>
            <a:p>
              <a:pPr>
                <a:lnSpc>
                  <a:spcPts val="2900"/>
                </a:lnSpc>
              </a:pPr>
              <a:endParaRPr lang="en-US" sz="1750" dirty="0">
                <a:solidFill>
                  <a:srgbClr val="272525"/>
                </a:solidFill>
                <a:latin typeface="Times New Roman" panose="02020603050405020304" pitchFamily="18" charset="0"/>
                <a:ea typeface="Inter" panose="020B0604020202020204" charset="0"/>
                <a:cs typeface="Times New Roman" panose="02020603050405020304" pitchFamily="18" charset="0"/>
              </a:endParaRPr>
            </a:p>
            <a:p>
              <a:pPr marL="285750" indent="-285750">
                <a:lnSpc>
                  <a:spcPts val="2900"/>
                </a:lnSpc>
                <a:buFont typeface="Arial" panose="020B0604020202020204" pitchFamily="34" charset="0"/>
                <a:buChar char="•"/>
              </a:pPr>
              <a:r>
                <a:rPr lang="en-US" sz="1750" dirty="0">
                  <a:solidFill>
                    <a:srgbClr val="272525"/>
                  </a:solidFill>
                  <a:latin typeface="Times New Roman" panose="02020603050405020304" pitchFamily="18" charset="0"/>
                  <a:ea typeface="Inter" panose="020B0604020202020204" charset="0"/>
                  <a:cs typeface="Times New Roman" panose="02020603050405020304" pitchFamily="18" charset="0"/>
                </a:rPr>
                <a:t>Implement CLI-based image similarity system</a:t>
              </a:r>
              <a:endParaRPr lang="en-US" sz="1750" dirty="0">
                <a:latin typeface="Times New Roman" panose="02020603050405020304" pitchFamily="18" charset="0"/>
                <a:ea typeface="Inter" panose="020B0604020202020204" charset="0"/>
                <a:cs typeface="Times New Roman" panose="02020603050405020304" pitchFamily="18" charset="0"/>
              </a:endParaRPr>
            </a:p>
            <a:p>
              <a:pPr marL="285750" indent="-285750">
                <a:lnSpc>
                  <a:spcPts val="2900"/>
                </a:lnSpc>
                <a:buFont typeface="Arial" panose="020B0604020202020204" pitchFamily="34" charset="0"/>
                <a:buChar char="•"/>
              </a:pPr>
              <a:r>
                <a:rPr lang="en-US" sz="1750" dirty="0">
                  <a:latin typeface="Times New Roman" panose="02020603050405020304" pitchFamily="18" charset="0"/>
                  <a:ea typeface="Inter" panose="020B0604020202020204" charset="0"/>
                  <a:cs typeface="Times New Roman" panose="02020603050405020304" pitchFamily="18" charset="0"/>
                </a:rPr>
                <a:t>Apply three independent algorithms </a:t>
              </a:r>
            </a:p>
            <a:p>
              <a:pPr>
                <a:lnSpc>
                  <a:spcPts val="2900"/>
                </a:lnSpc>
              </a:pPr>
              <a:r>
                <a:rPr lang="en-US" sz="1750" dirty="0">
                  <a:latin typeface="Times New Roman" panose="02020603050405020304" pitchFamily="18" charset="0"/>
                  <a:ea typeface="Inter" panose="020B0604020202020204" charset="0"/>
                  <a:cs typeface="Times New Roman" panose="02020603050405020304" pitchFamily="18" charset="0"/>
                </a:rPr>
                <a:t>     (Jaccard [1], </a:t>
              </a:r>
              <a:r>
                <a:rPr lang="en-US" sz="1750" dirty="0" err="1">
                  <a:latin typeface="Times New Roman" panose="02020603050405020304" pitchFamily="18" charset="0"/>
                  <a:ea typeface="Inter" panose="020B0604020202020204" charset="0"/>
                  <a:cs typeface="Times New Roman" panose="02020603050405020304" pitchFamily="18" charset="0"/>
                </a:rPr>
                <a:t>pHash</a:t>
              </a:r>
              <a:r>
                <a:rPr lang="en-US" sz="1750" dirty="0">
                  <a:latin typeface="Times New Roman" panose="02020603050405020304" pitchFamily="18" charset="0"/>
                  <a:ea typeface="Inter" panose="020B0604020202020204" charset="0"/>
                  <a:cs typeface="Times New Roman" panose="02020603050405020304" pitchFamily="18" charset="0"/>
                </a:rPr>
                <a:t> [1], EMD [2])</a:t>
              </a:r>
            </a:p>
            <a:p>
              <a:pPr marL="285750" indent="-285750">
                <a:lnSpc>
                  <a:spcPts val="2900"/>
                </a:lnSpc>
                <a:buFont typeface="Arial" panose="020B0604020202020204" pitchFamily="34" charset="0"/>
                <a:buChar char="•"/>
              </a:pPr>
              <a:r>
                <a:rPr lang="en-US" sz="1750" dirty="0">
                  <a:latin typeface="Times New Roman" panose="02020603050405020304" pitchFamily="18" charset="0"/>
                  <a:ea typeface="Inter" panose="020B0604020202020204" charset="0"/>
                  <a:cs typeface="Times New Roman" panose="02020603050405020304" pitchFamily="18" charset="0"/>
                </a:rPr>
                <a:t>Store and display results effectively</a:t>
              </a:r>
            </a:p>
            <a:p>
              <a:pPr marL="285750" indent="-285750">
                <a:lnSpc>
                  <a:spcPts val="2900"/>
                </a:lnSpc>
                <a:buFont typeface="Arial" panose="020B0604020202020204" pitchFamily="34" charset="0"/>
                <a:buChar char="•"/>
              </a:pPr>
              <a:r>
                <a:rPr lang="en-US" sz="1750" dirty="0">
                  <a:latin typeface="Times New Roman" panose="02020603050405020304" pitchFamily="18" charset="0"/>
                  <a:ea typeface="Inter" panose="020B0604020202020204" charset="0"/>
                  <a:cs typeface="Times New Roman" panose="02020603050405020304" pitchFamily="18" charset="0"/>
                </a:rPr>
                <a:t>Prepare CSV outputs for external visualization</a:t>
              </a:r>
            </a:p>
            <a:p>
              <a:pPr marL="285750" indent="-285750" algn="l">
                <a:lnSpc>
                  <a:spcPts val="2900"/>
                </a:lnSpc>
                <a:buFont typeface="Arial" panose="020B0604020202020204" pitchFamily="34" charset="0"/>
                <a:buChar char="•"/>
              </a:pPr>
              <a:endParaRPr lang="en-US" sz="1750" dirty="0">
                <a:latin typeface="Times New Roman" panose="02020603050405020304" pitchFamily="18" charset="0"/>
                <a:ea typeface="Inter" panose="020B060402020202020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5F940FB-7605-9B7C-23A0-BD802D46EC75}"/>
              </a:ext>
            </a:extLst>
          </p:cNvPr>
          <p:cNvGrpSpPr/>
          <p:nvPr/>
        </p:nvGrpSpPr>
        <p:grpSpPr>
          <a:xfrm>
            <a:off x="7599521" y="3362563"/>
            <a:ext cx="6244709" cy="3622436"/>
            <a:chOff x="7599521" y="3362563"/>
            <a:chExt cx="6244709" cy="3622436"/>
          </a:xfrm>
        </p:grpSpPr>
        <p:sp>
          <p:nvSpPr>
            <p:cNvPr id="10" name="Shape 8"/>
            <p:cNvSpPr/>
            <p:nvPr/>
          </p:nvSpPr>
          <p:spPr>
            <a:xfrm>
              <a:off x="7599521" y="3362563"/>
              <a:ext cx="6244709" cy="3365142"/>
            </a:xfrm>
            <a:prstGeom prst="roundRect">
              <a:avLst>
                <a:gd name="adj" fmla="val 10745"/>
              </a:avLst>
            </a:prstGeom>
            <a:solidFill>
              <a:schemeClr val="accent4">
                <a:lumMod val="20000"/>
                <a:lumOff val="80000"/>
                <a:alpha val="95000"/>
              </a:schemeClr>
            </a:solidFill>
            <a:ln w="30480">
              <a:solidFill>
                <a:schemeClr val="accent5">
                  <a:lumMod val="75000"/>
                </a:schemeClr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7856815" y="3619857"/>
              <a:ext cx="5722501" cy="336514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900"/>
                </a:lnSpc>
                <a:buNone/>
              </a:pPr>
              <a:r>
                <a:rPr lang="en-US" sz="2300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 pitchFamily="34" charset="-122"/>
                  <a:cs typeface="Times New Roman" panose="02020603050405020304" pitchFamily="18" charset="0"/>
                </a:rPr>
                <a:t>Assumptions:</a:t>
              </a:r>
            </a:p>
            <a:p>
              <a:pPr>
                <a:lnSpc>
                  <a:spcPts val="2900"/>
                </a:lnSpc>
              </a:pPr>
              <a:endParaRPr lang="en-US" sz="17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endParaRPr>
            </a:p>
            <a:p>
              <a:pPr marL="285750" indent="-285750">
                <a:lnSpc>
                  <a:spcPts val="2900"/>
                </a:lnSpc>
                <a:buFont typeface="Arial" panose="020B0604020202020204" pitchFamily="34" charset="0"/>
                <a:buChar char="•"/>
              </a:pPr>
              <a:r>
                <a:rPr lang="en-US" sz="1750" dirty="0">
                  <a:latin typeface="Times New Roman" panose="02020603050405020304" pitchFamily="18" charset="0"/>
                  <a:ea typeface="Inter" panose="020B0604020202020204" charset="0"/>
                  <a:cs typeface="Times New Roman" panose="02020603050405020304" pitchFamily="18" charset="0"/>
                </a:rPr>
                <a:t>The input images contain codes without whitespaces and </a:t>
              </a:r>
            </a:p>
            <a:p>
              <a:pPr>
                <a:lnSpc>
                  <a:spcPts val="2900"/>
                </a:lnSpc>
              </a:pPr>
              <a:r>
                <a:rPr lang="en-US" sz="1750" dirty="0">
                  <a:latin typeface="Times New Roman" panose="02020603050405020304" pitchFamily="18" charset="0"/>
                  <a:ea typeface="Inter" panose="020B0604020202020204" charset="0"/>
                  <a:cs typeface="Times New Roman" panose="02020603050405020304" pitchFamily="18" charset="0"/>
                </a:rPr>
                <a:t>      comments</a:t>
              </a:r>
            </a:p>
            <a:p>
              <a:pPr marL="285750" indent="-285750">
                <a:lnSpc>
                  <a:spcPts val="2900"/>
                </a:lnSpc>
                <a:buFont typeface="Arial" panose="020B0604020202020204" pitchFamily="34" charset="0"/>
                <a:buChar char="•"/>
              </a:pPr>
              <a:r>
                <a:rPr lang="en-US" sz="1750" dirty="0">
                  <a:latin typeface="Times New Roman" panose="02020603050405020304" pitchFamily="18" charset="0"/>
                  <a:ea typeface="Inter" panose="020B0604020202020204" charset="0"/>
                  <a:cs typeface="Times New Roman" panose="02020603050405020304" pitchFamily="18" charset="0"/>
                </a:rPr>
                <a:t>Images must be functions of same language</a:t>
              </a:r>
            </a:p>
            <a:p>
              <a:pPr marL="285750" indent="-285750">
                <a:lnSpc>
                  <a:spcPts val="2900"/>
                </a:lnSpc>
                <a:buFont typeface="Arial" panose="020B0604020202020204" pitchFamily="34" charset="0"/>
                <a:buChar char="•"/>
              </a:pPr>
              <a:r>
                <a:rPr lang="en-US" sz="1750" dirty="0">
                  <a:latin typeface="Times New Roman" panose="02020603050405020304" pitchFamily="18" charset="0"/>
                  <a:ea typeface="Inter" panose="020B0604020202020204" charset="0"/>
                  <a:cs typeface="Times New Roman" panose="02020603050405020304" pitchFamily="18" charset="0"/>
                </a:rPr>
                <a:t>Codes in the images must be syntax highlighted</a:t>
              </a:r>
            </a:p>
            <a:p>
              <a:pPr algn="l">
                <a:lnSpc>
                  <a:spcPts val="2900"/>
                </a:lnSpc>
              </a:pPr>
              <a:endParaRPr lang="en-US" sz="1750" dirty="0">
                <a:latin typeface="Times New Roman" panose="02020603050405020304" pitchFamily="18" charset="0"/>
                <a:ea typeface="Inter" panose="020B060402020202020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73466BCD-7670-A68C-8BAD-6FF03A20963A}"/>
              </a:ext>
            </a:extLst>
          </p:cNvPr>
          <p:cNvSpPr/>
          <p:nvPr/>
        </p:nvSpPr>
        <p:spPr>
          <a:xfrm>
            <a:off x="12788900" y="7734300"/>
            <a:ext cx="1828800" cy="469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5</a:t>
            </a: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6ED3B-5684-0900-9D37-C58EB1F65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4260B579-4F56-3703-CD4A-26194888A300}"/>
              </a:ext>
            </a:extLst>
          </p:cNvPr>
          <p:cNvGrpSpPr/>
          <p:nvPr/>
        </p:nvGrpSpPr>
        <p:grpSpPr>
          <a:xfrm>
            <a:off x="793790" y="334565"/>
            <a:ext cx="13042821" cy="1258848"/>
            <a:chOff x="793790" y="1593413"/>
            <a:chExt cx="13042821" cy="1258848"/>
          </a:xfrm>
        </p:grpSpPr>
        <p:sp>
          <p:nvSpPr>
            <p:cNvPr id="2" name="Shape 0">
              <a:extLst>
                <a:ext uri="{FF2B5EF4-FFF2-40B4-BE49-F238E27FC236}">
                  <a16:creationId xmlns:a16="http://schemas.microsoft.com/office/drawing/2014/main" id="{92F6B60F-9E5E-6269-6910-3E449E90E41F}"/>
                </a:ext>
              </a:extLst>
            </p:cNvPr>
            <p:cNvSpPr/>
            <p:nvPr/>
          </p:nvSpPr>
          <p:spPr>
            <a:xfrm>
              <a:off x="793790" y="1593413"/>
              <a:ext cx="13042821" cy="1258848"/>
            </a:xfrm>
            <a:prstGeom prst="roundRect">
              <a:avLst>
                <a:gd name="adj" fmla="val 7568"/>
              </a:avLst>
            </a:prstGeom>
            <a:solidFill>
              <a:schemeClr val="accent5">
                <a:lumMod val="40000"/>
                <a:lumOff val="60000"/>
                <a:alpha val="95000"/>
              </a:schemeClr>
            </a:solidFill>
            <a:ln w="30480">
              <a:solidFill>
                <a:schemeClr val="accent5">
                  <a:lumMod val="75000"/>
                </a:schemeClr>
              </a:solidFill>
              <a:prstDash val="solid"/>
            </a:ln>
          </p:spPr>
        </p:sp>
        <p:sp>
          <p:nvSpPr>
            <p:cNvPr id="3" name="Text 1">
              <a:extLst>
                <a:ext uri="{FF2B5EF4-FFF2-40B4-BE49-F238E27FC236}">
                  <a16:creationId xmlns:a16="http://schemas.microsoft.com/office/drawing/2014/main" id="{A6E02D54-EB03-12E8-10AC-038CB1F2B864}"/>
                </a:ext>
              </a:extLst>
            </p:cNvPr>
            <p:cNvSpPr/>
            <p:nvPr/>
          </p:nvSpPr>
          <p:spPr>
            <a:xfrm>
              <a:off x="4338042" y="1850708"/>
              <a:ext cx="5954197" cy="74426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5850"/>
                </a:lnSpc>
                <a:buNone/>
              </a:pPr>
              <a:r>
                <a:rPr lang="en-US" sz="4650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 pitchFamily="34" charset="-122"/>
                  <a:cs typeface="Times New Roman" panose="02020603050405020304" pitchFamily="18" charset="0"/>
                </a:rPr>
                <a:t>Work Flow</a:t>
              </a:r>
              <a:endParaRPr lang="en-US" sz="4650" dirty="0">
                <a:latin typeface="Times New Roman" panose="02020603050405020304" pitchFamily="18" charset="0"/>
                <a:ea typeface="Petrona Bold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FC6C2CB-9AE4-F4BD-4401-967297B07C5B}"/>
              </a:ext>
            </a:extLst>
          </p:cNvPr>
          <p:cNvGrpSpPr/>
          <p:nvPr/>
        </p:nvGrpSpPr>
        <p:grpSpPr>
          <a:xfrm>
            <a:off x="793791" y="2238783"/>
            <a:ext cx="2508209" cy="2336329"/>
            <a:chOff x="793790" y="3362562"/>
            <a:chExt cx="6244709" cy="3273625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F8D0CF1B-6D5F-8A97-39AA-4B96891670B2}"/>
                </a:ext>
              </a:extLst>
            </p:cNvPr>
            <p:cNvSpPr/>
            <p:nvPr/>
          </p:nvSpPr>
          <p:spPr>
            <a:xfrm>
              <a:off x="793790" y="3362562"/>
              <a:ext cx="6244709" cy="3273625"/>
            </a:xfrm>
            <a:prstGeom prst="roundRect">
              <a:avLst>
                <a:gd name="adj" fmla="val 10745"/>
              </a:avLst>
            </a:prstGeom>
            <a:grpFill/>
            <a:ln w="30480">
              <a:solidFill>
                <a:schemeClr val="accent6">
                  <a:lumMod val="75000"/>
                </a:scheme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 3">
              <a:extLst>
                <a:ext uri="{FF2B5EF4-FFF2-40B4-BE49-F238E27FC236}">
                  <a16:creationId xmlns:a16="http://schemas.microsoft.com/office/drawing/2014/main" id="{F3CE6AD1-680D-CB63-0040-E806B5EBC6EF}"/>
                </a:ext>
              </a:extLst>
            </p:cNvPr>
            <p:cNvSpPr/>
            <p:nvPr/>
          </p:nvSpPr>
          <p:spPr>
            <a:xfrm>
              <a:off x="1120634" y="4489674"/>
              <a:ext cx="5591016" cy="1673314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0" tIns="0" rIns="0" bIns="0" rtlCol="0" anchor="t"/>
            <a:lstStyle/>
            <a:p>
              <a:pPr algn="ctr">
                <a:lnSpc>
                  <a:spcPts val="2900"/>
                </a:lnSpc>
              </a:pPr>
              <a:r>
                <a:rPr lang="en-US" sz="3200" b="1" dirty="0">
                  <a:latin typeface="Times New Roman" panose="02020603050405020304" pitchFamily="18" charset="0"/>
                  <a:ea typeface="Inter" panose="020B0604020202020204" charset="0"/>
                  <a:cs typeface="Times New Roman" panose="02020603050405020304" pitchFamily="18" charset="0"/>
                </a:rPr>
                <a:t>Input Images</a:t>
              </a:r>
            </a:p>
            <a:p>
              <a:pPr algn="ctr">
                <a:lnSpc>
                  <a:spcPts val="2900"/>
                </a:lnSpc>
              </a:pPr>
              <a:r>
                <a:rPr lang="en-US" sz="2000" dirty="0">
                  <a:latin typeface="Times New Roman" panose="02020603050405020304" pitchFamily="18" charset="0"/>
                  <a:ea typeface="Inter" panose="020B0604020202020204" charset="0"/>
                  <a:cs typeface="Times New Roman" panose="02020603050405020304" pitchFamily="18" charset="0"/>
                </a:rPr>
                <a:t>(Under the </a:t>
              </a:r>
            </a:p>
            <a:p>
              <a:pPr algn="ctr">
                <a:lnSpc>
                  <a:spcPts val="2900"/>
                </a:lnSpc>
              </a:pPr>
              <a:r>
                <a:rPr lang="en-US" sz="2000" dirty="0">
                  <a:latin typeface="Times New Roman" panose="02020603050405020304" pitchFamily="18" charset="0"/>
                  <a:ea typeface="Inter" panose="020B0604020202020204" charset="0"/>
                  <a:cs typeface="Times New Roman" panose="02020603050405020304" pitchFamily="18" charset="0"/>
                </a:rPr>
                <a:t>assumptions)</a:t>
              </a: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F26669B9-38E0-83A4-9127-2E5190AFD105}"/>
              </a:ext>
            </a:extLst>
          </p:cNvPr>
          <p:cNvSpPr/>
          <p:nvPr/>
        </p:nvSpPr>
        <p:spPr>
          <a:xfrm>
            <a:off x="12788900" y="7734300"/>
            <a:ext cx="1828800" cy="469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6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4D5889D-BF52-D79F-3389-8779F889B099}"/>
              </a:ext>
            </a:extLst>
          </p:cNvPr>
          <p:cNvGrpSpPr/>
          <p:nvPr/>
        </p:nvGrpSpPr>
        <p:grpSpPr>
          <a:xfrm>
            <a:off x="3302000" y="2257452"/>
            <a:ext cx="3511536" cy="2321026"/>
            <a:chOff x="3302000" y="2257452"/>
            <a:chExt cx="3511536" cy="2321026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813BF41-B2E8-A08A-E352-A4084114872A}"/>
                </a:ext>
              </a:extLst>
            </p:cNvPr>
            <p:cNvGrpSpPr/>
            <p:nvPr/>
          </p:nvGrpSpPr>
          <p:grpSpPr>
            <a:xfrm>
              <a:off x="4305327" y="2257452"/>
              <a:ext cx="2508209" cy="2321026"/>
              <a:chOff x="793790" y="3362562"/>
              <a:chExt cx="6244709" cy="3273625"/>
            </a:xfrm>
          </p:grpSpPr>
          <p:sp>
            <p:nvSpPr>
              <p:cNvPr id="7" name="Shape 2">
                <a:extLst>
                  <a:ext uri="{FF2B5EF4-FFF2-40B4-BE49-F238E27FC236}">
                    <a16:creationId xmlns:a16="http://schemas.microsoft.com/office/drawing/2014/main" id="{1C39575B-7EFE-664B-E7CA-331D8A12BD21}"/>
                  </a:ext>
                </a:extLst>
              </p:cNvPr>
              <p:cNvSpPr/>
              <p:nvPr/>
            </p:nvSpPr>
            <p:spPr>
              <a:xfrm>
                <a:off x="793790" y="3362562"/>
                <a:ext cx="6244709" cy="3273625"/>
              </a:xfrm>
              <a:prstGeom prst="roundRect">
                <a:avLst>
                  <a:gd name="adj" fmla="val 10745"/>
                </a:avLst>
              </a:prstGeom>
              <a:solidFill>
                <a:schemeClr val="accent4">
                  <a:lumMod val="20000"/>
                  <a:lumOff val="80000"/>
                  <a:alpha val="95000"/>
                </a:schemeClr>
              </a:solidFill>
              <a:ln w="30480">
                <a:solidFill>
                  <a:schemeClr val="accent5">
                    <a:lumMod val="75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 3">
                <a:extLst>
                  <a:ext uri="{FF2B5EF4-FFF2-40B4-BE49-F238E27FC236}">
                    <a16:creationId xmlns:a16="http://schemas.microsoft.com/office/drawing/2014/main" id="{9BBE76F4-987B-54E3-A2F6-B7C90A4FE648}"/>
                  </a:ext>
                </a:extLst>
              </p:cNvPr>
              <p:cNvSpPr/>
              <p:nvPr/>
            </p:nvSpPr>
            <p:spPr>
              <a:xfrm>
                <a:off x="1120636" y="4497810"/>
                <a:ext cx="5591016" cy="165904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>
                  <a:lnSpc>
                    <a:spcPts val="2900"/>
                  </a:lnSpc>
                </a:pPr>
                <a:r>
                  <a:rPr lang="en-US" sz="2800" b="1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Normalization</a:t>
                </a:r>
              </a:p>
              <a:p>
                <a:pPr algn="ctr">
                  <a:lnSpc>
                    <a:spcPts val="2900"/>
                  </a:lnSpc>
                </a:pPr>
                <a:r>
                  <a:rPr lang="en-US" sz="2000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(Padding and </a:t>
                </a:r>
              </a:p>
              <a:p>
                <a:pPr algn="ctr">
                  <a:lnSpc>
                    <a:spcPts val="2900"/>
                  </a:lnSpc>
                </a:pPr>
                <a:r>
                  <a:rPr lang="en-US" sz="2000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scaling)</a:t>
                </a:r>
              </a:p>
              <a:p>
                <a:pPr algn="ctr">
                  <a:lnSpc>
                    <a:spcPts val="2900"/>
                  </a:lnSpc>
                </a:pPr>
                <a:endParaRPr lang="en-US" sz="2800" dirty="0">
                  <a:latin typeface="Times New Roman" panose="02020603050405020304" pitchFamily="18" charset="0"/>
                  <a:ea typeface="Inter" panose="020B0604020202020204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C99331D5-3AEA-0DFF-6388-4447445459D3}"/>
                </a:ext>
              </a:extLst>
            </p:cNvPr>
            <p:cNvCxnSpPr>
              <a:cxnSpLocks/>
              <a:stCxn id="4" idx="3"/>
              <a:endCxn id="7" idx="1"/>
            </p:cNvCxnSpPr>
            <p:nvPr/>
          </p:nvCxnSpPr>
          <p:spPr>
            <a:xfrm>
              <a:off x="3302000" y="3406948"/>
              <a:ext cx="1003327" cy="1101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A67F34C-D36D-F615-800B-FFE1EDAD6C9E}"/>
              </a:ext>
            </a:extLst>
          </p:cNvPr>
          <p:cNvGrpSpPr/>
          <p:nvPr/>
        </p:nvGrpSpPr>
        <p:grpSpPr>
          <a:xfrm>
            <a:off x="6813536" y="2260817"/>
            <a:ext cx="3511536" cy="2321026"/>
            <a:chOff x="6813536" y="2260817"/>
            <a:chExt cx="3511536" cy="2321026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9076FF2-49D7-5092-22A3-C3B0C644E8A2}"/>
                </a:ext>
              </a:extLst>
            </p:cNvPr>
            <p:cNvGrpSpPr/>
            <p:nvPr/>
          </p:nvGrpSpPr>
          <p:grpSpPr>
            <a:xfrm>
              <a:off x="7816863" y="2260817"/>
              <a:ext cx="2508209" cy="2321026"/>
              <a:chOff x="793790" y="3362562"/>
              <a:chExt cx="6244709" cy="3273625"/>
            </a:xfrm>
          </p:grpSpPr>
          <p:sp>
            <p:nvSpPr>
              <p:cNvPr id="12" name="Shape 2">
                <a:extLst>
                  <a:ext uri="{FF2B5EF4-FFF2-40B4-BE49-F238E27FC236}">
                    <a16:creationId xmlns:a16="http://schemas.microsoft.com/office/drawing/2014/main" id="{3B0FAF2C-AEF3-C6A6-B8E1-E374C4531653}"/>
                  </a:ext>
                </a:extLst>
              </p:cNvPr>
              <p:cNvSpPr/>
              <p:nvPr/>
            </p:nvSpPr>
            <p:spPr>
              <a:xfrm>
                <a:off x="793790" y="3362562"/>
                <a:ext cx="6244709" cy="3273625"/>
              </a:xfrm>
              <a:prstGeom prst="roundRect">
                <a:avLst>
                  <a:gd name="adj" fmla="val 10745"/>
                </a:avLst>
              </a:prstGeom>
              <a:solidFill>
                <a:schemeClr val="accent4">
                  <a:lumMod val="20000"/>
                  <a:lumOff val="80000"/>
                  <a:alpha val="95000"/>
                </a:schemeClr>
              </a:solidFill>
              <a:ln w="30480">
                <a:solidFill>
                  <a:schemeClr val="accent5">
                    <a:lumMod val="75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 3">
                <a:extLst>
                  <a:ext uri="{FF2B5EF4-FFF2-40B4-BE49-F238E27FC236}">
                    <a16:creationId xmlns:a16="http://schemas.microsoft.com/office/drawing/2014/main" id="{1DBFCDB2-2B5E-B1EB-471E-63883E71228E}"/>
                  </a:ext>
                </a:extLst>
              </p:cNvPr>
              <p:cNvSpPr/>
              <p:nvPr/>
            </p:nvSpPr>
            <p:spPr>
              <a:xfrm>
                <a:off x="1447483" y="4736006"/>
                <a:ext cx="5591016" cy="63204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>
                  <a:lnSpc>
                    <a:spcPts val="2900"/>
                  </a:lnSpc>
                </a:pPr>
                <a:r>
                  <a:rPr lang="en-US" sz="2800" b="1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Gray-scaling</a:t>
                </a:r>
              </a:p>
            </p:txBody>
          </p:sp>
        </p:grp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62DE90F9-5B24-430E-000D-A37F37F61D80}"/>
                </a:ext>
              </a:extLst>
            </p:cNvPr>
            <p:cNvCxnSpPr>
              <a:cxnSpLocks/>
              <a:stCxn id="7" idx="3"/>
              <a:endCxn id="12" idx="1"/>
            </p:cNvCxnSpPr>
            <p:nvPr/>
          </p:nvCxnSpPr>
          <p:spPr>
            <a:xfrm>
              <a:off x="6813536" y="3417965"/>
              <a:ext cx="1003327" cy="336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3E529DFD-5E7D-A647-34CA-4A68E1DB934F}"/>
              </a:ext>
            </a:extLst>
          </p:cNvPr>
          <p:cNvGrpSpPr/>
          <p:nvPr/>
        </p:nvGrpSpPr>
        <p:grpSpPr>
          <a:xfrm>
            <a:off x="10325072" y="2260817"/>
            <a:ext cx="3511536" cy="2346426"/>
            <a:chOff x="10325072" y="2260817"/>
            <a:chExt cx="3511536" cy="2346426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2035E25-1E43-CDB0-8C9B-2EB0D996E6FC}"/>
                </a:ext>
              </a:extLst>
            </p:cNvPr>
            <p:cNvGrpSpPr/>
            <p:nvPr/>
          </p:nvGrpSpPr>
          <p:grpSpPr>
            <a:xfrm>
              <a:off x="11328399" y="2260817"/>
              <a:ext cx="2508209" cy="2346426"/>
              <a:chOff x="793790" y="3362562"/>
              <a:chExt cx="6244709" cy="3273625"/>
            </a:xfrm>
          </p:grpSpPr>
          <p:sp>
            <p:nvSpPr>
              <p:cNvPr id="16" name="Shape 2">
                <a:extLst>
                  <a:ext uri="{FF2B5EF4-FFF2-40B4-BE49-F238E27FC236}">
                    <a16:creationId xmlns:a16="http://schemas.microsoft.com/office/drawing/2014/main" id="{5565A206-D3D5-1024-1B94-E2FD9F947ABD}"/>
                  </a:ext>
                </a:extLst>
              </p:cNvPr>
              <p:cNvSpPr/>
              <p:nvPr/>
            </p:nvSpPr>
            <p:spPr>
              <a:xfrm>
                <a:off x="793790" y="3362562"/>
                <a:ext cx="6244709" cy="3273625"/>
              </a:xfrm>
              <a:prstGeom prst="roundRect">
                <a:avLst>
                  <a:gd name="adj" fmla="val 10745"/>
                </a:avLst>
              </a:prstGeom>
              <a:solidFill>
                <a:schemeClr val="accent4">
                  <a:lumMod val="20000"/>
                  <a:lumOff val="80000"/>
                  <a:alpha val="95000"/>
                </a:schemeClr>
              </a:solidFill>
              <a:ln w="30480">
                <a:solidFill>
                  <a:schemeClr val="accent5">
                    <a:lumMod val="75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 3">
                <a:extLst>
                  <a:ext uri="{FF2B5EF4-FFF2-40B4-BE49-F238E27FC236}">
                    <a16:creationId xmlns:a16="http://schemas.microsoft.com/office/drawing/2014/main" id="{20DDD637-0C68-AD1B-C725-804FAA35BC5F}"/>
                  </a:ext>
                </a:extLst>
              </p:cNvPr>
              <p:cNvSpPr/>
              <p:nvPr/>
            </p:nvSpPr>
            <p:spPr>
              <a:xfrm>
                <a:off x="1051084" y="4745449"/>
                <a:ext cx="5591016" cy="63657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>
                  <a:lnSpc>
                    <a:spcPts val="2900"/>
                  </a:lnSpc>
                </a:pPr>
                <a:r>
                  <a:rPr lang="en-US" sz="2800" b="1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Gaussian blur</a:t>
                </a:r>
              </a:p>
            </p:txBody>
          </p:sp>
        </p:grp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71FDB2FE-B580-4B50-BC0D-218224732C10}"/>
                </a:ext>
              </a:extLst>
            </p:cNvPr>
            <p:cNvCxnSpPr>
              <a:cxnSpLocks/>
              <a:stCxn id="12" idx="3"/>
              <a:endCxn id="16" idx="1"/>
            </p:cNvCxnSpPr>
            <p:nvPr/>
          </p:nvCxnSpPr>
          <p:spPr>
            <a:xfrm>
              <a:off x="10325072" y="3421330"/>
              <a:ext cx="1003327" cy="127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FE54186-ABEC-0C97-7C1A-18D648083CB8}"/>
              </a:ext>
            </a:extLst>
          </p:cNvPr>
          <p:cNvGrpSpPr/>
          <p:nvPr/>
        </p:nvGrpSpPr>
        <p:grpSpPr>
          <a:xfrm>
            <a:off x="7816863" y="4607242"/>
            <a:ext cx="4765642" cy="2819401"/>
            <a:chOff x="7816863" y="4607242"/>
            <a:chExt cx="4765642" cy="2819401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302F9002-77D4-8CAA-F1AB-1D920908348A}"/>
                </a:ext>
              </a:extLst>
            </p:cNvPr>
            <p:cNvGrpSpPr/>
            <p:nvPr/>
          </p:nvGrpSpPr>
          <p:grpSpPr>
            <a:xfrm>
              <a:off x="7816863" y="5105617"/>
              <a:ext cx="2508209" cy="2321026"/>
              <a:chOff x="793790" y="3362562"/>
              <a:chExt cx="6244709" cy="3273625"/>
            </a:xfrm>
          </p:grpSpPr>
          <p:sp>
            <p:nvSpPr>
              <p:cNvPr id="28" name="Shape 2">
                <a:extLst>
                  <a:ext uri="{FF2B5EF4-FFF2-40B4-BE49-F238E27FC236}">
                    <a16:creationId xmlns:a16="http://schemas.microsoft.com/office/drawing/2014/main" id="{A31551D1-47D3-BF2D-57C6-C3BEA5D621CF}"/>
                  </a:ext>
                </a:extLst>
              </p:cNvPr>
              <p:cNvSpPr/>
              <p:nvPr/>
            </p:nvSpPr>
            <p:spPr>
              <a:xfrm>
                <a:off x="793790" y="3362562"/>
                <a:ext cx="6244709" cy="3273625"/>
              </a:xfrm>
              <a:prstGeom prst="roundRect">
                <a:avLst>
                  <a:gd name="adj" fmla="val 10745"/>
                </a:avLst>
              </a:prstGeom>
              <a:solidFill>
                <a:schemeClr val="accent4">
                  <a:lumMod val="20000"/>
                  <a:lumOff val="80000"/>
                  <a:alpha val="95000"/>
                </a:schemeClr>
              </a:solidFill>
              <a:ln w="30480">
                <a:solidFill>
                  <a:schemeClr val="accent5">
                    <a:lumMod val="75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Text 3">
                <a:extLst>
                  <a:ext uri="{FF2B5EF4-FFF2-40B4-BE49-F238E27FC236}">
                    <a16:creationId xmlns:a16="http://schemas.microsoft.com/office/drawing/2014/main" id="{BE9DCA81-6FED-65EB-9806-35A7D29011EB}"/>
                  </a:ext>
                </a:extLst>
              </p:cNvPr>
              <p:cNvSpPr/>
              <p:nvPr/>
            </p:nvSpPr>
            <p:spPr>
              <a:xfrm>
                <a:off x="1120634" y="3970882"/>
                <a:ext cx="5591016" cy="228693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>
                  <a:lnSpc>
                    <a:spcPts val="2900"/>
                  </a:lnSpc>
                </a:pPr>
                <a:r>
                  <a:rPr lang="en-US" sz="3200" b="1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Similarity </a:t>
                </a:r>
              </a:p>
              <a:p>
                <a:pPr algn="ctr">
                  <a:lnSpc>
                    <a:spcPts val="2900"/>
                  </a:lnSpc>
                </a:pPr>
                <a:r>
                  <a:rPr lang="en-US" sz="3200" b="1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Algorithms</a:t>
                </a:r>
              </a:p>
              <a:p>
                <a:pPr algn="ctr">
                  <a:lnSpc>
                    <a:spcPts val="2900"/>
                  </a:lnSpc>
                </a:pPr>
                <a:r>
                  <a:rPr lang="en-US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(Jaccard [1], p-Hash [1],</a:t>
                </a:r>
              </a:p>
              <a:p>
                <a:pPr algn="ctr">
                  <a:lnSpc>
                    <a:spcPts val="2900"/>
                  </a:lnSpc>
                </a:pPr>
                <a:r>
                  <a:rPr lang="en-US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EMD [2])</a:t>
                </a:r>
              </a:p>
            </p:txBody>
          </p:sp>
        </p:grpSp>
        <p:cxnSp>
          <p:nvCxnSpPr>
            <p:cNvPr id="48" name="Connector: Elbow 47">
              <a:extLst>
                <a:ext uri="{FF2B5EF4-FFF2-40B4-BE49-F238E27FC236}">
                  <a16:creationId xmlns:a16="http://schemas.microsoft.com/office/drawing/2014/main" id="{46A28333-5FBF-51DF-7D9E-53A1F00DA865}"/>
                </a:ext>
              </a:extLst>
            </p:cNvPr>
            <p:cNvCxnSpPr>
              <a:cxnSpLocks/>
              <a:stCxn id="16" idx="2"/>
              <a:endCxn id="28" idx="3"/>
            </p:cNvCxnSpPr>
            <p:nvPr/>
          </p:nvCxnSpPr>
          <p:spPr>
            <a:xfrm rot="5400000">
              <a:off x="10624345" y="4307970"/>
              <a:ext cx="1658887" cy="2257432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38C95634-4E40-6580-E5C5-D898CD6E9F8E}"/>
              </a:ext>
            </a:extLst>
          </p:cNvPr>
          <p:cNvGrpSpPr/>
          <p:nvPr/>
        </p:nvGrpSpPr>
        <p:grpSpPr>
          <a:xfrm>
            <a:off x="4277390" y="5089820"/>
            <a:ext cx="3539473" cy="2336329"/>
            <a:chOff x="4277390" y="5089820"/>
            <a:chExt cx="3539473" cy="2336329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FEC6422D-837D-3336-1625-2C3DBE443BCF}"/>
                </a:ext>
              </a:extLst>
            </p:cNvPr>
            <p:cNvGrpSpPr/>
            <p:nvPr/>
          </p:nvGrpSpPr>
          <p:grpSpPr>
            <a:xfrm>
              <a:off x="4277390" y="5089820"/>
              <a:ext cx="2508209" cy="2336329"/>
              <a:chOff x="793790" y="3362562"/>
              <a:chExt cx="6244709" cy="3273625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34" name="Shape 2">
                <a:extLst>
                  <a:ext uri="{FF2B5EF4-FFF2-40B4-BE49-F238E27FC236}">
                    <a16:creationId xmlns:a16="http://schemas.microsoft.com/office/drawing/2014/main" id="{3B5F34BF-8B34-DADC-2829-F1B7AA33DDC2}"/>
                  </a:ext>
                </a:extLst>
              </p:cNvPr>
              <p:cNvSpPr/>
              <p:nvPr/>
            </p:nvSpPr>
            <p:spPr>
              <a:xfrm>
                <a:off x="793790" y="3362562"/>
                <a:ext cx="6244709" cy="3273625"/>
              </a:xfrm>
              <a:prstGeom prst="roundRect">
                <a:avLst>
                  <a:gd name="adj" fmla="val 10745"/>
                </a:avLst>
              </a:prstGeom>
              <a:grpFill/>
              <a:ln w="30480">
                <a:solidFill>
                  <a:schemeClr val="accent6">
                    <a:lumMod val="75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Text 3">
                <a:extLst>
                  <a:ext uri="{FF2B5EF4-FFF2-40B4-BE49-F238E27FC236}">
                    <a16:creationId xmlns:a16="http://schemas.microsoft.com/office/drawing/2014/main" id="{9F7EA1B1-A03E-5328-D73A-55D30B1EF8AE}"/>
                  </a:ext>
                </a:extLst>
              </p:cNvPr>
              <p:cNvSpPr/>
              <p:nvPr/>
            </p:nvSpPr>
            <p:spPr>
              <a:xfrm>
                <a:off x="1120634" y="4042888"/>
                <a:ext cx="5591016" cy="225176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rtlCol="0" anchor="t"/>
              <a:lstStyle/>
              <a:p>
                <a:pPr algn="ctr">
                  <a:lnSpc>
                    <a:spcPts val="2900"/>
                  </a:lnSpc>
                </a:pPr>
                <a:r>
                  <a:rPr lang="en-US" sz="3200" b="1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Output </a:t>
                </a:r>
              </a:p>
              <a:p>
                <a:pPr algn="ctr">
                  <a:lnSpc>
                    <a:spcPts val="2900"/>
                  </a:lnSpc>
                </a:pPr>
                <a:r>
                  <a:rPr lang="en-US" sz="3200" b="1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CSV files</a:t>
                </a:r>
              </a:p>
              <a:p>
                <a:pPr algn="ctr">
                  <a:lnSpc>
                    <a:spcPts val="2900"/>
                  </a:lnSpc>
                </a:pPr>
                <a:r>
                  <a:rPr lang="en-US" sz="2000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(With similarity</a:t>
                </a:r>
              </a:p>
              <a:p>
                <a:pPr algn="ctr">
                  <a:lnSpc>
                    <a:spcPts val="2900"/>
                  </a:lnSpc>
                </a:pPr>
                <a:r>
                  <a:rPr lang="en-US" sz="2000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Scores of files)</a:t>
                </a:r>
                <a:endParaRPr lang="en-US" sz="3200" dirty="0">
                  <a:latin typeface="Times New Roman" panose="02020603050405020304" pitchFamily="18" charset="0"/>
                  <a:ea typeface="Inter" panose="020B0604020202020204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5F4B7015-07BB-0955-006C-AC5CF31C1A39}"/>
                </a:ext>
              </a:extLst>
            </p:cNvPr>
            <p:cNvCxnSpPr>
              <a:cxnSpLocks/>
              <a:stCxn id="28" idx="1"/>
              <a:endCxn id="34" idx="3"/>
            </p:cNvCxnSpPr>
            <p:nvPr/>
          </p:nvCxnSpPr>
          <p:spPr>
            <a:xfrm flipH="1" flipV="1">
              <a:off x="6785599" y="6257985"/>
              <a:ext cx="1031264" cy="81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98619683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63841B2-3FAC-DE44-B8D1-FF6C7FDF8CAE}"/>
              </a:ext>
            </a:extLst>
          </p:cNvPr>
          <p:cNvGrpSpPr/>
          <p:nvPr/>
        </p:nvGrpSpPr>
        <p:grpSpPr>
          <a:xfrm>
            <a:off x="793667" y="4036891"/>
            <a:ext cx="4159333" cy="2503129"/>
            <a:chOff x="793790" y="3464123"/>
            <a:chExt cx="13042821" cy="961192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0" name="Text 4">
              <a:extLst>
                <a:ext uri="{FF2B5EF4-FFF2-40B4-BE49-F238E27FC236}">
                  <a16:creationId xmlns:a16="http://schemas.microsoft.com/office/drawing/2014/main" id="{A0BA17A1-6291-79AB-8A04-DD9041F869E8}"/>
                </a:ext>
              </a:extLst>
            </p:cNvPr>
            <p:cNvSpPr/>
            <p:nvPr/>
          </p:nvSpPr>
          <p:spPr>
            <a:xfrm>
              <a:off x="1549836" y="3566968"/>
              <a:ext cx="11530727" cy="759716"/>
            </a:xfrm>
            <a:prstGeom prst="rect">
              <a:avLst/>
            </a:prstGeom>
            <a:grpFill/>
            <a:ln/>
          </p:spPr>
          <p:txBody>
            <a:bodyPr wrap="none" lIns="0" tIns="0" rIns="0" bIns="0" rtlCol="0" anchor="t"/>
            <a:lstStyle/>
            <a:p>
              <a:endParaRPr lang="en-US" sz="2800" dirty="0"/>
            </a:p>
          </p:txBody>
        </p:sp>
        <p:sp>
          <p:nvSpPr>
            <p:cNvPr id="9" name="Shape 3">
              <a:extLst>
                <a:ext uri="{FF2B5EF4-FFF2-40B4-BE49-F238E27FC236}">
                  <a16:creationId xmlns:a16="http://schemas.microsoft.com/office/drawing/2014/main" id="{2C1A2480-D864-64D9-8782-2D3247A7F0E4}"/>
                </a:ext>
              </a:extLst>
            </p:cNvPr>
            <p:cNvSpPr/>
            <p:nvPr/>
          </p:nvSpPr>
          <p:spPr>
            <a:xfrm>
              <a:off x="793790" y="3464123"/>
              <a:ext cx="13042821" cy="961192"/>
            </a:xfrm>
            <a:prstGeom prst="roundRect">
              <a:avLst>
                <a:gd name="adj" fmla="val 9911"/>
              </a:avLst>
            </a:prstGeom>
            <a:grpFill/>
            <a:ln w="30480">
              <a:solidFill>
                <a:schemeClr val="accent5">
                  <a:lumMod val="75000"/>
                </a:schemeClr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US" sz="2400" b="1" dirty="0"/>
                <a:t>Programming Language</a:t>
              </a:r>
            </a:p>
            <a:p>
              <a:pPr algn="ctr"/>
              <a:endParaRPr lang="en-US" sz="2400" b="1" dirty="0"/>
            </a:p>
            <a:p>
              <a:pPr algn="ctr"/>
              <a:endParaRPr lang="en-US" sz="2400" dirty="0"/>
            </a:p>
            <a:p>
              <a:pPr algn="ctr"/>
              <a:r>
                <a:rPr lang="en-US" sz="2400" dirty="0"/>
                <a:t>C++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F10C7A9-2F1D-AF8D-FF4E-D0D1FCE2A88F}"/>
              </a:ext>
            </a:extLst>
          </p:cNvPr>
          <p:cNvGrpSpPr/>
          <p:nvPr/>
        </p:nvGrpSpPr>
        <p:grpSpPr>
          <a:xfrm>
            <a:off x="5235473" y="4036891"/>
            <a:ext cx="4159333" cy="2503129"/>
            <a:chOff x="793790" y="3464123"/>
            <a:chExt cx="13042821" cy="961192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3" name="Text 4">
              <a:extLst>
                <a:ext uri="{FF2B5EF4-FFF2-40B4-BE49-F238E27FC236}">
                  <a16:creationId xmlns:a16="http://schemas.microsoft.com/office/drawing/2014/main" id="{4A9319E8-D704-AB80-AE2E-063F97EB19C0}"/>
                </a:ext>
              </a:extLst>
            </p:cNvPr>
            <p:cNvSpPr/>
            <p:nvPr/>
          </p:nvSpPr>
          <p:spPr>
            <a:xfrm>
              <a:off x="1549836" y="3566968"/>
              <a:ext cx="11530727" cy="759716"/>
            </a:xfrm>
            <a:prstGeom prst="rect">
              <a:avLst/>
            </a:prstGeom>
            <a:grpFill/>
            <a:ln/>
          </p:spPr>
          <p:txBody>
            <a:bodyPr wrap="none" lIns="0" tIns="0" rIns="0" bIns="0" rtlCol="0" anchor="t"/>
            <a:lstStyle/>
            <a:p>
              <a:endParaRPr lang="en-US" sz="2800" dirty="0"/>
            </a:p>
          </p:txBody>
        </p:sp>
        <p:sp>
          <p:nvSpPr>
            <p:cNvPr id="12" name="Shape 3">
              <a:extLst>
                <a:ext uri="{FF2B5EF4-FFF2-40B4-BE49-F238E27FC236}">
                  <a16:creationId xmlns:a16="http://schemas.microsoft.com/office/drawing/2014/main" id="{66BBD8DD-ABD1-8F66-FA3B-8249DCC7FB78}"/>
                </a:ext>
              </a:extLst>
            </p:cNvPr>
            <p:cNvSpPr/>
            <p:nvPr/>
          </p:nvSpPr>
          <p:spPr>
            <a:xfrm>
              <a:off x="793790" y="3464123"/>
              <a:ext cx="13042821" cy="961192"/>
            </a:xfrm>
            <a:prstGeom prst="roundRect">
              <a:avLst>
                <a:gd name="adj" fmla="val 9911"/>
              </a:avLst>
            </a:prstGeom>
            <a:grpFill/>
            <a:ln w="30480">
              <a:solidFill>
                <a:schemeClr val="accent5">
                  <a:lumMod val="75000"/>
                </a:schemeClr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US" sz="2400" b="1" dirty="0"/>
                <a:t>IDE</a:t>
              </a:r>
            </a:p>
            <a:p>
              <a:pPr algn="ctr"/>
              <a:endParaRPr lang="en-US" sz="2400" b="1" dirty="0"/>
            </a:p>
            <a:p>
              <a:pPr algn="ctr"/>
              <a:endParaRPr lang="en-US" sz="2400" dirty="0"/>
            </a:p>
            <a:p>
              <a:pPr algn="ctr"/>
              <a:r>
                <a:rPr lang="en-US" sz="2400" dirty="0" err="1"/>
                <a:t>Codeblocks</a:t>
              </a:r>
              <a:r>
                <a:rPr lang="en-US" sz="2400" dirty="0"/>
                <a:t>, VS Code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4F5D12-4DDB-443B-2148-5370ECDB9152}"/>
              </a:ext>
            </a:extLst>
          </p:cNvPr>
          <p:cNvGrpSpPr/>
          <p:nvPr/>
        </p:nvGrpSpPr>
        <p:grpSpPr>
          <a:xfrm>
            <a:off x="9677279" y="4036891"/>
            <a:ext cx="4159333" cy="2503129"/>
            <a:chOff x="793790" y="3464123"/>
            <a:chExt cx="13042821" cy="961192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6" name="Text 4">
              <a:extLst>
                <a:ext uri="{FF2B5EF4-FFF2-40B4-BE49-F238E27FC236}">
                  <a16:creationId xmlns:a16="http://schemas.microsoft.com/office/drawing/2014/main" id="{6CF2FC50-324A-81E8-2396-8D5AE83A2E61}"/>
                </a:ext>
              </a:extLst>
            </p:cNvPr>
            <p:cNvSpPr/>
            <p:nvPr/>
          </p:nvSpPr>
          <p:spPr>
            <a:xfrm>
              <a:off x="1549836" y="3566968"/>
              <a:ext cx="11530727" cy="759716"/>
            </a:xfrm>
            <a:prstGeom prst="rect">
              <a:avLst/>
            </a:prstGeom>
            <a:grpFill/>
            <a:ln/>
          </p:spPr>
          <p:txBody>
            <a:bodyPr wrap="none" lIns="0" tIns="0" rIns="0" bIns="0" rtlCol="0" anchor="t"/>
            <a:lstStyle/>
            <a:p>
              <a:endParaRPr lang="en-US" sz="2800" dirty="0"/>
            </a:p>
          </p:txBody>
        </p:sp>
        <p:sp>
          <p:nvSpPr>
            <p:cNvPr id="15" name="Shape 3">
              <a:extLst>
                <a:ext uri="{FF2B5EF4-FFF2-40B4-BE49-F238E27FC236}">
                  <a16:creationId xmlns:a16="http://schemas.microsoft.com/office/drawing/2014/main" id="{59C9E45A-0AA4-AE41-8DBE-B41FFC9BE357}"/>
                </a:ext>
              </a:extLst>
            </p:cNvPr>
            <p:cNvSpPr/>
            <p:nvPr/>
          </p:nvSpPr>
          <p:spPr>
            <a:xfrm>
              <a:off x="793790" y="3464123"/>
              <a:ext cx="13042821" cy="961192"/>
            </a:xfrm>
            <a:prstGeom prst="roundRect">
              <a:avLst>
                <a:gd name="adj" fmla="val 9911"/>
              </a:avLst>
            </a:prstGeom>
            <a:grpFill/>
            <a:ln w="30480">
              <a:solidFill>
                <a:schemeClr val="accent5">
                  <a:lumMod val="75000"/>
                </a:schemeClr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US" sz="2400" b="1" dirty="0"/>
                <a:t>Version Control</a:t>
              </a:r>
            </a:p>
            <a:p>
              <a:pPr algn="ctr"/>
              <a:endParaRPr lang="en-US" sz="2400" b="1" dirty="0"/>
            </a:p>
            <a:p>
              <a:pPr algn="ctr"/>
              <a:endParaRPr lang="en-US" sz="2400" b="1" dirty="0"/>
            </a:p>
            <a:p>
              <a:pPr algn="ctr"/>
              <a:r>
                <a:rPr lang="en-US" sz="2400" dirty="0"/>
                <a:t>GitHub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2515CEC-444F-9618-C7C7-01A0F0D18107}"/>
              </a:ext>
            </a:extLst>
          </p:cNvPr>
          <p:cNvGrpSpPr/>
          <p:nvPr/>
        </p:nvGrpSpPr>
        <p:grpSpPr>
          <a:xfrm>
            <a:off x="793790" y="2077641"/>
            <a:ext cx="13042821" cy="1258848"/>
            <a:chOff x="793790" y="2077641"/>
            <a:chExt cx="13042821" cy="1258848"/>
          </a:xfrm>
        </p:grpSpPr>
        <p:sp>
          <p:nvSpPr>
            <p:cNvPr id="2" name="Shape 0"/>
            <p:cNvSpPr/>
            <p:nvPr/>
          </p:nvSpPr>
          <p:spPr>
            <a:xfrm>
              <a:off x="793790" y="2077641"/>
              <a:ext cx="13042821" cy="1258848"/>
            </a:xfrm>
            <a:prstGeom prst="roundRect">
              <a:avLst>
                <a:gd name="adj" fmla="val 7568"/>
              </a:avLst>
            </a:prstGeom>
            <a:solidFill>
              <a:schemeClr val="accent5">
                <a:lumMod val="40000"/>
                <a:lumOff val="60000"/>
                <a:alpha val="95000"/>
              </a:schemeClr>
            </a:solidFill>
            <a:ln w="30480">
              <a:solidFill>
                <a:schemeClr val="accent5">
                  <a:lumMod val="75000"/>
                </a:schemeClr>
              </a:solidFill>
              <a:prstDash val="solid"/>
            </a:ln>
          </p:spPr>
        </p:sp>
        <p:sp>
          <p:nvSpPr>
            <p:cNvPr id="3" name="Text 1"/>
            <p:cNvSpPr/>
            <p:nvPr/>
          </p:nvSpPr>
          <p:spPr>
            <a:xfrm>
              <a:off x="4338042" y="2334935"/>
              <a:ext cx="5954197" cy="74426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5850"/>
                </a:lnSpc>
                <a:buNone/>
              </a:pPr>
              <a:r>
                <a:rPr lang="en-US" sz="4650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 pitchFamily="34" charset="-122"/>
                  <a:cs typeface="Times New Roman" panose="02020603050405020304" pitchFamily="18" charset="0"/>
                </a:rPr>
                <a:t>Technology Stack</a:t>
              </a:r>
              <a:endParaRPr lang="en-US" sz="4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21376034-1E40-7C42-4B37-0B3CBA5FD660}"/>
              </a:ext>
            </a:extLst>
          </p:cNvPr>
          <p:cNvSpPr/>
          <p:nvPr/>
        </p:nvSpPr>
        <p:spPr>
          <a:xfrm>
            <a:off x="12788900" y="7734300"/>
            <a:ext cx="1828800" cy="469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7</a:t>
            </a: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2FDE2-B152-FB93-16AC-71618C69E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C3AAA989-3443-3256-1523-05843A262D38}"/>
              </a:ext>
            </a:extLst>
          </p:cNvPr>
          <p:cNvGrpSpPr/>
          <p:nvPr/>
        </p:nvGrpSpPr>
        <p:grpSpPr>
          <a:xfrm>
            <a:off x="793789" y="3139351"/>
            <a:ext cx="13042821" cy="1348002"/>
            <a:chOff x="793790" y="3464123"/>
            <a:chExt cx="13042821" cy="961192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0" name="Text 4">
              <a:extLst>
                <a:ext uri="{FF2B5EF4-FFF2-40B4-BE49-F238E27FC236}">
                  <a16:creationId xmlns:a16="http://schemas.microsoft.com/office/drawing/2014/main" id="{B71C5D84-B005-4553-2613-F093544D5FA1}"/>
                </a:ext>
              </a:extLst>
            </p:cNvPr>
            <p:cNvSpPr/>
            <p:nvPr/>
          </p:nvSpPr>
          <p:spPr>
            <a:xfrm>
              <a:off x="1549836" y="3566968"/>
              <a:ext cx="11530727" cy="759716"/>
            </a:xfrm>
            <a:prstGeom prst="rect">
              <a:avLst/>
            </a:prstGeom>
            <a:grpFill/>
            <a:ln/>
          </p:spPr>
          <p:txBody>
            <a:bodyPr wrap="none" lIns="0" tIns="0" rIns="0" bIns="0" rtlCol="0" anchor="t"/>
            <a:lstStyle/>
            <a:p>
              <a:endParaRPr lang="en-US" sz="2800" dirty="0"/>
            </a:p>
          </p:txBody>
        </p:sp>
        <p:sp>
          <p:nvSpPr>
            <p:cNvPr id="9" name="Shape 3">
              <a:extLst>
                <a:ext uri="{FF2B5EF4-FFF2-40B4-BE49-F238E27FC236}">
                  <a16:creationId xmlns:a16="http://schemas.microsoft.com/office/drawing/2014/main" id="{4DFA90E9-9B33-D87E-520D-6FA47518FCC6}"/>
                </a:ext>
              </a:extLst>
            </p:cNvPr>
            <p:cNvSpPr/>
            <p:nvPr/>
          </p:nvSpPr>
          <p:spPr>
            <a:xfrm>
              <a:off x="793790" y="3464123"/>
              <a:ext cx="13042821" cy="961192"/>
            </a:xfrm>
            <a:prstGeom prst="roundRect">
              <a:avLst>
                <a:gd name="adj" fmla="val 9911"/>
              </a:avLst>
            </a:prstGeom>
            <a:grpFill/>
            <a:ln w="30480">
              <a:solidFill>
                <a:schemeClr val="accent5">
                  <a:lumMod val="75000"/>
                </a:schemeClr>
              </a:solidFill>
              <a:prstDash val="solid"/>
            </a:ln>
          </p:spPr>
          <p:txBody>
            <a:bodyPr/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[1] Y. Wang and D. Liu, “Image-Based Clone Code Detection and Visualization,” 978-1-7281-4691-1/19/$31.00 </a:t>
              </a:r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©2019 IEEE DOI 10.1109/AIAM48774.2019.00041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pp. 168–175, Oct. 2019,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doi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10.1109/aiam48774.2019.00041. 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CED7872-70A1-5216-53F1-A98F97083B2F}"/>
              </a:ext>
            </a:extLst>
          </p:cNvPr>
          <p:cNvGrpSpPr/>
          <p:nvPr/>
        </p:nvGrpSpPr>
        <p:grpSpPr>
          <a:xfrm>
            <a:off x="793667" y="1060156"/>
            <a:ext cx="13042821" cy="1258848"/>
            <a:chOff x="793790" y="2077641"/>
            <a:chExt cx="13042821" cy="1258848"/>
          </a:xfrm>
        </p:grpSpPr>
        <p:sp>
          <p:nvSpPr>
            <p:cNvPr id="2" name="Shape 0">
              <a:extLst>
                <a:ext uri="{FF2B5EF4-FFF2-40B4-BE49-F238E27FC236}">
                  <a16:creationId xmlns:a16="http://schemas.microsoft.com/office/drawing/2014/main" id="{E9E61697-E598-880E-2C8B-5001F449ED02}"/>
                </a:ext>
              </a:extLst>
            </p:cNvPr>
            <p:cNvSpPr/>
            <p:nvPr/>
          </p:nvSpPr>
          <p:spPr>
            <a:xfrm>
              <a:off x="793790" y="2077641"/>
              <a:ext cx="13042821" cy="1258848"/>
            </a:xfrm>
            <a:prstGeom prst="roundRect">
              <a:avLst>
                <a:gd name="adj" fmla="val 7568"/>
              </a:avLst>
            </a:prstGeom>
            <a:solidFill>
              <a:schemeClr val="accent5">
                <a:lumMod val="40000"/>
                <a:lumOff val="60000"/>
                <a:alpha val="95000"/>
              </a:schemeClr>
            </a:solidFill>
            <a:ln w="30480">
              <a:solidFill>
                <a:schemeClr val="accent5">
                  <a:lumMod val="75000"/>
                </a:schemeClr>
              </a:solidFill>
              <a:prstDash val="solid"/>
            </a:ln>
          </p:spPr>
        </p:sp>
        <p:sp>
          <p:nvSpPr>
            <p:cNvPr id="3" name="Text 1">
              <a:extLst>
                <a:ext uri="{FF2B5EF4-FFF2-40B4-BE49-F238E27FC236}">
                  <a16:creationId xmlns:a16="http://schemas.microsoft.com/office/drawing/2014/main" id="{9020D912-30E0-0A59-7993-BF6603EEB19A}"/>
                </a:ext>
              </a:extLst>
            </p:cNvPr>
            <p:cNvSpPr/>
            <p:nvPr/>
          </p:nvSpPr>
          <p:spPr>
            <a:xfrm>
              <a:off x="4338042" y="2334935"/>
              <a:ext cx="5954197" cy="74426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5850"/>
                </a:lnSpc>
                <a:buNone/>
              </a:pPr>
              <a:r>
                <a:rPr lang="en-US" sz="4650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 pitchFamily="34" charset="-122"/>
                  <a:cs typeface="Times New Roman" panose="02020603050405020304" pitchFamily="18" charset="0"/>
                </a:rPr>
                <a:t>References</a:t>
              </a:r>
              <a:endParaRPr lang="en-US" sz="4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C894906F-8D77-2EEF-E47B-5A93AA284BC5}"/>
              </a:ext>
            </a:extLst>
          </p:cNvPr>
          <p:cNvSpPr/>
          <p:nvPr/>
        </p:nvSpPr>
        <p:spPr>
          <a:xfrm>
            <a:off x="12788900" y="7734300"/>
            <a:ext cx="1828800" cy="469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8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7B73E5E-9B05-2AF9-3DAF-92E54099607D}"/>
              </a:ext>
            </a:extLst>
          </p:cNvPr>
          <p:cNvGrpSpPr/>
          <p:nvPr/>
        </p:nvGrpSpPr>
        <p:grpSpPr>
          <a:xfrm>
            <a:off x="793606" y="5307700"/>
            <a:ext cx="13042821" cy="1740800"/>
            <a:chOff x="793790" y="3464123"/>
            <a:chExt cx="13042821" cy="961192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5" name="Text 4">
              <a:extLst>
                <a:ext uri="{FF2B5EF4-FFF2-40B4-BE49-F238E27FC236}">
                  <a16:creationId xmlns:a16="http://schemas.microsoft.com/office/drawing/2014/main" id="{62BD3485-C19C-E654-A887-5DE6C35DC8BA}"/>
                </a:ext>
              </a:extLst>
            </p:cNvPr>
            <p:cNvSpPr/>
            <p:nvPr/>
          </p:nvSpPr>
          <p:spPr>
            <a:xfrm>
              <a:off x="1549836" y="3566968"/>
              <a:ext cx="11530727" cy="759716"/>
            </a:xfrm>
            <a:prstGeom prst="rect">
              <a:avLst/>
            </a:prstGeom>
            <a:grpFill/>
            <a:ln/>
          </p:spPr>
          <p:txBody>
            <a:bodyPr wrap="none" lIns="0" tIns="0" rIns="0" bIns="0" rtlCol="0" anchor="t"/>
            <a:lstStyle/>
            <a:p>
              <a:endParaRPr lang="en-US" sz="2800" dirty="0"/>
            </a:p>
          </p:txBody>
        </p:sp>
        <p:sp>
          <p:nvSpPr>
            <p:cNvPr id="6" name="Shape 3">
              <a:extLst>
                <a:ext uri="{FF2B5EF4-FFF2-40B4-BE49-F238E27FC236}">
                  <a16:creationId xmlns:a16="http://schemas.microsoft.com/office/drawing/2014/main" id="{2DED361F-C0CD-1A6C-FD73-BA965D5A1DF9}"/>
                </a:ext>
              </a:extLst>
            </p:cNvPr>
            <p:cNvSpPr/>
            <p:nvPr/>
          </p:nvSpPr>
          <p:spPr>
            <a:xfrm>
              <a:off x="793790" y="3464123"/>
              <a:ext cx="13042821" cy="961192"/>
            </a:xfrm>
            <a:prstGeom prst="roundRect">
              <a:avLst>
                <a:gd name="adj" fmla="val 9911"/>
              </a:avLst>
            </a:prstGeom>
            <a:grpFill/>
            <a:ln w="30480">
              <a:solidFill>
                <a:schemeClr val="accent5">
                  <a:lumMod val="75000"/>
                </a:schemeClr>
              </a:solidFill>
              <a:prstDash val="solid"/>
            </a:ln>
          </p:spPr>
          <p:txBody>
            <a:bodyPr/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[2] C.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Ragkhitwetsagul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J. Krinke, and B. Marnette, “A picture is worth a thousand words: Code clone detection based on image similarity,” </a:t>
              </a:r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978-1-5386-6430-8/18 © 2018 IEEE IWSC 2018, Campobasso, Italy. Accepted 10.1109/iwsc.2018.8327318. Accepted 10.1109/iwsc.2018.8327318. for Publication by IEEE, 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Mar. 2018</a:t>
              </a:r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sz="24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doi</a:t>
              </a:r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70802703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B1D4979-A54F-FCED-6979-C30FE5FD77CF}"/>
              </a:ext>
            </a:extLst>
          </p:cNvPr>
          <p:cNvGrpSpPr/>
          <p:nvPr/>
        </p:nvGrpSpPr>
        <p:grpSpPr>
          <a:xfrm>
            <a:off x="793790" y="1960007"/>
            <a:ext cx="13042821" cy="1258848"/>
            <a:chOff x="793790" y="1960007"/>
            <a:chExt cx="13042821" cy="1258848"/>
          </a:xfrm>
        </p:grpSpPr>
        <p:sp>
          <p:nvSpPr>
            <p:cNvPr id="2" name="Shape 0"/>
            <p:cNvSpPr/>
            <p:nvPr/>
          </p:nvSpPr>
          <p:spPr>
            <a:xfrm>
              <a:off x="793790" y="1960007"/>
              <a:ext cx="13042821" cy="1258848"/>
            </a:xfrm>
            <a:prstGeom prst="roundRect">
              <a:avLst>
                <a:gd name="adj" fmla="val 7568"/>
              </a:avLst>
            </a:prstGeom>
            <a:solidFill>
              <a:schemeClr val="accent5">
                <a:lumMod val="40000"/>
                <a:lumOff val="60000"/>
                <a:alpha val="95000"/>
              </a:schemeClr>
            </a:solidFill>
            <a:ln w="30480">
              <a:solidFill>
                <a:schemeClr val="accent5">
                  <a:lumMod val="75000"/>
                </a:schemeClr>
              </a:solidFill>
              <a:prstDash val="solid"/>
            </a:ln>
          </p:spPr>
        </p:sp>
        <p:sp>
          <p:nvSpPr>
            <p:cNvPr id="3" name="Text 1"/>
            <p:cNvSpPr/>
            <p:nvPr/>
          </p:nvSpPr>
          <p:spPr>
            <a:xfrm>
              <a:off x="4338042" y="2217301"/>
              <a:ext cx="5954197" cy="74426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5850"/>
                </a:lnSpc>
                <a:buNone/>
              </a:pPr>
              <a:r>
                <a:rPr lang="en-US" sz="4650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 pitchFamily="34" charset="-122"/>
                  <a:cs typeface="Times New Roman" panose="02020603050405020304" pitchFamily="18" charset="0"/>
                </a:rPr>
                <a:t>Thank You &amp; Q&amp;A</a:t>
              </a:r>
              <a:endParaRPr lang="en-US" sz="4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D830304-61F2-6B17-57D4-4AC9D9AFDE97}"/>
              </a:ext>
            </a:extLst>
          </p:cNvPr>
          <p:cNvGrpSpPr/>
          <p:nvPr/>
        </p:nvGrpSpPr>
        <p:grpSpPr>
          <a:xfrm>
            <a:off x="793790" y="3474006"/>
            <a:ext cx="13042821" cy="961192"/>
            <a:chOff x="793790" y="3474006"/>
            <a:chExt cx="13042821" cy="961192"/>
          </a:xfrm>
        </p:grpSpPr>
        <p:sp>
          <p:nvSpPr>
            <p:cNvPr id="4" name="Shape 2"/>
            <p:cNvSpPr/>
            <p:nvPr/>
          </p:nvSpPr>
          <p:spPr>
            <a:xfrm>
              <a:off x="793790" y="3474006"/>
              <a:ext cx="13042821" cy="961192"/>
            </a:xfrm>
            <a:prstGeom prst="roundRect">
              <a:avLst>
                <a:gd name="adj" fmla="val 9911"/>
              </a:avLst>
            </a:prstGeom>
            <a:solidFill>
              <a:schemeClr val="accent4">
                <a:lumMod val="20000"/>
                <a:lumOff val="80000"/>
                <a:alpha val="95000"/>
              </a:schemeClr>
            </a:solidFill>
            <a:ln w="30480">
              <a:solidFill>
                <a:schemeClr val="accent5">
                  <a:lumMod val="75000"/>
                </a:schemeClr>
              </a:solidFill>
              <a:prstDash val="solid"/>
            </a:ln>
          </p:spPr>
        </p:sp>
        <p:sp>
          <p:nvSpPr>
            <p:cNvPr id="5" name="Text 3"/>
            <p:cNvSpPr/>
            <p:nvPr/>
          </p:nvSpPr>
          <p:spPr>
            <a:xfrm>
              <a:off x="4899898" y="3731300"/>
              <a:ext cx="4830604" cy="4466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3500"/>
                </a:lnSpc>
                <a:buNone/>
              </a:pPr>
              <a:r>
                <a:rPr lang="en-US" sz="2800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 pitchFamily="34" charset="-122"/>
                  <a:cs typeface="Times New Roman" panose="02020603050405020304" pitchFamily="18" charset="0"/>
                </a:rPr>
                <a:t>Thank You for your attention!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5D2BE6B-CD6D-5766-CE63-B0A9A125E873}"/>
              </a:ext>
            </a:extLst>
          </p:cNvPr>
          <p:cNvGrpSpPr/>
          <p:nvPr/>
        </p:nvGrpSpPr>
        <p:grpSpPr>
          <a:xfrm>
            <a:off x="793790" y="4690348"/>
            <a:ext cx="13042821" cy="961192"/>
            <a:chOff x="793790" y="4690348"/>
            <a:chExt cx="13042821" cy="961192"/>
          </a:xfrm>
        </p:grpSpPr>
        <p:sp>
          <p:nvSpPr>
            <p:cNvPr id="6" name="Shape 4"/>
            <p:cNvSpPr/>
            <p:nvPr/>
          </p:nvSpPr>
          <p:spPr>
            <a:xfrm>
              <a:off x="793790" y="4690348"/>
              <a:ext cx="13042821" cy="961192"/>
            </a:xfrm>
            <a:prstGeom prst="roundRect">
              <a:avLst>
                <a:gd name="adj" fmla="val 9911"/>
              </a:avLst>
            </a:prstGeom>
            <a:solidFill>
              <a:schemeClr val="accent4">
                <a:lumMod val="20000"/>
                <a:lumOff val="80000"/>
                <a:alpha val="95000"/>
              </a:schemeClr>
            </a:solidFill>
            <a:ln w="30480">
              <a:solidFill>
                <a:schemeClr val="accent5">
                  <a:lumMod val="75000"/>
                </a:schemeClr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5407223" y="4947642"/>
              <a:ext cx="3815834" cy="4466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3500"/>
                </a:lnSpc>
                <a:buNone/>
              </a:pPr>
              <a:r>
                <a:rPr lang="en-US" sz="2800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 pitchFamily="34" charset="-122"/>
                  <a:cs typeface="Times New Roman" panose="02020603050405020304" pitchFamily="18" charset="0"/>
                </a:rPr>
                <a:t>Questions and Answers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FF2F32A4-42A3-FD57-4950-209B8EC2E87D}"/>
              </a:ext>
            </a:extLst>
          </p:cNvPr>
          <p:cNvSpPr/>
          <p:nvPr/>
        </p:nvSpPr>
        <p:spPr>
          <a:xfrm>
            <a:off x="12788900" y="7734300"/>
            <a:ext cx="1828800" cy="469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9</a:t>
            </a: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539</TotalTime>
  <Words>430</Words>
  <Application>Microsoft Office PowerPoint</Application>
  <PresentationFormat>Custom</PresentationFormat>
  <Paragraphs>96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Times New Roman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Tawrat Nibir</dc:creator>
  <cp:lastModifiedBy>Tawrat Nibir</cp:lastModifiedBy>
  <cp:revision>7</cp:revision>
  <dcterms:created xsi:type="dcterms:W3CDTF">2025-11-12T09:07:04Z</dcterms:created>
  <dcterms:modified xsi:type="dcterms:W3CDTF">2026-01-09T13:17:42Z</dcterms:modified>
</cp:coreProperties>
</file>