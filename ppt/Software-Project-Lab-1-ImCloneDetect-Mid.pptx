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74" r:id="rId3"/>
    <p:sldId id="258" r:id="rId4"/>
    <p:sldId id="262" r:id="rId5"/>
    <p:sldId id="268" r:id="rId6"/>
    <p:sldId id="269" r:id="rId7"/>
    <p:sldId id="270" r:id="rId8"/>
    <p:sldId id="271" r:id="rId9"/>
    <p:sldId id="272" r:id="rId10"/>
    <p:sldId id="276" r:id="rId11"/>
    <p:sldId id="275" r:id="rId12"/>
    <p:sldId id="264" r:id="rId13"/>
    <p:sldId id="277" r:id="rId14"/>
    <p:sldId id="278" r:id="rId15"/>
    <p:sldId id="279" r:id="rId16"/>
    <p:sldId id="281" r:id="rId17"/>
    <p:sldId id="280" r:id="rId18"/>
  </p:sldIdLst>
  <p:sldSz cx="14630400" cy="8229600"/>
  <p:notesSz cx="8229600" cy="14630400"/>
  <p:embeddedFontLst>
    <p:embeddedFont>
      <p:font typeface="Cambria Math" panose="02040503050406030204" pitchFamily="18" charset="0"/>
      <p:regular r:id="rId20"/>
    </p:embeddedFont>
    <p:embeddedFont>
      <p:font typeface="Inter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46"/>
    <a:srgbClr val="0359A6"/>
    <a:srgbClr val="1255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0876" autoAdjust="0"/>
  </p:normalViewPr>
  <p:slideViewPr>
    <p:cSldViewPr snapToGrid="0" snapToObjects="1">
      <p:cViewPr varScale="1">
        <p:scale>
          <a:sx n="33" d="100"/>
          <a:sy n="33" d="100"/>
        </p:scale>
        <p:origin x="5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88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2240E-992D-80A4-EF6D-8C4BC9A4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7FA8B-7EC9-F847-87AE-B3DEF2B71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D3A7F-D8F7-74B4-94FA-6461A505B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34DD5-F799-8002-C2BB-40F50DEFA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8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0FAA-4892-B260-FF05-FAD80E15B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BB201-4BA2-3BBF-6F51-70D0BDEDD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673DE-ED86-A516-5D6A-C977931F5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code clone is when two code fragments are identical or very similar—often due to copy-paste or minor edits. This can create maintenance issues, because changing one part may require changing others too.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035C1-C20B-58D6-D649-01CADFEE1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08E7F-319B-7048-0EC6-4274C8BA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3912FA-2F61-D1A6-ABF2-30D094F88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BC21-C85C-EDF3-9921-9E1445E35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DFC9-D7EA-831C-B6FF-118EAA0808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8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AFD4-5618-ECC9-82E1-4FE62D04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C487B-79BE-42EA-6D0A-D448F2DE7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20667-D226-AF53-508D-E203DF97A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CC72-0DB4-D562-9D2E-ECB0C23D6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14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0F6A-F064-C78B-D79C-3CC829CE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37C67-FB4C-192D-77A7-F3D30967B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0DA85-98A2-0BA5-0354-43EFD4B4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41720-66B5-9545-5D66-B45CCAC43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2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A7D-A63E-1A91-85DA-0537DB68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62B8B-258B-308B-B5D1-B45B70BD5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4C7A4-795C-2573-2C1A-5938AC804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53B09-7CA8-275D-77B0-36593978C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99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4081-FA3F-D1AC-2163-50D2F2F7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53C64-91B9-734D-9C9E-87847A1AD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E3D60-FAD0-2CA7-57E8-1427B330D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7F450-0E28-2D86-53D0-8C5C521684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91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BF51-F95D-E0C2-1666-82114064E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8A55CF-FC73-7423-F3E4-C677399F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3A06A-F52A-7FE7-DAE9-6621A56DE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CA77-4341-7838-0921-700211BD8E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7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C7731-6712-FD85-C282-900CD7AE3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D010C-4B89-3FCA-CD7D-A509CD33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D277C-4E6B-DEA4-501D-772E3674A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E424A-CFB9-E60F-8CB6-49EC4E3A4A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67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2C953-2900-62D5-CBA7-71477F82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998BD-3BA6-8C7B-8337-95D5A79BC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FF7E9-229B-B32C-7751-FB5CE9892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6549D-421F-C569-A24A-DBC83CA3F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6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C0C-EE5A-AA92-11B9-BF7C6256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BFFD6-9CB1-D5EB-4912-EFEC1619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CE8A4-D95E-81F9-8F3F-C4CB21452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B63D-2D33-5704-B0F0-CD736EA64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722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A21-0430-1661-1671-590AC050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3A222-4272-37CA-0216-922C93887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B6112-546B-4068-086F-D57DBB3E1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9E11-A53C-E1FE-DDA6-44BA77A4FC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82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CDA-608A-6332-9372-B8CC4200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E81C1-3BC4-471E-79B0-4C67A1410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9CDF5-16B7-EA07-9654-7417896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906E5-5F6D-0721-265D-C4F5971FC6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54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B2A6-203B-97A2-EA90-FCC9D9649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5F1B8-330A-ED76-043E-8A02051DA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F0C53-FB6F-56D4-1969-01ED658A1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0671D-71AB-B4EA-F519-3FB13A941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254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A655-63DB-BDA5-34D7-612138CFD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D5ADF-4292-8D4F-9A25-836FF6AF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F2F14-F514-BFB2-CB0E-7239630A0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1EF42-D91B-3328-6FDD-8F60DFBEB6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873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1F82-1CAB-1BEE-1A4A-CC117760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C1994-C188-17A6-ACCF-2580D42B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7499B-E81E-FB7D-A863-4B748E409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9C4-3321-612A-B299-107C282D2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3A49-2C71-3832-50DC-F9035CFF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A0C09C3-8E30-9F82-D471-C06F1D8D1E4D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A54829-57FA-C9D8-F71B-013DB1EC6C0F}"/>
              </a:ext>
            </a:extLst>
          </p:cNvPr>
          <p:cNvSpPr/>
          <p:nvPr/>
        </p:nvSpPr>
        <p:spPr>
          <a:xfrm>
            <a:off x="793790" y="24831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C88026-506C-8FB7-2F70-82EB6C88996B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49314-AED7-8DD3-F5C9-2E1A09A1F267}"/>
              </a:ext>
            </a:extLst>
          </p:cNvPr>
          <p:cNvGrpSpPr/>
          <p:nvPr/>
        </p:nvGrpSpPr>
        <p:grpSpPr>
          <a:xfrm>
            <a:off x="793789" y="4411028"/>
            <a:ext cx="6089611" cy="2503129"/>
            <a:chOff x="793790" y="3464123"/>
            <a:chExt cx="13042821" cy="96119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513FD92B-C0F6-269C-2AE7-200C364560D3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FCBEEB0A-FDFF-5FF3-6FB8-2E3A2606AFA6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no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Md. Tawrat Hossen Nibir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Roll: BSSE 1625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B978D-441B-FFA3-87CD-B2B000508ED7}"/>
              </a:ext>
            </a:extLst>
          </p:cNvPr>
          <p:cNvGrpSpPr/>
          <p:nvPr/>
        </p:nvGrpSpPr>
        <p:grpSpPr>
          <a:xfrm>
            <a:off x="7746999" y="4411028"/>
            <a:ext cx="6089611" cy="2503129"/>
            <a:chOff x="793790" y="3464123"/>
            <a:chExt cx="13042821" cy="961192"/>
          </a:xfrm>
          <a:noFill/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1B882726-1E65-449D-88EB-9AB1F79762ED}"/>
                </a:ext>
              </a:extLst>
            </p:cNvPr>
            <p:cNvSpPr/>
            <p:nvPr/>
          </p:nvSpPr>
          <p:spPr>
            <a:xfrm>
              <a:off x="1549836" y="3566968"/>
              <a:ext cx="11530727" cy="759716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endParaRPr lang="en-US" sz="2800" dirty="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6098820A-E7F3-90B6-4BCA-BB0089217C08}"/>
                </a:ext>
              </a:extLst>
            </p:cNvPr>
            <p:cNvSpPr/>
            <p:nvPr/>
          </p:nvSpPr>
          <p:spPr>
            <a:xfrm>
              <a:off x="793790" y="3464123"/>
              <a:ext cx="13042821" cy="961192"/>
            </a:xfrm>
            <a:prstGeom prst="roundRect">
              <a:avLst>
                <a:gd name="adj" fmla="val 9911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/>
            <a:lstStyle/>
            <a:p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Supervisor Details:</a:t>
              </a:r>
            </a:p>
            <a:p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Toukir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Ahammed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Lecturer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Institute of Information Technology (IIT)</a:t>
              </a:r>
            </a:p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University of Dhaka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ADB0A5A-72FD-84F1-A29D-CC5420DF8878}"/>
              </a:ext>
            </a:extLst>
          </p:cNvPr>
          <p:cNvSpPr/>
          <p:nvPr/>
        </p:nvSpPr>
        <p:spPr>
          <a:xfrm>
            <a:off x="645200" y="478908"/>
            <a:ext cx="12696489" cy="80406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8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Software Project Lab – 1 Midterm Presentation</a:t>
            </a:r>
            <a:endParaRPr lang="en-US" sz="48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A5BC5-6E24-04F2-FFBE-14430220C5F9}"/>
              </a:ext>
            </a:extLst>
          </p:cNvPr>
          <p:cNvSpPr/>
          <p:nvPr/>
        </p:nvSpPr>
        <p:spPr>
          <a:xfrm>
            <a:off x="645200" y="2226314"/>
            <a:ext cx="13546272" cy="5411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Title: </a:t>
            </a:r>
            <a:r>
              <a:rPr lang="en-US" sz="3600" dirty="0" err="1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ImCloneDetect</a:t>
            </a:r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 (Image-Based Code Clone Detection Tool)</a:t>
            </a:r>
            <a:endParaRPr lang="en-US" sz="36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084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F1A7C-0EBA-CC71-516D-2D96FA5F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2E61DF-8BAA-AA1D-D32F-B23470935A87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1E2355-0A3A-847E-D644-4A7A3A3670F6}"/>
              </a:ext>
            </a:extLst>
          </p:cNvPr>
          <p:cNvSpPr/>
          <p:nvPr/>
        </p:nvSpPr>
        <p:spPr>
          <a:xfrm>
            <a:off x="793790" y="248316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561566-B2FB-FDCA-238B-7EBA129F9956}"/>
              </a:ext>
            </a:extLst>
          </p:cNvPr>
          <p:cNvSpPr/>
          <p:nvPr/>
        </p:nvSpPr>
        <p:spPr>
          <a:xfrm>
            <a:off x="793790" y="468046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760C14-BCA4-7FE6-3660-E41B61DEF9F4}"/>
              </a:ext>
            </a:extLst>
          </p:cNvPr>
          <p:cNvGrpSpPr/>
          <p:nvPr/>
        </p:nvGrpSpPr>
        <p:grpSpPr>
          <a:xfrm>
            <a:off x="793790" y="3440073"/>
            <a:ext cx="5486400" cy="4209782"/>
            <a:chOff x="793790" y="3440073"/>
            <a:chExt cx="5486400" cy="420978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AA34AF9-C339-03F8-5049-AFC2CA56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3440073"/>
              <a:ext cx="5486400" cy="380047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3CED08-D85C-77AF-3A15-A9E71F31C4EB}"/>
                </a:ext>
              </a:extLst>
            </p:cNvPr>
            <p:cNvSpPr/>
            <p:nvPr/>
          </p:nvSpPr>
          <p:spPr>
            <a:xfrm>
              <a:off x="3265120" y="7188190"/>
              <a:ext cx="543739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D6A081-4D8F-83F9-4CAE-6CD91756C51D}"/>
              </a:ext>
            </a:extLst>
          </p:cNvPr>
          <p:cNvGrpSpPr/>
          <p:nvPr/>
        </p:nvGrpSpPr>
        <p:grpSpPr>
          <a:xfrm>
            <a:off x="8359736" y="3378160"/>
            <a:ext cx="5476875" cy="4271695"/>
            <a:chOff x="8359736" y="3378160"/>
            <a:chExt cx="5476875" cy="427169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24BB22C-5C2E-3B4B-D26A-C745FF4D8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59736" y="3378160"/>
              <a:ext cx="5476875" cy="3924300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576B3D-4D81-4BEA-92A5-60C4E294325E}"/>
                </a:ext>
              </a:extLst>
            </p:cNvPr>
            <p:cNvSpPr/>
            <p:nvPr/>
          </p:nvSpPr>
          <p:spPr>
            <a:xfrm>
              <a:off x="10831067" y="7188190"/>
              <a:ext cx="543739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1CB597A-E5F3-AA86-5B76-898A0DD08D16}"/>
              </a:ext>
            </a:extLst>
          </p:cNvPr>
          <p:cNvSpPr/>
          <p:nvPr/>
        </p:nvSpPr>
        <p:spPr>
          <a:xfrm>
            <a:off x="727651" y="458026"/>
            <a:ext cx="3942426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Introduction</a:t>
            </a:r>
            <a:endParaRPr lang="en-US" sz="5400" b="1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DB70EF-F856-C8BE-19A7-5EBDFAD2C0BD}"/>
              </a:ext>
            </a:extLst>
          </p:cNvPr>
          <p:cNvSpPr/>
          <p:nvPr/>
        </p:nvSpPr>
        <p:spPr>
          <a:xfrm>
            <a:off x="726497" y="1446341"/>
            <a:ext cx="394358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3600" dirty="0">
                <a:solidFill>
                  <a:srgbClr val="0359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code clone?</a:t>
            </a:r>
            <a:endParaRPr lang="en-US" sz="6000" dirty="0">
              <a:solidFill>
                <a:srgbClr val="0359A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608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F81AB8-702D-D518-9A00-D84FCC03F092}"/>
              </a:ext>
            </a:extLst>
          </p:cNvPr>
          <p:cNvGrpSpPr/>
          <p:nvPr/>
        </p:nvGrpSpPr>
        <p:grpSpPr>
          <a:xfrm>
            <a:off x="793790" y="2919054"/>
            <a:ext cx="13042821" cy="4557951"/>
            <a:chOff x="793790" y="2919055"/>
            <a:chExt cx="6244709" cy="1839278"/>
          </a:xfrm>
        </p:grpSpPr>
        <p:sp>
          <p:nvSpPr>
            <p:cNvPr id="4" name="Shape 2"/>
            <p:cNvSpPr/>
            <p:nvPr/>
          </p:nvSpPr>
          <p:spPr>
            <a:xfrm>
              <a:off x="793790" y="2919055"/>
              <a:ext cx="6244709" cy="1839278"/>
            </a:xfrm>
            <a:prstGeom prst="roundRect">
              <a:avLst>
                <a:gd name="adj" fmla="val 5180"/>
              </a:avLst>
            </a:prstGeom>
            <a:no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2427625" y="3029506"/>
              <a:ext cx="2977039" cy="3720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Tool Development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051084" y="3775234"/>
              <a:ext cx="5730121" cy="7258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850"/>
                </a:lnSpc>
                <a:buNone/>
              </a:pPr>
              <a:r>
                <a:rPr lang="en-US" sz="240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Develop an Image-Based Code Clone Detection Tool designed for precision and efficiency.</a:t>
              </a:r>
              <a:endParaRPr lang="en-US" sz="240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67C869AC-F46C-1933-D85F-F0E84B76B00F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061EF-B420-511D-0752-4F90E17B1E4F}"/>
              </a:ext>
            </a:extLst>
          </p:cNvPr>
          <p:cNvSpPr/>
          <p:nvPr/>
        </p:nvSpPr>
        <p:spPr>
          <a:xfrm>
            <a:off x="793790" y="328120"/>
            <a:ext cx="9309280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“What?”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630A7-4986-82BF-7017-5DA4A38F7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09A7585-850A-B3EC-1D22-031E2EF5A257}"/>
              </a:ext>
            </a:extLst>
          </p:cNvPr>
          <p:cNvSpPr/>
          <p:nvPr/>
        </p:nvSpPr>
        <p:spPr>
          <a:xfrm>
            <a:off x="3229471" y="621069"/>
            <a:ext cx="81714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endParaRPr lang="en-US" sz="4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BA9F18-62FF-D1F7-D65F-BA59C050CFF5}"/>
              </a:ext>
            </a:extLst>
          </p:cNvPr>
          <p:cNvGrpSpPr/>
          <p:nvPr/>
        </p:nvGrpSpPr>
        <p:grpSpPr>
          <a:xfrm>
            <a:off x="7591903" y="2188456"/>
            <a:ext cx="6244709" cy="2615527"/>
            <a:chOff x="793790" y="4985147"/>
            <a:chExt cx="6244709" cy="1839278"/>
          </a:xfrm>
          <a:noFill/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D11F751-F5C2-EE82-5271-6D5DE009F2B3}"/>
                </a:ext>
              </a:extLst>
            </p:cNvPr>
            <p:cNvSpPr/>
            <p:nvPr/>
          </p:nvSpPr>
          <p:spPr>
            <a:xfrm>
              <a:off x="793790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F702665F-B7F5-7693-E4FC-37AF8A6A235C}"/>
                </a:ext>
              </a:extLst>
            </p:cNvPr>
            <p:cNvSpPr/>
            <p:nvPr/>
          </p:nvSpPr>
          <p:spPr>
            <a:xfrm>
              <a:off x="1051084" y="5242441"/>
              <a:ext cx="2977039" cy="37207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Image Similarity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A1E9F406-FED6-8DF2-475E-FAD09402E8C6}"/>
                </a:ext>
              </a:extLst>
            </p:cNvPr>
            <p:cNvSpPr/>
            <p:nvPr/>
          </p:nvSpPr>
          <p:spPr>
            <a:xfrm>
              <a:off x="1051084" y="5841325"/>
              <a:ext cx="5730121" cy="725805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similarities among source code images (PNG files) using advanced algorithms.</a:t>
              </a:r>
              <a:endParaRPr lang="en-US" sz="175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6B93DC-EC52-A777-C7A5-8F683CA5F212}"/>
              </a:ext>
            </a:extLst>
          </p:cNvPr>
          <p:cNvGrpSpPr/>
          <p:nvPr/>
        </p:nvGrpSpPr>
        <p:grpSpPr>
          <a:xfrm>
            <a:off x="793790" y="2173216"/>
            <a:ext cx="6244709" cy="2615527"/>
            <a:chOff x="7599521" y="2919055"/>
            <a:chExt cx="6244709" cy="1839278"/>
          </a:xfrm>
          <a:noFill/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DFFFBDBF-1ADA-3468-38DE-7C67988C8AE0}"/>
                </a:ext>
              </a:extLst>
            </p:cNvPr>
            <p:cNvSpPr/>
            <p:nvPr/>
          </p:nvSpPr>
          <p:spPr>
            <a:xfrm>
              <a:off x="7599521" y="2919055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EF3ED97C-8758-FD21-48FD-B8EF0C55F4F2}"/>
                </a:ext>
              </a:extLst>
            </p:cNvPr>
            <p:cNvSpPr/>
            <p:nvPr/>
          </p:nvSpPr>
          <p:spPr>
            <a:xfrm>
              <a:off x="7856815" y="3176349"/>
              <a:ext cx="2977039" cy="37207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Core Algorithms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5B29D52F-08E5-B3C5-1792-76EB17E33B39}"/>
                </a:ext>
              </a:extLst>
            </p:cNvPr>
            <p:cNvSpPr/>
            <p:nvPr/>
          </p:nvSpPr>
          <p:spPr>
            <a:xfrm>
              <a:off x="7856815" y="3775234"/>
              <a:ext cx="5730121" cy="725805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Utilize Jaccard Distance </a:t>
              </a:r>
              <a:r>
                <a:rPr lang="en-US" sz="175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[1]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Perceptual Hash (</a:t>
              </a:r>
              <a:r>
                <a:rPr lang="en-US" sz="175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pHash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) [1], and Earth Mover's Distance (EMD) [2].</a:t>
              </a:r>
              <a:endParaRPr lang="en-US" sz="175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584F185-FCF5-6A88-3C8E-067E79116C19}"/>
              </a:ext>
            </a:extLst>
          </p:cNvPr>
          <p:cNvGrpSpPr/>
          <p:nvPr/>
        </p:nvGrpSpPr>
        <p:grpSpPr>
          <a:xfrm>
            <a:off x="4192845" y="5354576"/>
            <a:ext cx="6244709" cy="2605399"/>
            <a:chOff x="7599521" y="4985147"/>
            <a:chExt cx="6244709" cy="1839278"/>
          </a:xfrm>
          <a:noFill/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B4013FCE-B3EC-DBA0-56DF-8B48A9E2C3E8}"/>
                </a:ext>
              </a:extLst>
            </p:cNvPr>
            <p:cNvSpPr/>
            <p:nvPr/>
          </p:nvSpPr>
          <p:spPr>
            <a:xfrm>
              <a:off x="7599521" y="4985147"/>
              <a:ext cx="6244709" cy="1839278"/>
            </a:xfrm>
            <a:prstGeom prst="roundRect">
              <a:avLst>
                <a:gd name="adj" fmla="val 5180"/>
              </a:avLst>
            </a:prstGeom>
            <a:grpFill/>
            <a:ln w="30480">
              <a:solidFill>
                <a:schemeClr val="accent5">
                  <a:lumMod val="75000"/>
                </a:schemeClr>
              </a:solidFill>
              <a:prstDash val="solid"/>
            </a:ln>
          </p:spPr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614620E1-AB49-485B-E15F-525A123E4143}"/>
                </a:ext>
              </a:extLst>
            </p:cNvPr>
            <p:cNvSpPr/>
            <p:nvPr/>
          </p:nvSpPr>
          <p:spPr>
            <a:xfrm>
              <a:off x="7856815" y="5242441"/>
              <a:ext cx="3135511" cy="372070"/>
            </a:xfrm>
            <a:prstGeom prst="rect">
              <a:avLst/>
            </a:prstGeom>
            <a:grp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36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Petrona Bold" pitchFamily="34" charset="-122"/>
                  <a:cs typeface="Times New Roman" panose="02020603050405020304" pitchFamily="18" charset="0"/>
                </a:rPr>
                <a:t>Output &amp; Visualization</a:t>
              </a: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A8A6612-4D24-8729-BF89-B095F1BAA116}"/>
                </a:ext>
              </a:extLst>
            </p:cNvPr>
            <p:cNvSpPr/>
            <p:nvPr/>
          </p:nvSpPr>
          <p:spPr>
            <a:xfrm>
              <a:off x="7856815" y="5841325"/>
              <a:ext cx="5730121" cy="725805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 similarity results in CSV files and display them in the terminal, enabling visualization in future.</a:t>
              </a:r>
              <a:endParaRPr lang="en-US" sz="1750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47BD6-89D4-B0E4-A339-74F4BFE5273F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F2FA5-26B5-9A6E-0D0A-539FC2926639}"/>
              </a:ext>
            </a:extLst>
          </p:cNvPr>
          <p:cNvSpPr/>
          <p:nvPr/>
        </p:nvSpPr>
        <p:spPr>
          <a:xfrm>
            <a:off x="793790" y="328120"/>
            <a:ext cx="9039975" cy="8489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Project Description – “How?”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14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4F665-ED46-CF05-1DA1-662B039D2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CD5CC6B-2CA2-4BD2-3936-D6EA5418E97A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0E8C4-E9A6-7AD7-77EB-874DFBDBEC86}"/>
              </a:ext>
            </a:extLst>
          </p:cNvPr>
          <p:cNvSpPr txBox="1"/>
          <p:nvPr/>
        </p:nvSpPr>
        <p:spPr>
          <a:xfrm>
            <a:off x="793790" y="2229492"/>
            <a:ext cx="652141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BMP image file handling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.bmp format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Methods and constructors for reading and writing .bmp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Properly handling exceptions thrown by the file operations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5DEFA-4599-99E5-D0BD-9B0CF4E9AAC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have Implemented So Far…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562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7EDE8-85E6-C72D-F893-C2650F76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8113B68-8379-DFB2-E757-8295FD654270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24973-CD36-CC0B-4069-B3892E79D9A8}"/>
              </a:ext>
            </a:extLst>
          </p:cNvPr>
          <p:cNvSpPr txBox="1"/>
          <p:nvPr/>
        </p:nvSpPr>
        <p:spPr>
          <a:xfrm>
            <a:off x="793789" y="2229492"/>
            <a:ext cx="709676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Normalization</a:t>
            </a:r>
            <a:endParaRPr lang="en-US" dirty="0">
              <a:solidFill>
                <a:srgbClr val="0359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Grayscale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Gaussian blur image generation using </a:t>
            </a:r>
            <a:r>
              <a:rPr lang="en-US" sz="2800" i="1" dirty="0">
                <a:solidFill>
                  <a:srgbClr val="0359A6"/>
                </a:solidFill>
              </a:rPr>
              <a:t>‘Gaussian kernel’</a:t>
            </a:r>
            <a:endParaRPr lang="en-US" sz="2800" dirty="0">
              <a:solidFill>
                <a:srgbClr val="0359A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Negative image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Pixel vector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Image resizing using </a:t>
            </a:r>
            <a:r>
              <a:rPr lang="en-US" sz="2800" i="1" dirty="0">
                <a:solidFill>
                  <a:srgbClr val="0359A6"/>
                </a:solidFill>
              </a:rPr>
              <a:t>‘Bilinear Interpolation’</a:t>
            </a:r>
            <a:endParaRPr lang="en-US" sz="2800" dirty="0">
              <a:solidFill>
                <a:srgbClr val="0359A6"/>
              </a:solidFill>
            </a:endParaRP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A0F1BC-B1E7-2C45-7F9D-4B608B9EEC98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have Implemented So Far…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4F455B4-C5D3-4013-B33E-2974A5D1730D}"/>
              </a:ext>
            </a:extLst>
          </p:cNvPr>
          <p:cNvGrpSpPr/>
          <p:nvPr/>
        </p:nvGrpSpPr>
        <p:grpSpPr>
          <a:xfrm>
            <a:off x="7892157" y="1698675"/>
            <a:ext cx="5897848" cy="5155559"/>
            <a:chOff x="7892157" y="1698675"/>
            <a:chExt cx="5897848" cy="515555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CF6E3B5-0FD5-319A-C092-77FF1CDEE331}"/>
                </a:ext>
              </a:extLst>
            </p:cNvPr>
            <p:cNvGrpSpPr/>
            <p:nvPr/>
          </p:nvGrpSpPr>
          <p:grpSpPr>
            <a:xfrm>
              <a:off x="7892157" y="1698675"/>
              <a:ext cx="1978417" cy="2367121"/>
              <a:chOff x="8079982" y="1952090"/>
              <a:chExt cx="1978417" cy="236712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BB1A1F45-C049-4268-8D42-40ED6342CA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10872" b="18646"/>
              <a:stretch>
                <a:fillRect/>
              </a:stretch>
            </p:blipFill>
            <p:spPr>
              <a:xfrm>
                <a:off x="8079982" y="1952090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259E31-D1DA-9C73-19E5-93F8A3B58C9D}"/>
                  </a:ext>
                </a:extLst>
              </p:cNvPr>
              <p:cNvSpPr txBox="1"/>
              <p:nvPr/>
            </p:nvSpPr>
            <p:spPr>
              <a:xfrm>
                <a:off x="8267806" y="3949879"/>
                <a:ext cx="16027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Colorful Image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7B59429-A768-3321-16F5-9AA35D7BD51C}"/>
                </a:ext>
              </a:extLst>
            </p:cNvPr>
            <p:cNvGrpSpPr/>
            <p:nvPr/>
          </p:nvGrpSpPr>
          <p:grpSpPr>
            <a:xfrm>
              <a:off x="11811588" y="1698675"/>
              <a:ext cx="1978417" cy="2355136"/>
              <a:chOff x="11715318" y="1952090"/>
              <a:chExt cx="1978417" cy="235513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022A94B-0946-9FAE-1348-2DC70FE62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10872" b="18646"/>
              <a:stretch>
                <a:fillRect/>
              </a:stretch>
            </p:blipFill>
            <p:spPr>
              <a:xfrm>
                <a:off x="11715318" y="1952090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F4D8-07B4-990B-C8E1-7633F82881BA}"/>
                  </a:ext>
                </a:extLst>
              </p:cNvPr>
              <p:cNvSpPr txBox="1"/>
              <p:nvPr/>
            </p:nvSpPr>
            <p:spPr>
              <a:xfrm>
                <a:off x="11903141" y="3937894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Grayscale Image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DC5BE62-3656-8830-DB97-C3DF6AAD7BE1}"/>
                </a:ext>
              </a:extLst>
            </p:cNvPr>
            <p:cNvGrpSpPr/>
            <p:nvPr/>
          </p:nvGrpSpPr>
          <p:grpSpPr>
            <a:xfrm>
              <a:off x="7986068" y="5022616"/>
              <a:ext cx="1790594" cy="1436694"/>
              <a:chOff x="7986068" y="5022616"/>
              <a:chExt cx="1790594" cy="143669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67EB230-48EA-FEBB-DFC1-609E74E98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10872" b="18646"/>
              <a:stretch>
                <a:fillRect/>
              </a:stretch>
            </p:blipFill>
            <p:spPr>
              <a:xfrm>
                <a:off x="8387297" y="5022616"/>
                <a:ext cx="990278" cy="992528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A701DA-17AD-2703-9F44-A4DB32601908}"/>
                  </a:ext>
                </a:extLst>
              </p:cNvPr>
              <p:cNvSpPr txBox="1"/>
              <p:nvPr/>
            </p:nvSpPr>
            <p:spPr>
              <a:xfrm>
                <a:off x="7986068" y="6089978"/>
                <a:ext cx="17905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Resized Image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1AFDE87-4243-B333-07A8-018A97340A00}"/>
                </a:ext>
              </a:extLst>
            </p:cNvPr>
            <p:cNvGrpSpPr/>
            <p:nvPr/>
          </p:nvGrpSpPr>
          <p:grpSpPr>
            <a:xfrm>
              <a:off x="11739111" y="4189429"/>
              <a:ext cx="2050894" cy="2664805"/>
              <a:chOff x="11715317" y="4724105"/>
              <a:chExt cx="2050894" cy="266480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1CC6296-0880-98A9-0C0E-B761CBF61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Blur radius="4"/>
                        </a14:imgEffect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r="10872" b="18646"/>
              <a:stretch>
                <a:fillRect/>
              </a:stretch>
            </p:blipFill>
            <p:spPr>
              <a:xfrm>
                <a:off x="11715317" y="4724105"/>
                <a:ext cx="1978417" cy="1982912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099ACC-E17A-935E-B075-2DDFA54A9A9A}"/>
                  </a:ext>
                </a:extLst>
              </p:cNvPr>
              <p:cNvSpPr txBox="1"/>
              <p:nvPr/>
            </p:nvSpPr>
            <p:spPr>
              <a:xfrm>
                <a:off x="11811588" y="6742579"/>
                <a:ext cx="195462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Gaussian Blur Image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77527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C824-5D13-A75F-6A60-B6AF62EA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8D6735-976C-D388-EF96-A80B232E404E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467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Jaccard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images to be normalized in height and weight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(x, y) position comparing between two images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Pixel values doesn’t matter, presence matters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EE225D9-705F-B2B8-6783-35A0DDE4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467377"/>
              </a:xfrm>
              <a:prstGeom prst="rect">
                <a:avLst/>
              </a:prstGeom>
              <a:blipFill>
                <a:blip r:embed="rId3"/>
                <a:stretch>
                  <a:fillRect l="-2577" t="-2319" r="-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AA09DA2-16E4-7661-7B4B-13F8C35E1EBC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have Implemented So Far…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E7CF7BA-D864-8049-F464-AE55C791E52C}"/>
              </a:ext>
            </a:extLst>
          </p:cNvPr>
          <p:cNvGrpSpPr/>
          <p:nvPr/>
        </p:nvGrpSpPr>
        <p:grpSpPr>
          <a:xfrm>
            <a:off x="8597709" y="2262934"/>
            <a:ext cx="5884408" cy="4677491"/>
            <a:chOff x="8643854" y="3234093"/>
            <a:chExt cx="5884408" cy="467749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4440CD-1EB3-3005-25BC-B4D8A67CA828}"/>
                </a:ext>
              </a:extLst>
            </p:cNvPr>
            <p:cNvSpPr/>
            <p:nvPr/>
          </p:nvSpPr>
          <p:spPr>
            <a:xfrm>
              <a:off x="8969339" y="4232953"/>
              <a:ext cx="4867271" cy="27432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359A6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159232-E71D-0083-78C8-DAF5C0D7290A}"/>
                </a:ext>
              </a:extLst>
            </p:cNvPr>
            <p:cNvSpPr/>
            <p:nvPr/>
          </p:nvSpPr>
          <p:spPr>
            <a:xfrm>
              <a:off x="11116637" y="4749986"/>
              <a:ext cx="787311" cy="1661367"/>
            </a:xfrm>
            <a:custGeom>
              <a:avLst/>
              <a:gdLst>
                <a:gd name="csX0" fmla="*/ 393656 w 787311"/>
                <a:gd name="csY0" fmla="*/ 0 h 1661367"/>
                <a:gd name="csX1" fmla="*/ 396602 w 787311"/>
                <a:gd name="csY1" fmla="*/ 2203 h 1661367"/>
                <a:gd name="csX2" fmla="*/ 787311 w 787311"/>
                <a:gd name="csY2" fmla="*/ 830683 h 1661367"/>
                <a:gd name="csX3" fmla="*/ 396602 w 787311"/>
                <a:gd name="csY3" fmla="*/ 1659163 h 1661367"/>
                <a:gd name="csX4" fmla="*/ 393656 w 787311"/>
                <a:gd name="csY4" fmla="*/ 1661367 h 1661367"/>
                <a:gd name="csX5" fmla="*/ 390709 w 787311"/>
                <a:gd name="csY5" fmla="*/ 1659163 h 1661367"/>
                <a:gd name="csX6" fmla="*/ 0 w 787311"/>
                <a:gd name="csY6" fmla="*/ 830683 h 1661367"/>
                <a:gd name="csX7" fmla="*/ 390709 w 787311"/>
                <a:gd name="csY7" fmla="*/ 2203 h 1661367"/>
                <a:gd name="csX8" fmla="*/ 393656 w 787311"/>
                <a:gd name="csY8" fmla="*/ 0 h 16613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87311" h="1661367">
                  <a:moveTo>
                    <a:pt x="393656" y="0"/>
                  </a:moveTo>
                  <a:lnTo>
                    <a:pt x="396602" y="2203"/>
                  </a:lnTo>
                  <a:cubicBezTo>
                    <a:pt x="635218" y="199126"/>
                    <a:pt x="787311" y="497143"/>
                    <a:pt x="787311" y="830683"/>
                  </a:cubicBezTo>
                  <a:cubicBezTo>
                    <a:pt x="787311" y="1164223"/>
                    <a:pt x="635218" y="1462240"/>
                    <a:pt x="396602" y="1659163"/>
                  </a:cubicBezTo>
                  <a:lnTo>
                    <a:pt x="393656" y="1661367"/>
                  </a:lnTo>
                  <a:lnTo>
                    <a:pt x="390709" y="1659163"/>
                  </a:lnTo>
                  <a:cubicBezTo>
                    <a:pt x="152093" y="1462240"/>
                    <a:pt x="0" y="1164223"/>
                    <a:pt x="0" y="830683"/>
                  </a:cubicBezTo>
                  <a:cubicBezTo>
                    <a:pt x="0" y="497143"/>
                    <a:pt x="152093" y="199126"/>
                    <a:pt x="390709" y="2203"/>
                  </a:cubicBezTo>
                  <a:lnTo>
                    <a:pt x="393656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DB4FABA-9B8B-6486-338D-4DD33764418F}"/>
                </a:ext>
              </a:extLst>
            </p:cNvPr>
            <p:cNvSpPr/>
            <p:nvPr/>
          </p:nvSpPr>
          <p:spPr>
            <a:xfrm>
              <a:off x="9756649" y="4507019"/>
              <a:ext cx="1753643" cy="2147298"/>
            </a:xfrm>
            <a:custGeom>
              <a:avLst/>
              <a:gdLst>
                <a:gd name="csX0" fmla="*/ 1073649 w 1753643"/>
                <a:gd name="csY0" fmla="*/ 0 h 2147298"/>
                <a:gd name="csX1" fmla="*/ 1673936 w 1753643"/>
                <a:gd name="csY1" fmla="*/ 183362 h 2147298"/>
                <a:gd name="csX2" fmla="*/ 1753643 w 1753643"/>
                <a:gd name="csY2" fmla="*/ 242966 h 2147298"/>
                <a:gd name="csX3" fmla="*/ 1750696 w 1753643"/>
                <a:gd name="csY3" fmla="*/ 245169 h 2147298"/>
                <a:gd name="csX4" fmla="*/ 1359987 w 1753643"/>
                <a:gd name="csY4" fmla="*/ 1073649 h 2147298"/>
                <a:gd name="csX5" fmla="*/ 1750696 w 1753643"/>
                <a:gd name="csY5" fmla="*/ 1902129 h 2147298"/>
                <a:gd name="csX6" fmla="*/ 1753643 w 1753643"/>
                <a:gd name="csY6" fmla="*/ 1904333 h 2147298"/>
                <a:gd name="csX7" fmla="*/ 1673936 w 1753643"/>
                <a:gd name="csY7" fmla="*/ 1963936 h 2147298"/>
                <a:gd name="csX8" fmla="*/ 1073649 w 1753643"/>
                <a:gd name="csY8" fmla="*/ 2147298 h 2147298"/>
                <a:gd name="csX9" fmla="*/ 0 w 1753643"/>
                <a:gd name="csY9" fmla="*/ 1073649 h 2147298"/>
                <a:gd name="csX10" fmla="*/ 1073649 w 1753643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3" h="2147298">
                  <a:moveTo>
                    <a:pt x="1073649" y="0"/>
                  </a:moveTo>
                  <a:cubicBezTo>
                    <a:pt x="1296009" y="0"/>
                    <a:pt x="1502581" y="67597"/>
                    <a:pt x="1673936" y="183362"/>
                  </a:cubicBezTo>
                  <a:lnTo>
                    <a:pt x="1753643" y="242966"/>
                  </a:lnTo>
                  <a:lnTo>
                    <a:pt x="1750696" y="245169"/>
                  </a:lnTo>
                  <a:cubicBezTo>
                    <a:pt x="1512080" y="442092"/>
                    <a:pt x="1359987" y="740109"/>
                    <a:pt x="1359987" y="1073649"/>
                  </a:cubicBezTo>
                  <a:cubicBezTo>
                    <a:pt x="1359987" y="1407189"/>
                    <a:pt x="1512080" y="1705206"/>
                    <a:pt x="1750696" y="1902129"/>
                  </a:cubicBezTo>
                  <a:lnTo>
                    <a:pt x="1753643" y="1904333"/>
                  </a:lnTo>
                  <a:lnTo>
                    <a:pt x="1673936" y="1963936"/>
                  </a:lnTo>
                  <a:cubicBezTo>
                    <a:pt x="1502581" y="2079701"/>
                    <a:pt x="1296009" y="2147298"/>
                    <a:pt x="1073649" y="2147298"/>
                  </a:cubicBezTo>
                  <a:cubicBezTo>
                    <a:pt x="480689" y="2147298"/>
                    <a:pt x="0" y="1666609"/>
                    <a:pt x="0" y="1073649"/>
                  </a:cubicBezTo>
                  <a:cubicBezTo>
                    <a:pt x="0" y="480689"/>
                    <a:pt x="480689" y="0"/>
                    <a:pt x="1073649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A61BF0-12D8-A8E6-9644-BE83852DF8C3}"/>
                </a:ext>
              </a:extLst>
            </p:cNvPr>
            <p:cNvSpPr/>
            <p:nvPr/>
          </p:nvSpPr>
          <p:spPr>
            <a:xfrm>
              <a:off x="11496499" y="4507019"/>
              <a:ext cx="1753642" cy="2147298"/>
            </a:xfrm>
            <a:custGeom>
              <a:avLst/>
              <a:gdLst>
                <a:gd name="csX0" fmla="*/ 679993 w 1753642"/>
                <a:gd name="csY0" fmla="*/ 0 h 2147298"/>
                <a:gd name="csX1" fmla="*/ 1753642 w 1753642"/>
                <a:gd name="csY1" fmla="*/ 1073649 h 2147298"/>
                <a:gd name="csX2" fmla="*/ 679993 w 1753642"/>
                <a:gd name="csY2" fmla="*/ 2147298 h 2147298"/>
                <a:gd name="csX3" fmla="*/ 79706 w 1753642"/>
                <a:gd name="csY3" fmla="*/ 1963936 h 2147298"/>
                <a:gd name="csX4" fmla="*/ 0 w 1753642"/>
                <a:gd name="csY4" fmla="*/ 1904333 h 2147298"/>
                <a:gd name="csX5" fmla="*/ 2946 w 1753642"/>
                <a:gd name="csY5" fmla="*/ 1902129 h 2147298"/>
                <a:gd name="csX6" fmla="*/ 393655 w 1753642"/>
                <a:gd name="csY6" fmla="*/ 1073649 h 2147298"/>
                <a:gd name="csX7" fmla="*/ 2946 w 1753642"/>
                <a:gd name="csY7" fmla="*/ 245169 h 2147298"/>
                <a:gd name="csX8" fmla="*/ 0 w 1753642"/>
                <a:gd name="csY8" fmla="*/ 242966 h 2147298"/>
                <a:gd name="csX9" fmla="*/ 79706 w 1753642"/>
                <a:gd name="csY9" fmla="*/ 183362 h 2147298"/>
                <a:gd name="csX10" fmla="*/ 679993 w 1753642"/>
                <a:gd name="csY10" fmla="*/ 0 h 21472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753642" h="2147298">
                  <a:moveTo>
                    <a:pt x="679993" y="0"/>
                  </a:moveTo>
                  <a:cubicBezTo>
                    <a:pt x="1272953" y="0"/>
                    <a:pt x="1753642" y="480689"/>
                    <a:pt x="1753642" y="1073649"/>
                  </a:cubicBezTo>
                  <a:cubicBezTo>
                    <a:pt x="1753642" y="1666609"/>
                    <a:pt x="1272953" y="2147298"/>
                    <a:pt x="679993" y="2147298"/>
                  </a:cubicBezTo>
                  <a:cubicBezTo>
                    <a:pt x="457633" y="2147298"/>
                    <a:pt x="251061" y="2079701"/>
                    <a:pt x="79706" y="1963936"/>
                  </a:cubicBezTo>
                  <a:lnTo>
                    <a:pt x="0" y="1904333"/>
                  </a:lnTo>
                  <a:lnTo>
                    <a:pt x="2946" y="1902129"/>
                  </a:lnTo>
                  <a:cubicBezTo>
                    <a:pt x="241562" y="1705206"/>
                    <a:pt x="393655" y="1407189"/>
                    <a:pt x="393655" y="1073649"/>
                  </a:cubicBezTo>
                  <a:cubicBezTo>
                    <a:pt x="393655" y="740109"/>
                    <a:pt x="241562" y="442092"/>
                    <a:pt x="2946" y="245169"/>
                  </a:cubicBezTo>
                  <a:lnTo>
                    <a:pt x="0" y="242966"/>
                  </a:lnTo>
                  <a:lnTo>
                    <a:pt x="79706" y="183362"/>
                  </a:lnTo>
                  <a:cubicBezTo>
                    <a:pt x="251061" y="67597"/>
                    <a:pt x="457633" y="0"/>
                    <a:pt x="679993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2D1F056-D4FC-E1B0-C1A4-5BCBB755526D}"/>
                </a:ext>
              </a:extLst>
            </p:cNvPr>
            <p:cNvCxnSpPr>
              <a:cxnSpLocks/>
            </p:cNvCxnSpPr>
            <p:nvPr/>
          </p:nvCxnSpPr>
          <p:spPr>
            <a:xfrm>
              <a:off x="9526547" y="3911117"/>
              <a:ext cx="1057850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1C646B-B47E-4194-67C1-9FEEED1C0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61813" y="3911117"/>
              <a:ext cx="802121" cy="16934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1352486-083C-18EB-4449-95AC162F23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41583" y="5604553"/>
              <a:ext cx="198330" cy="16127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2856A8-0DDE-01CC-278A-1E293A8BBD35}"/>
                </a:ext>
              </a:extLst>
            </p:cNvPr>
            <p:cNvSpPr txBox="1"/>
            <p:nvPr/>
          </p:nvSpPr>
          <p:spPr>
            <a:xfrm>
              <a:off x="8643854" y="3234093"/>
              <a:ext cx="2068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 = Nonzero pixels in image1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A197F8C-CF9D-0786-DA10-8C6CC898A42F}"/>
                </a:ext>
              </a:extLst>
            </p:cNvPr>
            <p:cNvSpPr txBox="1"/>
            <p:nvPr/>
          </p:nvSpPr>
          <p:spPr>
            <a:xfrm>
              <a:off x="12619069" y="3266115"/>
              <a:ext cx="1909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Nonzero pixels in image2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314FEE6-C8FB-9411-0496-9338A6E982A5}"/>
                </a:ext>
              </a:extLst>
            </p:cNvPr>
            <p:cNvSpPr txBox="1"/>
            <p:nvPr/>
          </p:nvSpPr>
          <p:spPr>
            <a:xfrm>
              <a:off x="10131228" y="7265253"/>
              <a:ext cx="2758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Nonzero pixels in both A and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9430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8640-7B32-D31C-6A66-D31EBE6C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DF8D02-5E2A-7E79-D3AB-D4426BD0CB40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B8459A-149F-F5E7-F3A2-511DF24549A9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Perceptual Hash Similarity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similarity using the frequency features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resized images in 32 x 32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an 8 x 8 frequency signature for both images using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‘Discrete Cosine Transformation (DCT)’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Jaccard Similarity = </a:t>
                </a:r>
                <a14:m>
                  <m:oMath xmlns:m="http://schemas.openxmlformats.org/officeDocument/2006/math">
                    <m:r>
                      <a:rPr lang="en-US" sz="2800" i="0" smtClean="0">
                        <a:latin typeface="Cambria Math" panose="02040503050406030204" pitchFamily="18" charset="0"/>
                      </a:rPr>
                      <m:t>1−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</a:rPr>
                  <a:t>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</a:rPr>
                  <a:t>hamming distance between signatures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B8459A-149F-F5E7-F3A2-511DF2454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5078313"/>
              </a:xfrm>
              <a:prstGeom prst="rect">
                <a:avLst/>
              </a:prstGeom>
              <a:blipFill>
                <a:blip r:embed="rId3"/>
                <a:stretch>
                  <a:fillRect l="-2577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2AC91CBE-44BC-2161-CF90-1E67CF90C19B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What I have Implemented So Far…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A9A3147-B2E8-5089-562C-E55F7CFB433E}"/>
              </a:ext>
            </a:extLst>
          </p:cNvPr>
          <p:cNvGrpSpPr/>
          <p:nvPr/>
        </p:nvGrpSpPr>
        <p:grpSpPr>
          <a:xfrm>
            <a:off x="8079982" y="2229493"/>
            <a:ext cx="5594921" cy="5262978"/>
            <a:chOff x="8079982" y="2229493"/>
            <a:chExt cx="5594921" cy="52629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CC814C2-9EBF-B6A9-A485-A1E883703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0872" b="18646"/>
            <a:stretch>
              <a:fillRect/>
            </a:stretch>
          </p:blipFill>
          <p:spPr>
            <a:xfrm>
              <a:off x="8079982" y="2229493"/>
              <a:ext cx="1978417" cy="1982912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BDF188-70EF-6E24-4E68-9C62FF60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05" t="4291" r="10643" b="19105"/>
            <a:stretch>
              <a:fillRect/>
            </a:stretch>
          </p:blipFill>
          <p:spPr>
            <a:xfrm>
              <a:off x="11452573" y="2306059"/>
              <a:ext cx="1978417" cy="1922128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4654B-A8E4-FCAC-7CB8-4CDBEC301A07}"/>
                </a:ext>
              </a:extLst>
            </p:cNvPr>
            <p:cNvSpPr txBox="1"/>
            <p:nvPr/>
          </p:nvSpPr>
          <p:spPr>
            <a:xfrm>
              <a:off x="8342504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image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5C3DC2-8EE2-BDB0-2CFF-3B21882EBE50}"/>
                </a:ext>
              </a:extLst>
            </p:cNvPr>
            <p:cNvSpPr txBox="1"/>
            <p:nvPr/>
          </p:nvSpPr>
          <p:spPr>
            <a:xfrm>
              <a:off x="11869319" y="4345631"/>
              <a:ext cx="15616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32 x 32 DCT</a:t>
              </a: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A15617-A176-31ED-D36A-F573881D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353" t="3630" r="3546"/>
            <a:stretch>
              <a:fillRect/>
            </a:stretch>
          </p:blipFill>
          <p:spPr>
            <a:xfrm>
              <a:off x="8079982" y="5052883"/>
              <a:ext cx="1824193" cy="19065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AEBA2F4-2E49-BB52-9AAF-65CB62007049}"/>
                </a:ext>
              </a:extLst>
            </p:cNvPr>
            <p:cNvSpPr txBox="1"/>
            <p:nvPr/>
          </p:nvSpPr>
          <p:spPr>
            <a:xfrm>
              <a:off x="8079982" y="7123139"/>
              <a:ext cx="1824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359A6"/>
                  </a:solidFill>
                </a:rPr>
                <a:t>Top-left 8x8 grid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D62C20A-9A97-6161-F7CA-52D993CD0559}"/>
                </a:ext>
              </a:extLst>
            </p:cNvPr>
            <p:cNvSpPr txBox="1"/>
            <p:nvPr/>
          </p:nvSpPr>
          <p:spPr>
            <a:xfrm>
              <a:off x="11291299" y="5759054"/>
              <a:ext cx="238360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359A6"/>
                  </a:solidFill>
                </a:rPr>
                <a:t>Hash signature:</a:t>
              </a:r>
              <a:r>
                <a:rPr lang="en-US" dirty="0"/>
                <a:t> </a:t>
              </a:r>
            </a:p>
            <a:p>
              <a:r>
                <a:rPr lang="en-US" dirty="0"/>
                <a:t>010100001011100110010101001010010000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6B1C26-8243-77F9-92F4-F29FE63FDD59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3220949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17A1613-C82F-0C99-2465-26F0962F5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3605" y="3102796"/>
              <a:ext cx="1775714" cy="218893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C48E611-4A00-397E-5A15-47B37CCB4795}"/>
                </a:ext>
              </a:extLst>
            </p:cNvPr>
            <p:cNvCxnSpPr>
              <a:cxnSpLocks/>
            </p:cNvCxnSpPr>
            <p:nvPr/>
          </p:nvCxnSpPr>
          <p:spPr>
            <a:xfrm>
              <a:off x="10243334" y="6209016"/>
              <a:ext cx="88357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525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E4006-A2B0-43C1-226E-7C170A630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5C2F2D3-F482-EC05-6F73-A1A048B2E90B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/>
              <p:nvPr/>
            </p:nvSpPr>
            <p:spPr>
              <a:xfrm>
                <a:off x="793789" y="2229492"/>
                <a:ext cx="7096763" cy="4613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ea typeface="Petrona Bold" pitchFamily="34" charset="-122"/>
                    <a:cs typeface="Times New Roman" panose="02020603050405020304" pitchFamily="18" charset="0"/>
                  </a:rPr>
                  <a:t>Earth Mover’s Similarity</a:t>
                </a:r>
              </a:p>
              <a:p>
                <a:r>
                  <a:rPr lang="en-US" sz="3600" b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(Wasserstein Similarity)</a:t>
                </a:r>
                <a:endParaRPr lang="en-US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similarity based on EMD distance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Images need to be in grayscale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resized images in 300 x 300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Requires solving an </a:t>
                </a:r>
                <a:r>
                  <a:rPr lang="en-US" sz="2800" i="1" dirty="0">
                    <a:solidFill>
                      <a:srgbClr val="0359A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‘optimization problem’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the amount of work needed to transform image A into image B</a:t>
                </a:r>
                <a:endParaRPr lang="en-US" sz="2800" dirty="0">
                  <a:solidFill>
                    <a:srgbClr val="0359A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EMD similarity = 1 –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</m:t>
                        </m:r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𝐸𝑀𝐷𝑚𝑎𝑥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03E000B-AEA1-3041-C98A-C0B88EEE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89" y="2229492"/>
                <a:ext cx="7096763" cy="4613058"/>
              </a:xfrm>
              <a:prstGeom prst="rect">
                <a:avLst/>
              </a:prstGeom>
              <a:blipFill>
                <a:blip r:embed="rId3"/>
                <a:stretch>
                  <a:fillRect l="-2577" t="-2249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C2D5A0F5-9427-AD42-51D6-C1762DDB269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Future Plan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612D90-8837-91D5-09AA-DA25C5149752}"/>
              </a:ext>
            </a:extLst>
          </p:cNvPr>
          <p:cNvGrpSpPr/>
          <p:nvPr/>
        </p:nvGrpSpPr>
        <p:grpSpPr>
          <a:xfrm>
            <a:off x="7890552" y="1528715"/>
            <a:ext cx="6179643" cy="5035816"/>
            <a:chOff x="7890552" y="1528715"/>
            <a:chExt cx="6179643" cy="503581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0745739-45BA-2B10-1F9A-EE6B74D8A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90552" y="1528715"/>
              <a:ext cx="6179643" cy="420245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FFB-C91C-A4FC-CA05-8E1E55691CCD}"/>
                </a:ext>
              </a:extLst>
            </p:cNvPr>
            <p:cNvSpPr txBox="1"/>
            <p:nvPr/>
          </p:nvSpPr>
          <p:spPr>
            <a:xfrm>
              <a:off x="8864600" y="5918200"/>
              <a:ext cx="4419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How Earth Mover’s Distance help finding similarities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94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B3DF-C54F-BBEF-DE12-287769578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C73124-91A7-A8D4-6C69-4EFC39097FB6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07C75-7403-298A-BADA-CFB5B27DB46C}"/>
              </a:ext>
            </a:extLst>
          </p:cNvPr>
          <p:cNvSpPr txBox="1"/>
          <p:nvPr/>
        </p:nvSpPr>
        <p:spPr>
          <a:xfrm>
            <a:off x="793789" y="2229492"/>
            <a:ext cx="70967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user-friendly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based pairwise similarity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pair similarity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Jaccard distance-based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Bilinear interpolation to resize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kernel to generate blur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Transformation (DCT) to generate perceptual hash-based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48524B-F355-FE6C-9349-466CAFA101E9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Features Implemented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143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040C-09D0-D87C-8320-B4B079C3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E192044-E9A4-F0BA-DA9D-D8284782347D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3C019-589F-C807-5704-33CB524D4CF2}"/>
              </a:ext>
            </a:extLst>
          </p:cNvPr>
          <p:cNvSpPr txBox="1"/>
          <p:nvPr/>
        </p:nvSpPr>
        <p:spPr>
          <a:xfrm>
            <a:off x="793789" y="2229492"/>
            <a:ext cx="709676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359A6"/>
                </a:solidFill>
              </a:rPr>
              <a:t>Jaccard Similarity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9A46"/>
                </a:solidFill>
              </a:rPr>
              <a:t>Grayscale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9A46"/>
                </a:solidFill>
              </a:rPr>
              <a:t>Comparing and computing similarity</a:t>
            </a:r>
          </a:p>
          <a:p>
            <a:r>
              <a:rPr lang="en-US" sz="2800" dirty="0">
                <a:solidFill>
                  <a:srgbClr val="0359A6"/>
                </a:solidFill>
              </a:rPr>
              <a:t>Perceptual Hash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9A46"/>
                </a:solidFill>
              </a:rPr>
              <a:t>Image resizing using </a:t>
            </a:r>
            <a:r>
              <a:rPr lang="en-US" sz="2800" i="1" dirty="0">
                <a:solidFill>
                  <a:srgbClr val="009A46"/>
                </a:solidFill>
              </a:rPr>
              <a:t>‘Bilinear Interpolation’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009A46"/>
                </a:solidFill>
              </a:rPr>
              <a:t>pHash</a:t>
            </a:r>
            <a:r>
              <a:rPr lang="en-US" sz="2800" dirty="0">
                <a:solidFill>
                  <a:srgbClr val="009A46"/>
                </a:solidFill>
              </a:rPr>
              <a:t> similarity using </a:t>
            </a:r>
            <a:r>
              <a:rPr lang="en-US" sz="2800" i="1" dirty="0">
                <a:solidFill>
                  <a:srgbClr val="009A46"/>
                </a:solidFill>
              </a:rPr>
              <a:t>‘Discrete Cosine Transformation (DCT)’</a:t>
            </a:r>
          </a:p>
          <a:p>
            <a:r>
              <a:rPr lang="en-US" sz="2800" dirty="0">
                <a:solidFill>
                  <a:srgbClr val="0359A6"/>
                </a:solidFill>
              </a:rPr>
              <a:t>EMD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9A46"/>
                </a:solidFill>
              </a:rPr>
              <a:t>Gaussian blur image generation using </a:t>
            </a:r>
            <a:r>
              <a:rPr lang="en-US" sz="2800" i="1" dirty="0">
                <a:solidFill>
                  <a:srgbClr val="009A46"/>
                </a:solidFill>
              </a:rPr>
              <a:t>‘Gaussian kernel’</a:t>
            </a:r>
            <a:endParaRPr lang="en-US" sz="2800" dirty="0">
              <a:solidFill>
                <a:srgbClr val="009A4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Solving optimization problem to find the solution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D98EA-5EB4-5E21-E041-94A364C66300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 pitchFamily="34" charset="-122"/>
                <a:cs typeface="Times New Roman" panose="02020603050405020304" pitchFamily="18" charset="0"/>
              </a:rPr>
              <a:t>Summary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312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ED3B-5684-0900-9D37-C58EB1F6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3FC6C2CB-9AE4-F4BD-4401-967297B07C5B}"/>
              </a:ext>
            </a:extLst>
          </p:cNvPr>
          <p:cNvGrpSpPr/>
          <p:nvPr/>
        </p:nvGrpSpPr>
        <p:grpSpPr>
          <a:xfrm>
            <a:off x="793791" y="2238783"/>
            <a:ext cx="2508209" cy="2336329"/>
            <a:chOff x="793790" y="3362562"/>
            <a:chExt cx="6244709" cy="3273625"/>
          </a:xfrm>
          <a:noFill/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F8D0CF1B-6D5F-8A97-39AA-4B96891670B2}"/>
                </a:ext>
              </a:extLst>
            </p:cNvPr>
            <p:cNvSpPr/>
            <p:nvPr/>
          </p:nvSpPr>
          <p:spPr>
            <a:xfrm>
              <a:off x="793790" y="3362562"/>
              <a:ext cx="6244709" cy="3273625"/>
            </a:xfrm>
            <a:prstGeom prst="roundRect">
              <a:avLst>
                <a:gd name="adj" fmla="val 10745"/>
              </a:avLst>
            </a:prstGeom>
            <a:grpFill/>
            <a:ln w="30480">
              <a:solidFill>
                <a:srgbClr val="0359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F3CE6AD1-680D-CB63-0040-E806B5EBC6EF}"/>
                </a:ext>
              </a:extLst>
            </p:cNvPr>
            <p:cNvSpPr/>
            <p:nvPr/>
          </p:nvSpPr>
          <p:spPr>
            <a:xfrm>
              <a:off x="1120634" y="4489674"/>
              <a:ext cx="5591016" cy="1673314"/>
            </a:xfrm>
            <a:prstGeom prst="rect">
              <a:avLst/>
            </a:prstGeom>
            <a:grpFill/>
            <a:ln>
              <a:noFill/>
            </a:ln>
          </p:spPr>
          <p:txBody>
            <a:bodyPr wrap="none" lIns="0" tIns="0" rIns="0" bIns="0" rtlCol="0" anchor="t"/>
            <a:lstStyle/>
            <a:p>
              <a:pPr algn="ctr">
                <a:lnSpc>
                  <a:spcPts val="2900"/>
                </a:lnSpc>
              </a:pPr>
              <a:r>
                <a:rPr lang="en-US" sz="3200" b="1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Input Images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(Under the </a:t>
              </a:r>
            </a:p>
            <a:p>
              <a:pPr algn="ctr">
                <a:lnSpc>
                  <a:spcPts val="2900"/>
                </a:lnSpc>
              </a:pPr>
              <a:r>
                <a:rPr lang="en-US" sz="20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rPr>
                <a:t>assumptions)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669B9-38E0-83A4-9127-2E5190AFD105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12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4D5889D-BF52-D79F-3389-8779F889B099}"/>
              </a:ext>
            </a:extLst>
          </p:cNvPr>
          <p:cNvGrpSpPr/>
          <p:nvPr/>
        </p:nvGrpSpPr>
        <p:grpSpPr>
          <a:xfrm>
            <a:off x="3302000" y="2257452"/>
            <a:ext cx="3511536" cy="2321026"/>
            <a:chOff x="3302000" y="2257452"/>
            <a:chExt cx="3511536" cy="2321026"/>
          </a:xfrm>
          <a:noFill/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13BF41-B2E8-A08A-E352-A4084114872A}"/>
                </a:ext>
              </a:extLst>
            </p:cNvPr>
            <p:cNvGrpSpPr/>
            <p:nvPr/>
          </p:nvGrpSpPr>
          <p:grpSpPr>
            <a:xfrm>
              <a:off x="4305327" y="2257452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7" name="Shape 2">
                <a:extLst>
                  <a:ext uri="{FF2B5EF4-FFF2-40B4-BE49-F238E27FC236}">
                    <a16:creationId xmlns:a16="http://schemas.microsoft.com/office/drawing/2014/main" id="{1C39575B-7EFE-664B-E7CA-331D8A12BD21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 3">
                <a:extLst>
                  <a:ext uri="{FF2B5EF4-FFF2-40B4-BE49-F238E27FC236}">
                    <a16:creationId xmlns:a16="http://schemas.microsoft.com/office/drawing/2014/main" id="{9BBE76F4-987B-54E3-A2F6-B7C90A4FE648}"/>
                  </a:ext>
                </a:extLst>
              </p:cNvPr>
              <p:cNvSpPr/>
              <p:nvPr/>
            </p:nvSpPr>
            <p:spPr>
              <a:xfrm>
                <a:off x="1120636" y="4497810"/>
                <a:ext cx="5591016" cy="1659049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Normalization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(Padding and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scaling)</a:t>
                </a:r>
              </a:p>
              <a:p>
                <a:pPr algn="ctr">
                  <a:lnSpc>
                    <a:spcPts val="2900"/>
                  </a:lnSpc>
                </a:pPr>
                <a:endParaRPr lang="en-US" sz="28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99331D5-3AEA-0DFF-6388-4447445459D3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3302000" y="3406948"/>
              <a:ext cx="1003327" cy="11017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7F34C-D36D-F615-800B-FFE1EDAD6C9E}"/>
              </a:ext>
            </a:extLst>
          </p:cNvPr>
          <p:cNvGrpSpPr/>
          <p:nvPr/>
        </p:nvGrpSpPr>
        <p:grpSpPr>
          <a:xfrm>
            <a:off x="6813536" y="2260817"/>
            <a:ext cx="3511536" cy="2321026"/>
            <a:chOff x="6813536" y="2260817"/>
            <a:chExt cx="3511536" cy="2321026"/>
          </a:xfrm>
          <a:noFill/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076FF2-49D7-5092-22A3-C3B0C644E8A2}"/>
                </a:ext>
              </a:extLst>
            </p:cNvPr>
            <p:cNvGrpSpPr/>
            <p:nvPr/>
          </p:nvGrpSpPr>
          <p:grpSpPr>
            <a:xfrm>
              <a:off x="7816863" y="22608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12" name="Shape 2">
                <a:extLst>
                  <a:ext uri="{FF2B5EF4-FFF2-40B4-BE49-F238E27FC236}">
                    <a16:creationId xmlns:a16="http://schemas.microsoft.com/office/drawing/2014/main" id="{3B0FAF2C-AEF3-C6A6-B8E1-E374C4531653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 3">
                <a:extLst>
                  <a:ext uri="{FF2B5EF4-FFF2-40B4-BE49-F238E27FC236}">
                    <a16:creationId xmlns:a16="http://schemas.microsoft.com/office/drawing/2014/main" id="{1DBFCDB2-2B5E-B1EB-471E-63883E71228E}"/>
                  </a:ext>
                </a:extLst>
              </p:cNvPr>
              <p:cNvSpPr/>
              <p:nvPr/>
            </p:nvSpPr>
            <p:spPr>
              <a:xfrm>
                <a:off x="1447483" y="4736006"/>
                <a:ext cx="5591016" cy="63204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l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Gray-scaling</a:t>
                </a: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2DE90F9-5B24-430E-000D-A37F37F61D80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>
              <a:off x="6813536" y="3417965"/>
              <a:ext cx="1003327" cy="336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E529DFD-5E7D-A647-34CA-4A68E1DB934F}"/>
              </a:ext>
            </a:extLst>
          </p:cNvPr>
          <p:cNvGrpSpPr/>
          <p:nvPr/>
        </p:nvGrpSpPr>
        <p:grpSpPr>
          <a:xfrm>
            <a:off x="10325072" y="2260817"/>
            <a:ext cx="3511536" cy="2346426"/>
            <a:chOff x="10325072" y="2260817"/>
            <a:chExt cx="3511536" cy="2346426"/>
          </a:xfrm>
          <a:noFill/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2035E25-1E43-CDB0-8C9B-2EB0D996E6FC}"/>
                </a:ext>
              </a:extLst>
            </p:cNvPr>
            <p:cNvGrpSpPr/>
            <p:nvPr/>
          </p:nvGrpSpPr>
          <p:grpSpPr>
            <a:xfrm>
              <a:off x="11328399" y="2260817"/>
              <a:ext cx="2508209" cy="2346426"/>
              <a:chOff x="793790" y="3362562"/>
              <a:chExt cx="6244709" cy="3273625"/>
            </a:xfrm>
            <a:grpFill/>
          </p:grpSpPr>
          <p:sp>
            <p:nvSpPr>
              <p:cNvPr id="16" name="Shape 2">
                <a:extLst>
                  <a:ext uri="{FF2B5EF4-FFF2-40B4-BE49-F238E27FC236}">
                    <a16:creationId xmlns:a16="http://schemas.microsoft.com/office/drawing/2014/main" id="{5565A206-D3D5-1024-1B94-E2FD9F947ABD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3">
                <a:extLst>
                  <a:ext uri="{FF2B5EF4-FFF2-40B4-BE49-F238E27FC236}">
                    <a16:creationId xmlns:a16="http://schemas.microsoft.com/office/drawing/2014/main" id="{20DDD637-0C68-AD1B-C725-804FAA35BC5F}"/>
                  </a:ext>
                </a:extLst>
              </p:cNvPr>
              <p:cNvSpPr/>
              <p:nvPr/>
            </p:nvSpPr>
            <p:spPr>
              <a:xfrm>
                <a:off x="1051084" y="4745449"/>
                <a:ext cx="5591016" cy="63657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28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Gaussian blur</a:t>
                </a:r>
              </a:p>
            </p:txBody>
          </p:sp>
        </p:grp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1FDB2FE-B580-4B50-BC0D-218224732C10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>
              <a:off x="10325072" y="3421330"/>
              <a:ext cx="1003327" cy="12700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FE54186-ABEC-0C97-7C1A-18D648083CB8}"/>
              </a:ext>
            </a:extLst>
          </p:cNvPr>
          <p:cNvGrpSpPr/>
          <p:nvPr/>
        </p:nvGrpSpPr>
        <p:grpSpPr>
          <a:xfrm>
            <a:off x="7816863" y="4607242"/>
            <a:ext cx="4765642" cy="2819401"/>
            <a:chOff x="7816863" y="4607242"/>
            <a:chExt cx="4765642" cy="2819401"/>
          </a:xfrm>
          <a:noFill/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02F9002-77D4-8CAA-F1AB-1D920908348A}"/>
                </a:ext>
              </a:extLst>
            </p:cNvPr>
            <p:cNvGrpSpPr/>
            <p:nvPr/>
          </p:nvGrpSpPr>
          <p:grpSpPr>
            <a:xfrm>
              <a:off x="7816863" y="5105617"/>
              <a:ext cx="2508209" cy="2321026"/>
              <a:chOff x="793790" y="3362562"/>
              <a:chExt cx="6244709" cy="3273625"/>
            </a:xfrm>
            <a:grpFill/>
          </p:grpSpPr>
          <p:sp>
            <p:nvSpPr>
              <p:cNvPr id="28" name="Shape 2">
                <a:extLst>
                  <a:ext uri="{FF2B5EF4-FFF2-40B4-BE49-F238E27FC236}">
                    <a16:creationId xmlns:a16="http://schemas.microsoft.com/office/drawing/2014/main" id="{A31551D1-47D3-BF2D-57C6-C3BEA5D621CF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 3">
                <a:extLst>
                  <a:ext uri="{FF2B5EF4-FFF2-40B4-BE49-F238E27FC236}">
                    <a16:creationId xmlns:a16="http://schemas.microsoft.com/office/drawing/2014/main" id="{BE9DCA81-6FED-65EB-9806-35A7D29011EB}"/>
                  </a:ext>
                </a:extLst>
              </p:cNvPr>
              <p:cNvSpPr/>
              <p:nvPr/>
            </p:nvSpPr>
            <p:spPr>
              <a:xfrm>
                <a:off x="1120634" y="3970882"/>
                <a:ext cx="5591016" cy="228693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Similarity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Algorithms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(Jaccard [1], p-Hash [1],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EMD [2])</a:t>
                </a:r>
              </a:p>
            </p:txBody>
          </p:sp>
        </p:grp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46A28333-5FBF-51DF-7D9E-53A1F00DA865}"/>
                </a:ext>
              </a:extLst>
            </p:cNvPr>
            <p:cNvCxnSpPr>
              <a:cxnSpLocks/>
              <a:stCxn id="16" idx="2"/>
              <a:endCxn id="28" idx="3"/>
            </p:cNvCxnSpPr>
            <p:nvPr/>
          </p:nvCxnSpPr>
          <p:spPr>
            <a:xfrm rot="5400000">
              <a:off x="10624345" y="4307970"/>
              <a:ext cx="1658887" cy="2257432"/>
            </a:xfrm>
            <a:prstGeom prst="bentConnector2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8C95634-4E40-6580-E5C5-D898CD6E9F8E}"/>
              </a:ext>
            </a:extLst>
          </p:cNvPr>
          <p:cNvGrpSpPr/>
          <p:nvPr/>
        </p:nvGrpSpPr>
        <p:grpSpPr>
          <a:xfrm>
            <a:off x="4277390" y="5089820"/>
            <a:ext cx="3539473" cy="2336329"/>
            <a:chOff x="4277390" y="5089820"/>
            <a:chExt cx="3539473" cy="2336329"/>
          </a:xfrm>
          <a:noFill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EC6422D-837D-3336-1625-2C3DBE443BCF}"/>
                </a:ext>
              </a:extLst>
            </p:cNvPr>
            <p:cNvGrpSpPr/>
            <p:nvPr/>
          </p:nvGrpSpPr>
          <p:grpSpPr>
            <a:xfrm>
              <a:off x="4277390" y="5089820"/>
              <a:ext cx="2508209" cy="2336329"/>
              <a:chOff x="793790" y="3362562"/>
              <a:chExt cx="6244709" cy="3273625"/>
            </a:xfrm>
            <a:grpFill/>
          </p:grpSpPr>
          <p:sp>
            <p:nvSpPr>
              <p:cNvPr id="34" name="Shape 2">
                <a:extLst>
                  <a:ext uri="{FF2B5EF4-FFF2-40B4-BE49-F238E27FC236}">
                    <a16:creationId xmlns:a16="http://schemas.microsoft.com/office/drawing/2014/main" id="{3B5F34BF-8B34-DADC-2829-F1B7AA33DDC2}"/>
                  </a:ext>
                </a:extLst>
              </p:cNvPr>
              <p:cNvSpPr/>
              <p:nvPr/>
            </p:nvSpPr>
            <p:spPr>
              <a:xfrm>
                <a:off x="793790" y="3362562"/>
                <a:ext cx="6244709" cy="3273625"/>
              </a:xfrm>
              <a:prstGeom prst="roundRect">
                <a:avLst>
                  <a:gd name="adj" fmla="val 10745"/>
                </a:avLst>
              </a:prstGeom>
              <a:grpFill/>
              <a:ln w="30480">
                <a:solidFill>
                  <a:srgbClr val="0359A6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 3">
                <a:extLst>
                  <a:ext uri="{FF2B5EF4-FFF2-40B4-BE49-F238E27FC236}">
                    <a16:creationId xmlns:a16="http://schemas.microsoft.com/office/drawing/2014/main" id="{9F7EA1B1-A03E-5328-D73A-55D30B1EF8AE}"/>
                  </a:ext>
                </a:extLst>
              </p:cNvPr>
              <p:cNvSpPr/>
              <p:nvPr/>
            </p:nvSpPr>
            <p:spPr>
              <a:xfrm>
                <a:off x="1120634" y="4042888"/>
                <a:ext cx="5591016" cy="225176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Output 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3200" b="1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CSV files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(With similarity</a:t>
                </a:r>
              </a:p>
              <a:p>
                <a:pPr algn="ctr">
                  <a:lnSpc>
                    <a:spcPts val="29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ea typeface="Inter" panose="020B0604020202020204" charset="0"/>
                    <a:cs typeface="Times New Roman" panose="02020603050405020304" pitchFamily="18" charset="0"/>
                  </a:rPr>
                  <a:t>Scores of files)</a:t>
                </a:r>
                <a:endParaRPr lang="en-US" sz="3200" dirty="0">
                  <a:latin typeface="Times New Roman" panose="02020603050405020304" pitchFamily="18" charset="0"/>
                  <a:ea typeface="Inter" panose="020B060402020202020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F4B7015-07BB-0955-006C-AC5CF31C1A39}"/>
                </a:ext>
              </a:extLst>
            </p:cNvPr>
            <p:cNvCxnSpPr>
              <a:cxnSpLocks/>
              <a:stCxn id="28" idx="1"/>
              <a:endCxn id="34" idx="3"/>
            </p:cNvCxnSpPr>
            <p:nvPr/>
          </p:nvCxnSpPr>
          <p:spPr>
            <a:xfrm flipH="1" flipV="1">
              <a:off x="6785599" y="6257985"/>
              <a:ext cx="1031264" cy="8145"/>
            </a:xfrm>
            <a:prstGeom prst="straightConnector1">
              <a:avLst/>
            </a:prstGeom>
            <a:grpFill/>
            <a:ln>
              <a:solidFill>
                <a:srgbClr val="0359A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AF65166-26A4-F28B-6835-B01DA7452C24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Work Flow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1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48A8-C67D-9902-3B24-CF58BB36D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B84B124-1AFE-023C-AA92-0B2E92D687ED}"/>
              </a:ext>
            </a:extLst>
          </p:cNvPr>
          <p:cNvSpPr/>
          <p:nvPr/>
        </p:nvSpPr>
        <p:spPr>
          <a:xfrm>
            <a:off x="1278890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38F353-33EB-5B9C-BD5E-CEF881463942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83E24B-1392-CACA-741E-E4D175450BF8}"/>
              </a:ext>
            </a:extLst>
          </p:cNvPr>
          <p:cNvGrpSpPr/>
          <p:nvPr/>
        </p:nvGrpSpPr>
        <p:grpSpPr>
          <a:xfrm>
            <a:off x="782174" y="1717355"/>
            <a:ext cx="2234785" cy="5741048"/>
            <a:chOff x="782174" y="1717355"/>
            <a:chExt cx="2234785" cy="574104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B411EF-7361-DCFE-955D-44724CC3A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174" y="1717355"/>
              <a:ext cx="2234785" cy="522804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B4A180-FA1F-0AD3-6B29-5CDE7250471A}"/>
                </a:ext>
              </a:extLst>
            </p:cNvPr>
            <p:cNvSpPr txBox="1"/>
            <p:nvPr/>
          </p:nvSpPr>
          <p:spPr>
            <a:xfrm>
              <a:off x="905436" y="7089071"/>
              <a:ext cx="1988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Directory Structure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94E1DC5-AE45-C050-19D0-5041836F5C50}"/>
              </a:ext>
            </a:extLst>
          </p:cNvPr>
          <p:cNvGrpSpPr/>
          <p:nvPr/>
        </p:nvGrpSpPr>
        <p:grpSpPr>
          <a:xfrm>
            <a:off x="6915150" y="2234923"/>
            <a:ext cx="6553200" cy="5777478"/>
            <a:chOff x="6915150" y="2234923"/>
            <a:chExt cx="6553200" cy="577747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A73F088-B37A-4D9A-1B16-C67C61B56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5150" y="2234923"/>
              <a:ext cx="6553200" cy="481012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82BDDFB-D7C8-6D8E-701E-4F0C05ED550A}"/>
                </a:ext>
              </a:extLst>
            </p:cNvPr>
            <p:cNvSpPr txBox="1"/>
            <p:nvPr/>
          </p:nvSpPr>
          <p:spPr>
            <a:xfrm>
              <a:off x="9135035" y="7089071"/>
              <a:ext cx="19882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Similarity of a pair of code image screenshots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4554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46090-04B4-EAE7-5866-C6AB5840B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4C46D53-DEF5-12FA-83B7-2A4D23E2826D}"/>
              </a:ext>
            </a:extLst>
          </p:cNvPr>
          <p:cNvSpPr/>
          <p:nvPr/>
        </p:nvSpPr>
        <p:spPr>
          <a:xfrm>
            <a:off x="1280033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6C14AF-FD5C-FE8D-D403-45F10F3ACDBA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Project Screenshots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CFD64DB-DD26-97D0-F858-3F63501AD77C}"/>
              </a:ext>
            </a:extLst>
          </p:cNvPr>
          <p:cNvGrpSpPr/>
          <p:nvPr/>
        </p:nvGrpSpPr>
        <p:grpSpPr>
          <a:xfrm>
            <a:off x="248602" y="2748380"/>
            <a:ext cx="5857875" cy="4041011"/>
            <a:chOff x="248602" y="2748380"/>
            <a:chExt cx="5857875" cy="404101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B10517-A675-A78A-4137-01165BF5C8B9}"/>
                </a:ext>
              </a:extLst>
            </p:cNvPr>
            <p:cNvSpPr txBox="1"/>
            <p:nvPr/>
          </p:nvSpPr>
          <p:spPr>
            <a:xfrm>
              <a:off x="1854126" y="5866061"/>
              <a:ext cx="19882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Directory based similarity generation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20A46E-E4AB-63F0-C9EC-6C4F14F59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02" y="2748380"/>
              <a:ext cx="5857875" cy="2981325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D6C6E2-7C66-9E8B-E119-03F01900ABF6}"/>
              </a:ext>
            </a:extLst>
          </p:cNvPr>
          <p:cNvGrpSpPr/>
          <p:nvPr/>
        </p:nvGrpSpPr>
        <p:grpSpPr>
          <a:xfrm>
            <a:off x="6295231" y="1408332"/>
            <a:ext cx="3914775" cy="6312009"/>
            <a:chOff x="6295231" y="1408332"/>
            <a:chExt cx="3914775" cy="631200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8F59DC6-3C47-2265-BE24-ABA07057525C}"/>
                </a:ext>
              </a:extLst>
            </p:cNvPr>
            <p:cNvSpPr txBox="1"/>
            <p:nvPr/>
          </p:nvSpPr>
          <p:spPr>
            <a:xfrm>
              <a:off x="7281192" y="6797011"/>
              <a:ext cx="19882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Directory based similarity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 2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A0702FD-9F65-9156-5D5B-4841CCB24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95231" y="1408332"/>
              <a:ext cx="3914775" cy="5343525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616CC92-9D33-F781-129B-BF5CE4FDD46C}"/>
              </a:ext>
            </a:extLst>
          </p:cNvPr>
          <p:cNvGrpSpPr/>
          <p:nvPr/>
        </p:nvGrpSpPr>
        <p:grpSpPr>
          <a:xfrm>
            <a:off x="10398760" y="2718570"/>
            <a:ext cx="4000500" cy="2284854"/>
            <a:chOff x="10398760" y="2718570"/>
            <a:chExt cx="4000500" cy="228485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A8FECD-B1D0-6130-4309-9B7C0A85E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98760" y="2718570"/>
              <a:ext cx="4000500" cy="122872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B355FF-BA78-37A6-207D-DF01FA92ABBD}"/>
                </a:ext>
              </a:extLst>
            </p:cNvPr>
            <p:cNvSpPr txBox="1"/>
            <p:nvPr/>
          </p:nvSpPr>
          <p:spPr>
            <a:xfrm>
              <a:off x="11404880" y="4080094"/>
              <a:ext cx="19882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Directory based similarity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generation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2901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B506-7E09-DE2A-1A17-A93D7BA1E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2D4BBE-8777-B303-9F17-BF76C8C0826B}"/>
              </a:ext>
            </a:extLst>
          </p:cNvPr>
          <p:cNvSpPr/>
          <p:nvPr/>
        </p:nvSpPr>
        <p:spPr>
          <a:xfrm>
            <a:off x="1280033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586A46-38C4-2910-30A4-C2D2B54D5E9E}"/>
              </a:ext>
            </a:extLst>
          </p:cNvPr>
          <p:cNvSpPr/>
          <p:nvPr/>
        </p:nvSpPr>
        <p:spPr>
          <a:xfrm>
            <a:off x="782174" y="54006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Reference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FDD57-27CA-1D65-2B0D-65F9A7080CF6}"/>
              </a:ext>
            </a:extLst>
          </p:cNvPr>
          <p:cNvSpPr txBox="1"/>
          <p:nvPr/>
        </p:nvSpPr>
        <p:spPr>
          <a:xfrm>
            <a:off x="822960" y="1783080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Y. Wang and D. Liu, “Image-Based Clone Code Detection and Visualization,” 978-1-7281-4691-1/19/$31.00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©2019 IEEE DOI 10.1109/AIAM48774.2019.00041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168–175, Oct. 2019,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10.1109/aiam48774.2019.00041.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10A8C-4950-F317-7126-307027D5CF0F}"/>
              </a:ext>
            </a:extLst>
          </p:cNvPr>
          <p:cNvSpPr txBox="1"/>
          <p:nvPr/>
        </p:nvSpPr>
        <p:spPr>
          <a:xfrm>
            <a:off x="822960" y="3084104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Ragkhitwetsagul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Krinke, and B. Marnette, “A picture is worth a thousand words: Code clone detection based on image similarity,”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978-1-5386-6430-8/18 © 2018 IEEE IWSC 2018, Campobasso, Italy. Accepted 10.1109/iwsc.2018.8327318. Accepted 10.1109/iwsc.2018.8327318. for Publication by IEEE,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Mar. 2018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77A80C-755D-C417-1BEF-079C967FDDCA}"/>
              </a:ext>
            </a:extLst>
          </p:cNvPr>
          <p:cNvSpPr txBox="1"/>
          <p:nvPr/>
        </p:nvSpPr>
        <p:spPr>
          <a:xfrm>
            <a:off x="782174" y="4661441"/>
            <a:ext cx="882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https://solarianprogrammer.com/2018/11/19/cpp-reading-writing-bmp-images/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AE46F-C7D5-7EDC-CE2E-D122BAC7FEBF}"/>
              </a:ext>
            </a:extLst>
          </p:cNvPr>
          <p:cNvSpPr txBox="1"/>
          <p:nvPr/>
        </p:nvSpPr>
        <p:spPr>
          <a:xfrm>
            <a:off x="782174" y="5413164"/>
            <a:ext cx="882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https://www.geeksforgeeks.org/dsa/discrete-cosine-transform-algorithm-program/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525BB-007D-07B3-2DC8-A3BC65BE7CFB}"/>
              </a:ext>
            </a:extLst>
          </p:cNvPr>
          <p:cNvSpPr txBox="1"/>
          <p:nvPr/>
        </p:nvSpPr>
        <p:spPr>
          <a:xfrm>
            <a:off x="782174" y="6164887"/>
            <a:ext cx="882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https://www.geeksforgeeks.org/maths/what-is-bilinear-interpolation/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085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3" grpId="0"/>
      <p:bldP spid="7" grpId="0"/>
      <p:bldP spid="8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B7FA-A49A-9CE3-9D14-9AD6658D8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2ED9A08-1E6C-06AD-2E88-9DE880EFB03B}"/>
              </a:ext>
            </a:extLst>
          </p:cNvPr>
          <p:cNvSpPr/>
          <p:nvPr/>
        </p:nvSpPr>
        <p:spPr>
          <a:xfrm>
            <a:off x="1280033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16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1E0FF5-08D4-A0A4-A9D3-23A5C8681B24}"/>
              </a:ext>
            </a:extLst>
          </p:cNvPr>
          <p:cNvGrpSpPr/>
          <p:nvPr/>
        </p:nvGrpSpPr>
        <p:grpSpPr>
          <a:xfrm>
            <a:off x="782174" y="3326628"/>
            <a:ext cx="13066052" cy="1576345"/>
            <a:chOff x="782174" y="1792945"/>
            <a:chExt cx="13066052" cy="157634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EC395B-3F6A-098E-B437-46234A572CB4}"/>
                </a:ext>
              </a:extLst>
            </p:cNvPr>
            <p:cNvSpPr/>
            <p:nvPr/>
          </p:nvSpPr>
          <p:spPr>
            <a:xfrm>
              <a:off x="782174" y="1792945"/>
              <a:ext cx="13066052" cy="84895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>
                <a:lnSpc>
                  <a:spcPts val="5850"/>
                </a:lnSpc>
              </a:pPr>
              <a:r>
                <a:rPr lang="en-US" sz="5400" b="1" dirty="0" err="1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Github</a:t>
              </a:r>
              <a:r>
                <a:rPr lang="en-US" sz="5400" b="1" dirty="0">
                  <a:solidFill>
                    <a:srgbClr val="0359A6"/>
                  </a:solidFill>
                  <a:latin typeface="Times New Roman" panose="02020603050405020304" pitchFamily="18" charset="0"/>
                  <a:ea typeface="Petrona Bold"/>
                  <a:cs typeface="Times New Roman" panose="02020603050405020304" pitchFamily="18" charset="0"/>
                </a:rPr>
                <a:t> Repository Link</a:t>
              </a:r>
              <a:endParaRPr lang="en-US" sz="5400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A37AAB-F300-8494-C7FC-C74255241143}"/>
                </a:ext>
              </a:extLst>
            </p:cNvPr>
            <p:cNvSpPr txBox="1"/>
            <p:nvPr/>
          </p:nvSpPr>
          <p:spPr>
            <a:xfrm>
              <a:off x="2903220" y="2846070"/>
              <a:ext cx="8823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https://github.com/tawratnibir/SPL-1-ImCloneDetect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10145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148-3F84-0DEC-2193-EDEF13D2D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060EC89-CE8A-CC69-01BF-80E8B2584CDC}"/>
              </a:ext>
            </a:extLst>
          </p:cNvPr>
          <p:cNvSpPr/>
          <p:nvPr/>
        </p:nvSpPr>
        <p:spPr>
          <a:xfrm>
            <a:off x="12800330" y="7734300"/>
            <a:ext cx="1828800" cy="46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E7E609-8136-525C-D066-60E5076625F3}"/>
              </a:ext>
            </a:extLst>
          </p:cNvPr>
          <p:cNvSpPr/>
          <p:nvPr/>
        </p:nvSpPr>
        <p:spPr>
          <a:xfrm>
            <a:off x="782174" y="3690325"/>
            <a:ext cx="13066052" cy="8489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5400" b="1" dirty="0">
                <a:solidFill>
                  <a:srgbClr val="0359A6"/>
                </a:solidFill>
                <a:latin typeface="Times New Roman" panose="02020603050405020304" pitchFamily="18" charset="0"/>
                <a:ea typeface="Petrona Bold"/>
                <a:cs typeface="Times New Roman" panose="02020603050405020304" pitchFamily="18" charset="0"/>
              </a:rPr>
              <a:t>Thank you</a:t>
            </a:r>
            <a:endParaRPr lang="en-US" sz="5400" dirty="0">
              <a:solidFill>
                <a:srgbClr val="0359A6"/>
              </a:solidFill>
              <a:latin typeface="Times New Roman" panose="02020603050405020304" pitchFamily="18" charset="0"/>
              <a:ea typeface="Petrona Bold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06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</TotalTime>
  <Words>828</Words>
  <Application>Microsoft Office PowerPoint</Application>
  <PresentationFormat>Custom</PresentationFormat>
  <Paragraphs>169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Inter</vt:lpstr>
      <vt:lpstr>Cambria Math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Tawrat Nibir</dc:creator>
  <cp:lastModifiedBy>Tawrat Nibir</cp:lastModifiedBy>
  <cp:revision>9</cp:revision>
  <dcterms:created xsi:type="dcterms:W3CDTF">2025-11-12T09:07:04Z</dcterms:created>
  <dcterms:modified xsi:type="dcterms:W3CDTF">2026-01-14T21:23:24Z</dcterms:modified>
</cp:coreProperties>
</file>