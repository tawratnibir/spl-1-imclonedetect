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55" r:id="rId1"/>
  </p:sldMasterIdLst>
  <p:notesMasterIdLst>
    <p:notesMasterId r:id="rId24"/>
  </p:notesMasterIdLst>
  <p:handoutMasterIdLst>
    <p:handoutMasterId r:id="rId25"/>
  </p:handoutMasterIdLst>
  <p:sldIdLst>
    <p:sldId id="273" r:id="rId2"/>
    <p:sldId id="287" r:id="rId3"/>
    <p:sldId id="258" r:id="rId4"/>
    <p:sldId id="262" r:id="rId5"/>
    <p:sldId id="268" r:id="rId6"/>
    <p:sldId id="269" r:id="rId7"/>
    <p:sldId id="270" r:id="rId8"/>
    <p:sldId id="271" r:id="rId9"/>
    <p:sldId id="272" r:id="rId10"/>
    <p:sldId id="284" r:id="rId11"/>
    <p:sldId id="288" r:id="rId12"/>
    <p:sldId id="276" r:id="rId13"/>
    <p:sldId id="264" r:id="rId14"/>
    <p:sldId id="277" r:id="rId15"/>
    <p:sldId id="278" r:id="rId16"/>
    <p:sldId id="282" r:id="rId17"/>
    <p:sldId id="283" r:id="rId18"/>
    <p:sldId id="285" r:id="rId19"/>
    <p:sldId id="280" r:id="rId20"/>
    <p:sldId id="286" r:id="rId21"/>
    <p:sldId id="279" r:id="rId22"/>
    <p:sldId id="281" r:id="rId23"/>
  </p:sldIdLst>
  <p:sldSz cx="14630400" cy="8229600"/>
  <p:notesSz cx="8229600" cy="14630400"/>
  <p:embeddedFontLst>
    <p:embeddedFont>
      <p:font typeface="Cambria Math" panose="02040503050406030204" pitchFamily="18" charset="0"/>
      <p:regular r:id="rId26"/>
    </p:embeddedFont>
    <p:embeddedFont>
      <p:font typeface="Inter" panose="020B0604020202020204" charset="0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359A6"/>
    <a:srgbClr val="DF89FF"/>
    <a:srgbClr val="00C4FF"/>
    <a:srgbClr val="FF5584"/>
    <a:srgbClr val="009A46"/>
    <a:srgbClr val="1255A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781" autoAdjust="0"/>
    <p:restoredTop sz="90876" autoAdjust="0"/>
  </p:normalViewPr>
  <p:slideViewPr>
    <p:cSldViewPr snapToGrid="0" snapToObjects="1">
      <p:cViewPr varScale="1">
        <p:scale>
          <a:sx n="56" d="100"/>
          <a:sy n="56" d="100"/>
        </p:scale>
        <p:origin x="76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B1EE49D-037B-6D43-2105-CE7C88F5A23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565525" cy="733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2EF01F-74CD-F8D4-5A87-7B72FD4B1D2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660900" y="0"/>
            <a:ext cx="3567113" cy="733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8CF5F6-8DBA-4A51-81AC-CB108D3CD83E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9EB44C-A5ED-4367-F477-4067DE5FD64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3896975"/>
            <a:ext cx="3565525" cy="733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EF394F-3F54-3ADC-BBBE-78BED0F93F8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660900" y="13896975"/>
            <a:ext cx="3567113" cy="733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03D69D-1615-4E70-BAEA-D863C8DA3E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88420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18839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F2240E-992D-80A4-EF6D-8C4BC9A4ED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B7FA8B-7EC9-F847-87AE-B3DEF2B71E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6D3A7F-D8F7-74B4-94FA-6461A505BA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E34DD5-F799-8002-C2BB-40F50DEFA62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9878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8DDA1-2E67-C996-6339-191F5BABDA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C52738-1727-3939-8806-DD525E75F6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EAFFBE-6C1B-C223-DDFC-169137F8C1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C396E0-C89F-5640-F94B-ED40CAEA45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5455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C08E7F-319B-7048-0EC6-4274C8BA9D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3912FA-2F61-D1A6-ABF2-30D094F884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A1BC21-C85C-EDF3-9921-9E1445E35D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4DDFC9-D7EA-831C-B6FF-118EAA08085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1989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23AFD4-5618-ECC9-82E1-4FE62D040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8C487B-79BE-42EA-6D0A-D448F2DE78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C20667-D226-AF53-508D-E203DF97A7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D3CC72-0DB4-D562-9D2E-ECB0C23D6D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8147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240F6A-F064-C78B-D79C-3CC829CEFE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A37C67-FB4C-192D-77A7-F3D30967BE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B0DA85-98A2-0BA5-0354-43EFD4B417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741720-66B5-9545-5D66-B45CCAC43A7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2625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35CA7D-A63E-1A91-85DA-0537DB681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A62B8B-258B-308B-B5D1-B45B70BD5B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04C7A4-795C-2573-2C1A-5938AC8042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153B09-7CA8-275D-77B0-36593978C4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0996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BB4081-FA3F-D1AC-2163-50D2F2F7FA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D53C64-91B9-734D-9C9E-87847A1AD1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6E3D60-FAD0-2CA7-57E8-1427B330D2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47F450-0E28-2D86-53D0-8C5C5216840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9919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66BF51-F95D-E0C2-1666-82114064E4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8A55CF-FC73-7423-F3E4-C677399F62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E3A06A-F52A-7FE7-DAE9-6621A56DE0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A0CA77-4341-7838-0921-700211BD8E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7671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DCDE69-320E-DD43-4C23-47C7A9B83F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A3712B-A4F0-F3E2-EF83-002787611C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B9BED5-E940-6DF2-5DE8-0075490F43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25D1C0-A79C-C82A-7D31-5600BA06D4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1104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E41EE6-7AB8-6BC7-E0EF-C3C54F2A20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1174B9-E3B7-379D-B09F-6565B535D3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9B9AB1-DB63-0BD7-B8B3-0B4C72E543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1BA178-9E96-6EFC-4161-66A3E54616D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48673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FC7731-6712-FD85-C282-900CD7AE3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1D010C-4B89-3FCA-CD7D-A509CD337B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5D277C-4E6B-DEA4-501D-772E3674A8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1E424A-CFB9-E60F-8CB6-49EC4E3A4A1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84676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58AC0C-EE5A-AA92-11B9-BF7C62569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DBFFD6-9CB1-D5EB-4912-EFEC161916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3CE8A4-D95E-81F9-8F3F-C4CB214527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D2B63D-2D33-5704-B0F0-CD736EA6466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87229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C8DA21-0430-1661-1671-590AC05046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C3A222-4272-37CA-0216-922C93887C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AB6112-546B-4068-086F-D57DBB3E1D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589E11-A53C-E1FE-DDA6-44BA77A4FC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38237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CDBCDA-608A-6332-9372-B8CC420051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CE81C1-3BC4-471E-79B0-4C67A14102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99CDF5-16B7-EA07-9654-7417896EE7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8906E5-5F6D-0721-265D-C4F5971FC6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95485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50BFEC-09B6-DD7A-3BB3-3443514CF0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583B93-7F17-B6FC-6051-791FA3E198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E51D4F-15B0-A330-4C73-C57D227BEA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90B306-9A79-4767-5624-C711312337C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51686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1AA661-B2D5-5646-B430-A04A9F4C8C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9A22E9-5324-A0E9-AA9A-8B8A52397A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617723-EE0A-5587-A630-11B18D38E1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D476DD-4C44-AEE3-822A-6AEB10F071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95558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D0C94-BAEF-C184-6436-75343BC617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A71A15-AF54-F910-21AC-ED5EE34802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4F2734-ED30-FEB8-AA84-EBD4168593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02C3EF-9E2B-08E0-AB1B-9910A07288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24683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A11F82-1CAB-1BEE-1A4A-CC1177606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AC1994-C188-17A6-ACCF-2580D42B1E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E7499B-E81E-FB7D-A863-4B748E409F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3B39C4-3321-612A-B299-107C282D20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11540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3F37B4-273C-2672-1ACB-973793E1E5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591657-C5CA-1F65-7B59-FB45C721C3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F1BA8D-5FD8-87AF-8D16-027D946D22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CA7733-C0BD-82E9-D166-4018198387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41588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5BB2A6-203B-97A2-EA90-FCC9D96494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E5F1B8-330A-ED76-043E-8A02051DA9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5F0C53-FB6F-56D4-1969-01ED658A11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00671D-71AB-B4EA-F519-3FB13A9413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12546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A8A655-63DB-BDA5-34D7-612138CFD4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AD5ADF-4292-8D4F-9A25-836FF6AF12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EF2F14-F514-BFB2-CB0E-7239630A08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71EF42-D91B-3328-6FDD-8F60DFBEB6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93873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F8A04E-0297-7F94-49BA-8C32E2B385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8800" y="1346836"/>
            <a:ext cx="10972800" cy="2865120"/>
          </a:xfrm>
        </p:spPr>
        <p:txBody>
          <a:bodyPr anchor="b"/>
          <a:lstStyle>
            <a:lvl1pPr algn="ctr"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DD7C76-F677-76C9-DE8C-49F35D1394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4322446"/>
            <a:ext cx="10972800" cy="1986914"/>
          </a:xfrm>
        </p:spPr>
        <p:txBody>
          <a:bodyPr/>
          <a:lstStyle>
            <a:lvl1pPr marL="0" indent="0" algn="ctr">
              <a:buNone/>
              <a:defRPr sz="288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ACFCC4-25D9-080A-D862-4720DD94D2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3A5B6-C4B6-42D3-B2E8-85D99B8369D9}" type="datetime1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0B51BB-C1C6-6475-0552-671F4D5C5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A95AF0-19F5-4509-72FA-4F47912FA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77167-E697-4EBC-B8EC-2672F922F3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9761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B84B9-CBCE-689F-315C-CC1D511B2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EBBA51-DD0F-5579-B6F6-4A71DA5144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02B8A2-BA6F-A5B0-A708-C8A3BFCDC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AE2EA-26C7-45D7-9E63-3C6C71E3CAFF}" type="datetime1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DF1812-736F-FCAA-DFE8-3B9D44258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9164F9-278A-48CE-0CA7-AD63F68FB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77167-E697-4EBC-B8EC-2672F922F3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73705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76814-08F6-0357-40D5-EFFABABD5E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8220" y="2051686"/>
            <a:ext cx="12618720" cy="3423284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DED91A-E49C-79FF-003B-C70D9CC33A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98220" y="5507356"/>
            <a:ext cx="12618720" cy="1800224"/>
          </a:xfrm>
        </p:spPr>
        <p:txBody>
          <a:bodyPr/>
          <a:lstStyle>
            <a:lvl1pPr marL="0" indent="0">
              <a:buNone/>
              <a:defRPr sz="2880">
                <a:solidFill>
                  <a:schemeClr val="tx1">
                    <a:tint val="82000"/>
                  </a:schemeClr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82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3604F1-8DE5-241D-F201-C12FCB11CC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D03408-05A9-4FD2-B341-CE5AE3F2C4C8}" type="datetime1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1A0807-254A-F628-B52F-A2987A746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48138D-EE3F-3EC5-1B8E-BF4DCF7C6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77167-E697-4EBC-B8EC-2672F922F3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553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B906BA-AF6C-9923-21B3-B518103B4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CC11D2-A450-D082-E11F-770F47BF1C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058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C5DED4-A125-0F0E-977A-B58E09925C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4066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2A81C5-3742-E573-BAE0-CBF573BDA0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C681A-A9DF-48E2-ACE6-69AFB5279B8B}" type="datetime1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CCC66F-BAC3-F6E8-431B-CD6D5BB26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C6C09-AF14-CDDF-FDC7-EE59AD4B0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77167-E697-4EBC-B8EC-2672F922F3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6797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21E2C-0741-98EC-7C3F-9C87801AA7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438150"/>
            <a:ext cx="12618720" cy="159067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5C7618-CA79-0AF6-BDD5-969944CD47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7746" y="2017396"/>
            <a:ext cx="6189344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BF8385-D534-345B-0F9B-F2AEC32A61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07746" y="3006090"/>
            <a:ext cx="6189344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4196CF-365D-5CFF-3AD5-078D3FDBE6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406640" y="2017396"/>
            <a:ext cx="6219826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537170-FD7D-1F5A-48E7-3CDE25FEBA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06640" y="3006090"/>
            <a:ext cx="6219826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8DAAC5-7954-0768-815E-F3328802AC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47BF5-640E-4009-8023-5EE08508FB5E}" type="datetime1">
              <a:rPr lang="en-US" smtClean="0"/>
              <a:t>4/23/2026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F4EE833-F26C-7266-FDAE-78DB750E9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21872C9-BCE5-9316-02D4-CFF20C802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77167-E697-4EBC-B8EC-2672F922F3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1078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99603-BF42-2D51-0076-BB2C5A0C4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C002B4D-F075-A4AE-7812-4C7F2B56D6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37B2A-BD5A-4B7B-8AEA-11E7DD41C6CD}" type="datetime1">
              <a:rPr lang="en-US" smtClean="0"/>
              <a:t>4/23/2026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D75E1A-FE30-31FE-4BE6-752854688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C76FAD-AD6E-9047-D354-B4CFB1971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77167-E697-4EBC-B8EC-2672F922F3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1983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A445DA-C1F6-CC0F-618E-EF147B16F8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78ED1-2076-482B-B6F7-82106926E3F2}" type="datetime1">
              <a:rPr lang="en-US" smtClean="0"/>
              <a:t>4/23/2026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C47ED3C-2519-2517-2D7D-B3F3123A3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A134F1-B1AE-E4AB-BDD0-2E9D867E3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77167-E697-4EBC-B8EC-2672F922F3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853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05A10-9529-A9B2-5815-37E8EBA5F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C20202-BA05-7723-A23A-7F373FEAE0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962FDB-20E2-8B65-EAF7-77B5552E99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9CE17D-7230-4AA2-3197-29C70A677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007D2-8E2A-4A8B-B564-3276AB892361}" type="datetime1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205305-6462-6EC6-D634-CAE60B6992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FB8A14-27CF-D530-9BF3-5B62B7D76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77167-E697-4EBC-B8EC-2672F922F3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3736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45FA4-8CF5-1EE2-E839-01C8FFCFA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7ADE9D-D5C4-A88A-776B-69C6F93614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C3796A-685B-00FC-857B-332F63C518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DA2ABA-5B2E-2CBD-1D6B-8A6FA421C5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BF756-CCF3-4CC0-9D75-24B1F4BB6710}" type="datetime1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12252E-6052-372E-BA57-8B15D1E2E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FB7110-5E29-7780-5C01-6E8208E38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77167-E697-4EBC-B8EC-2672F922F3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2176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1BDFEC-61A8-7666-855B-52A5AF4DC8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CDF150-D9D6-6F77-77D6-452EBE8541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54B0E1-67D6-4EC7-1624-6ABB53C07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283CC-96BD-4C63-8F98-76BEDD0B9132}" type="datetime1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3109E1-A121-7647-DF90-E1D8DB4BDF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19989-FBC1-C43C-A9BC-9A25F28D2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77167-E697-4EBC-B8EC-2672F922F3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056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406DA1-73AB-4394-7490-75B4A63F76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0469880" y="438150"/>
            <a:ext cx="3154680" cy="697420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DE0CD0-65F8-3551-0889-0BF2E2C315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05840" y="438150"/>
            <a:ext cx="9281160" cy="697420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78B025-3782-8BEB-FAB3-59A0D00357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F10A87-CA88-45F5-9F8A-0FD9AA132FFF}" type="datetime1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22C401-D422-4E08-8728-44A8CFE67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D8E04F-BDF6-7BB8-F717-11245313F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77167-E697-4EBC-B8EC-2672F922F3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5768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40C615-F68D-A258-972F-62EDEA3C6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69D2C-85CF-46C6-BEEF-244EE03B5BA4}" type="datetime1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190703-2758-642E-318F-DDF752D5C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BEE635-10A3-223C-F0E9-5F55BA796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77167-E697-4EBC-B8EC-2672F922F3D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1284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2111EE-A360-EA64-31ED-5C2256DCD9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99176-8628-4711-857C-C5C6359EB43C}" type="datetime1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7E51C8-A79C-ACBB-DB0D-B118360CB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25BEDB-7A8C-2D49-B3B6-047758FA3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77167-E697-4EBC-B8EC-2672F922F3D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9028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2C4AEF-39EF-E681-48F1-094559BA0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F566D-4CE4-49D9-A2BB-0F59CE49DB92}" type="datetime1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722601-5520-AA1C-3639-580FD0ED72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FB5038-7E6A-92B4-28A2-C7EBD616B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77167-E697-4EBC-B8EC-2672F922F3D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9827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03FDF90-1AD2-42BA-CBC7-3C9DDAED5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0" y="438150"/>
            <a:ext cx="1261872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1DC731-4584-2B9F-E4B6-34BFFFB4E3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5840" y="2190750"/>
            <a:ext cx="12618720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3C4C09-30A1-2286-CD7E-8578F43E9E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D0D637-20CB-4ADA-8BD2-0FF14C42F103}" type="datetime1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31A258-0E41-A593-0991-D5685FE37F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574D15-B255-ED5A-F5BF-5F3707F7CF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82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D6477167-E697-4EBC-B8EC-2672F922F3D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5765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  <p:sldLayoutId id="2147483662" r:id="rId7"/>
    <p:sldLayoutId id="2147483663" r:id="rId8"/>
    <p:sldLayoutId id="2147483664" r:id="rId9"/>
    <p:sldLayoutId id="2147483665" r:id="rId10"/>
    <p:sldLayoutId id="2147483666" r:id="rId11"/>
    <p:sldLayoutId id="2147483667" r:id="rId12"/>
    <p:sldLayoutId id="2147483668" r:id="rId13"/>
    <p:sldLayoutId id="2147483669" r:id="rId14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/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microsoft.com/office/2007/relationships/hdphoto" Target="../media/hdphoto2.wdp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3.png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7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1.png"/><Relationship Id="rId9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solarianprogrammer.com/2018/11/19/cpp-reading-writing-bmp-images/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4.xml"/><Relationship Id="rId5" Type="http://schemas.openxmlformats.org/officeDocument/2006/relationships/hyperlink" Target="https://www.geeksforgeeks.org/maths/what-is-bilinear-interpolation/" TargetMode="External"/><Relationship Id="rId4" Type="http://schemas.openxmlformats.org/officeDocument/2006/relationships/hyperlink" Target="https://www.geeksforgeeks.org/dsa/discrete-cosine-transform-algorithm-program/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ephi.org/desktop/User_Manual/Import/GEXF_File_Format/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4.xml"/><Relationship Id="rId4" Type="http://schemas.openxmlformats.org/officeDocument/2006/relationships/hyperlink" Target="https://developers.google.com/optimization/introduction/cppopers" TargetMode="Externa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tawratnibir/SPL-1-ImCloneDetect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ED3A49-2C71-3832-50DC-F9035CFF7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>
            <a:extLst>
              <a:ext uri="{FF2B5EF4-FFF2-40B4-BE49-F238E27FC236}">
                <a16:creationId xmlns:a16="http://schemas.microsoft.com/office/drawing/2014/main" id="{E8C88026-506C-8FB7-2F70-82EB6C88996B}"/>
              </a:ext>
            </a:extLst>
          </p:cNvPr>
          <p:cNvSpPr/>
          <p:nvPr/>
        </p:nvSpPr>
        <p:spPr>
          <a:xfrm>
            <a:off x="793790" y="4680466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E449314-AED7-8DD3-F5C9-2E1A09A1F267}"/>
              </a:ext>
            </a:extLst>
          </p:cNvPr>
          <p:cNvGrpSpPr/>
          <p:nvPr/>
        </p:nvGrpSpPr>
        <p:grpSpPr>
          <a:xfrm>
            <a:off x="793789" y="4411028"/>
            <a:ext cx="6089611" cy="2503129"/>
            <a:chOff x="793790" y="3464123"/>
            <a:chExt cx="13042821" cy="961192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15" name="Text 4">
              <a:extLst>
                <a:ext uri="{FF2B5EF4-FFF2-40B4-BE49-F238E27FC236}">
                  <a16:creationId xmlns:a16="http://schemas.microsoft.com/office/drawing/2014/main" id="{513FD92B-C0F6-269C-2AE7-200C364560D3}"/>
                </a:ext>
              </a:extLst>
            </p:cNvPr>
            <p:cNvSpPr/>
            <p:nvPr/>
          </p:nvSpPr>
          <p:spPr>
            <a:xfrm>
              <a:off x="1549836" y="3566968"/>
              <a:ext cx="11530727" cy="75971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endParaRPr lang="en-US" sz="2800" dirty="0"/>
            </a:p>
          </p:txBody>
        </p:sp>
        <p:sp>
          <p:nvSpPr>
            <p:cNvPr id="14" name="Shape 3">
              <a:extLst>
                <a:ext uri="{FF2B5EF4-FFF2-40B4-BE49-F238E27FC236}">
                  <a16:creationId xmlns:a16="http://schemas.microsoft.com/office/drawing/2014/main" id="{FCBEEB0A-FDFF-5FF3-6FB8-2E3A2606AFA6}"/>
                </a:ext>
              </a:extLst>
            </p:cNvPr>
            <p:cNvSpPr/>
            <p:nvPr/>
          </p:nvSpPr>
          <p:spPr>
            <a:xfrm>
              <a:off x="793790" y="3464123"/>
              <a:ext cx="13042821" cy="961192"/>
            </a:xfrm>
            <a:prstGeom prst="roundRect">
              <a:avLst>
                <a:gd name="adj" fmla="val 9911"/>
              </a:avLst>
            </a:prstGeom>
            <a:noFill/>
            <a:ln w="30480">
              <a:solidFill>
                <a:srgbClr val="0359A6"/>
              </a:solidFill>
              <a:prstDash val="solid"/>
            </a:ln>
          </p:spPr>
          <p:txBody>
            <a:bodyPr/>
            <a:lstStyle/>
            <a:p>
              <a:r>
                <a: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Student Details:</a:t>
              </a:r>
            </a:p>
            <a:p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Md. Tawrat Hossen Nibir</a:t>
              </a:r>
            </a:p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Exam Roll: 245421</a:t>
              </a:r>
            </a:p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Institute of Information Technology (IIT)</a:t>
              </a:r>
            </a:p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University of Dhaka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54B978D-441B-FFA3-87CD-B2B000508ED7}"/>
              </a:ext>
            </a:extLst>
          </p:cNvPr>
          <p:cNvGrpSpPr/>
          <p:nvPr/>
        </p:nvGrpSpPr>
        <p:grpSpPr>
          <a:xfrm>
            <a:off x="7746999" y="4411028"/>
            <a:ext cx="6089611" cy="2503129"/>
            <a:chOff x="793790" y="3464123"/>
            <a:chExt cx="13042821" cy="961192"/>
          </a:xfrm>
          <a:noFill/>
        </p:grpSpPr>
        <p:sp>
          <p:nvSpPr>
            <p:cNvPr id="22" name="Text 4">
              <a:extLst>
                <a:ext uri="{FF2B5EF4-FFF2-40B4-BE49-F238E27FC236}">
                  <a16:creationId xmlns:a16="http://schemas.microsoft.com/office/drawing/2014/main" id="{1B882726-1E65-449D-88EB-9AB1F79762ED}"/>
                </a:ext>
              </a:extLst>
            </p:cNvPr>
            <p:cNvSpPr/>
            <p:nvPr/>
          </p:nvSpPr>
          <p:spPr>
            <a:xfrm>
              <a:off x="1549836" y="3566968"/>
              <a:ext cx="11530727" cy="759716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0" tIns="0" rIns="0" bIns="0" rtlCol="0" anchor="t"/>
            <a:lstStyle/>
            <a:p>
              <a:endParaRPr lang="en-US" sz="2800" dirty="0"/>
            </a:p>
          </p:txBody>
        </p:sp>
        <p:sp>
          <p:nvSpPr>
            <p:cNvPr id="21" name="Shape 3">
              <a:extLst>
                <a:ext uri="{FF2B5EF4-FFF2-40B4-BE49-F238E27FC236}">
                  <a16:creationId xmlns:a16="http://schemas.microsoft.com/office/drawing/2014/main" id="{6098820A-E7F3-90B6-4BCA-BB0089217C08}"/>
                </a:ext>
              </a:extLst>
            </p:cNvPr>
            <p:cNvSpPr/>
            <p:nvPr/>
          </p:nvSpPr>
          <p:spPr>
            <a:xfrm>
              <a:off x="793790" y="3464123"/>
              <a:ext cx="13042821" cy="961192"/>
            </a:xfrm>
            <a:prstGeom prst="roundRect">
              <a:avLst>
                <a:gd name="adj" fmla="val 9911"/>
              </a:avLst>
            </a:prstGeom>
            <a:grpFill/>
            <a:ln w="30480">
              <a:solidFill>
                <a:srgbClr val="0359A6"/>
              </a:solidFill>
              <a:prstDash val="solid"/>
            </a:ln>
          </p:spPr>
          <p:txBody>
            <a:bodyPr/>
            <a:lstStyle/>
            <a:p>
              <a:r>
                <a: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Supervisor Details:</a:t>
              </a:r>
            </a:p>
            <a:p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Toukir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Ahammed</a:t>
              </a:r>
            </a:p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Lecturer</a:t>
              </a:r>
            </a:p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Institute of Information Technology (IIT)</a:t>
              </a:r>
            </a:p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University of Dhaka</a:t>
              </a:r>
            </a:p>
          </p:txBody>
        </p:sp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EADB0A5A-72FD-84F1-A29D-CC5420DF8878}"/>
              </a:ext>
            </a:extLst>
          </p:cNvPr>
          <p:cNvSpPr/>
          <p:nvPr/>
        </p:nvSpPr>
        <p:spPr>
          <a:xfrm>
            <a:off x="592523" y="478908"/>
            <a:ext cx="13150716" cy="84895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>
              <a:lnSpc>
                <a:spcPts val="5850"/>
              </a:lnSpc>
            </a:pPr>
            <a:r>
              <a:rPr lang="en-US" sz="5400" b="1" dirty="0">
                <a:solidFill>
                  <a:srgbClr val="0359A6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Software Project Lab – 1 Final Presentation</a:t>
            </a:r>
            <a:endParaRPr lang="en-US" sz="5400" b="1" dirty="0">
              <a:solidFill>
                <a:srgbClr val="0359A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8DA5BC5-6E24-04F2-FFBE-14430220C5F9}"/>
              </a:ext>
            </a:extLst>
          </p:cNvPr>
          <p:cNvSpPr/>
          <p:nvPr/>
        </p:nvSpPr>
        <p:spPr>
          <a:xfrm>
            <a:off x="594400" y="2226314"/>
            <a:ext cx="13546272" cy="54117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3600" dirty="0">
                <a:solidFill>
                  <a:srgbClr val="0359A6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Project Title: </a:t>
            </a:r>
            <a:r>
              <a:rPr lang="en-US" sz="3600" dirty="0" err="1">
                <a:solidFill>
                  <a:srgbClr val="0359A6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ImCloneDetect</a:t>
            </a:r>
            <a:r>
              <a:rPr lang="en-US" sz="3600" dirty="0">
                <a:solidFill>
                  <a:srgbClr val="0359A6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 (Image-Based Code Clone Detection Tool)</a:t>
            </a:r>
            <a:endParaRPr lang="en-US" sz="3600" dirty="0">
              <a:solidFill>
                <a:srgbClr val="0359A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378B41A-3BEC-4710-56FF-DC1622FB8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74FD7-B9BA-44CF-B255-BE2048AC0CBB}" type="datetime1">
              <a:rPr lang="en-US" smtClean="0"/>
              <a:t>4/23/2026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599BEC6-97DE-7F53-23E4-1EF3DD36B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77167-E697-4EBC-B8EC-2672F922F3D4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10848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42C76D-3A47-444C-8B28-2485B50539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BBC7743-7A38-0C99-86CD-EC89D8C83736}"/>
              </a:ext>
            </a:extLst>
          </p:cNvPr>
          <p:cNvSpPr/>
          <p:nvPr/>
        </p:nvSpPr>
        <p:spPr>
          <a:xfrm>
            <a:off x="773829" y="328120"/>
            <a:ext cx="9078447" cy="84895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>
              <a:lnSpc>
                <a:spcPts val="5850"/>
              </a:lnSpc>
            </a:pPr>
            <a:r>
              <a:rPr lang="en-US" sz="5400" b="1" dirty="0">
                <a:solidFill>
                  <a:srgbClr val="0359A6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Project Description – “Why?”</a:t>
            </a:r>
            <a:endParaRPr lang="en-US" sz="5400" dirty="0">
              <a:solidFill>
                <a:srgbClr val="0359A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332DD2-54CB-46E7-9080-47B2B0A4B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77986-49C3-4761-8392-D13F3E990A0C}" type="datetime1">
              <a:rPr lang="en-US" smtClean="0"/>
              <a:t>4/23/2026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EE9D753-7AE1-DA76-6663-11DAE7BC6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77167-E697-4EBC-B8EC-2672F922F3D4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DCA282-1FCA-9E2E-47C0-5548540E854E}"/>
              </a:ext>
            </a:extLst>
          </p:cNvPr>
          <p:cNvSpPr txBox="1"/>
          <p:nvPr/>
        </p:nvSpPr>
        <p:spPr>
          <a:xfrm>
            <a:off x="793790" y="1762564"/>
            <a:ext cx="8525308" cy="3939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0359A6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Why Image-Based Clone Detection?</a:t>
            </a:r>
            <a:endParaRPr lang="en-US" dirty="0">
              <a:solidFill>
                <a:srgbClr val="0359A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Language-independent approach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Captures structural similarity visually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Robust to: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800" dirty="0"/>
              <a:t>Variable renaming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800" dirty="0"/>
              <a:t>Formatting changes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Goes beyond traditional text-based detection</a:t>
            </a:r>
          </a:p>
        </p:txBody>
      </p:sp>
    </p:spTree>
    <p:extLst>
      <p:ext uri="{BB962C8B-B14F-4D97-AF65-F5344CB8AC3E}">
        <p14:creationId xmlns:p14="http://schemas.microsoft.com/office/powerpoint/2010/main" val="15028356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88F81AB8-702D-D518-9A00-D84FCC03F092}"/>
              </a:ext>
            </a:extLst>
          </p:cNvPr>
          <p:cNvGrpSpPr/>
          <p:nvPr/>
        </p:nvGrpSpPr>
        <p:grpSpPr>
          <a:xfrm>
            <a:off x="793790" y="1405890"/>
            <a:ext cx="13042821" cy="6071115"/>
            <a:chOff x="793790" y="2919055"/>
            <a:chExt cx="6244709" cy="1839278"/>
          </a:xfrm>
        </p:grpSpPr>
        <p:sp>
          <p:nvSpPr>
            <p:cNvPr id="4" name="Shape 2"/>
            <p:cNvSpPr/>
            <p:nvPr/>
          </p:nvSpPr>
          <p:spPr>
            <a:xfrm>
              <a:off x="793790" y="2919055"/>
              <a:ext cx="6244709" cy="1839278"/>
            </a:xfrm>
            <a:prstGeom prst="roundRect">
              <a:avLst>
                <a:gd name="adj" fmla="val 5180"/>
              </a:avLst>
            </a:prstGeom>
            <a:noFill/>
            <a:ln w="30480">
              <a:solidFill>
                <a:srgbClr val="0359A6"/>
              </a:solidFill>
              <a:prstDash val="solid"/>
            </a:ln>
          </p:spPr>
        </p:sp>
        <p:sp>
          <p:nvSpPr>
            <p:cNvPr id="5" name="Text 3"/>
            <p:cNvSpPr/>
            <p:nvPr/>
          </p:nvSpPr>
          <p:spPr>
            <a:xfrm>
              <a:off x="2427625" y="3029506"/>
              <a:ext cx="2977039" cy="372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2900"/>
                </a:lnSpc>
                <a:buNone/>
              </a:pPr>
              <a:r>
                <a:rPr lang="en-US" sz="3600" b="1" dirty="0">
                  <a:solidFill>
                    <a:srgbClr val="272525"/>
                  </a:solidFill>
                  <a:latin typeface="Times New Roman" panose="02020603050405020304" pitchFamily="18" charset="0"/>
                  <a:ea typeface="Petrona Bold" pitchFamily="34" charset="-122"/>
                  <a:cs typeface="Times New Roman" panose="02020603050405020304" pitchFamily="18" charset="0"/>
                </a:rPr>
                <a:t>Tool Development</a:t>
              </a:r>
              <a:endParaRPr lang="en-US" sz="3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Text 4"/>
            <p:cNvSpPr/>
            <p:nvPr/>
          </p:nvSpPr>
          <p:spPr>
            <a:xfrm>
              <a:off x="1051084" y="3775234"/>
              <a:ext cx="5730121" cy="72580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ts val="2850"/>
                </a:lnSpc>
                <a:buNone/>
              </a:pPr>
              <a:r>
                <a:rPr lang="en-US" sz="2400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Develop an Image-Based Code Clone Detection Tool designed for precision and efficiency.</a:t>
              </a:r>
              <a:endParaRPr lang="en-US" sz="2400" dirty="0"/>
            </a:p>
          </p:txBody>
        </p: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D9B061EF-B420-511D-0752-4F90E17B1E4F}"/>
              </a:ext>
            </a:extLst>
          </p:cNvPr>
          <p:cNvSpPr/>
          <p:nvPr/>
        </p:nvSpPr>
        <p:spPr>
          <a:xfrm>
            <a:off x="697325" y="328120"/>
            <a:ext cx="9309280" cy="84895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>
              <a:lnSpc>
                <a:spcPts val="5850"/>
              </a:lnSpc>
            </a:pPr>
            <a:r>
              <a:rPr lang="en-US" sz="5400" b="1" dirty="0">
                <a:solidFill>
                  <a:srgbClr val="0359A6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Project Description – “What?”</a:t>
            </a:r>
            <a:endParaRPr lang="en-US" sz="5400" dirty="0">
              <a:solidFill>
                <a:srgbClr val="0359A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74AA17-C22C-D58E-06D3-997608861C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77986-49C3-4761-8392-D13F3E990A0C}" type="datetime1">
              <a:rPr lang="en-US" smtClean="0"/>
              <a:t>4/23/2026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D0ABBF-2608-61B4-F79F-991C0C8CE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77167-E697-4EBC-B8EC-2672F922F3D4}" type="slidenum">
              <a:rPr lang="en-US" smtClean="0"/>
              <a:pPr/>
              <a:t>3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C630A7-4986-82BF-7017-5DA4A38F74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C09A7585-850A-B3EC-1D22-031E2EF5A257}"/>
              </a:ext>
            </a:extLst>
          </p:cNvPr>
          <p:cNvSpPr/>
          <p:nvPr/>
        </p:nvSpPr>
        <p:spPr>
          <a:xfrm>
            <a:off x="3229471" y="621069"/>
            <a:ext cx="8171458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endParaRPr lang="en-US" sz="4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6BA9F18-62FF-D1F7-D65F-BA59C050CFF5}"/>
              </a:ext>
            </a:extLst>
          </p:cNvPr>
          <p:cNvGrpSpPr/>
          <p:nvPr/>
        </p:nvGrpSpPr>
        <p:grpSpPr>
          <a:xfrm>
            <a:off x="7591903" y="1776976"/>
            <a:ext cx="6244709" cy="2615527"/>
            <a:chOff x="793790" y="4985147"/>
            <a:chExt cx="6244709" cy="1839278"/>
          </a:xfrm>
          <a:noFill/>
        </p:grpSpPr>
        <p:sp>
          <p:nvSpPr>
            <p:cNvPr id="7" name="Shape 5">
              <a:extLst>
                <a:ext uri="{FF2B5EF4-FFF2-40B4-BE49-F238E27FC236}">
                  <a16:creationId xmlns:a16="http://schemas.microsoft.com/office/drawing/2014/main" id="{AD11F751-F5C2-EE82-5271-6D5DE009F2B3}"/>
                </a:ext>
              </a:extLst>
            </p:cNvPr>
            <p:cNvSpPr/>
            <p:nvPr/>
          </p:nvSpPr>
          <p:spPr>
            <a:xfrm>
              <a:off x="793790" y="4985147"/>
              <a:ext cx="6244709" cy="1839278"/>
            </a:xfrm>
            <a:prstGeom prst="roundRect">
              <a:avLst>
                <a:gd name="adj" fmla="val 5180"/>
              </a:avLst>
            </a:prstGeom>
            <a:grpFill/>
            <a:ln w="30480">
              <a:solidFill>
                <a:srgbClr val="0359A6"/>
              </a:solidFill>
              <a:prstDash val="solid"/>
            </a:ln>
          </p:spPr>
        </p:sp>
        <p:sp>
          <p:nvSpPr>
            <p:cNvPr id="8" name="Text 6">
              <a:extLst>
                <a:ext uri="{FF2B5EF4-FFF2-40B4-BE49-F238E27FC236}">
                  <a16:creationId xmlns:a16="http://schemas.microsoft.com/office/drawing/2014/main" id="{F702665F-B7F5-7693-E4FC-37AF8A6A235C}"/>
                </a:ext>
              </a:extLst>
            </p:cNvPr>
            <p:cNvSpPr/>
            <p:nvPr/>
          </p:nvSpPr>
          <p:spPr>
            <a:xfrm>
              <a:off x="1051084" y="5242441"/>
              <a:ext cx="2977039" cy="372070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900"/>
                </a:lnSpc>
                <a:buNone/>
              </a:pPr>
              <a:r>
                <a:rPr lang="en-US" sz="3600" b="1" dirty="0">
                  <a:solidFill>
                    <a:srgbClr val="272525"/>
                  </a:solidFill>
                  <a:latin typeface="Times New Roman" panose="02020603050405020304" pitchFamily="18" charset="0"/>
                  <a:ea typeface="Petrona Bold" pitchFamily="34" charset="-122"/>
                  <a:cs typeface="Times New Roman" panose="02020603050405020304" pitchFamily="18" charset="0"/>
                </a:rPr>
                <a:t>Image Similarity</a:t>
              </a:r>
              <a:endParaRPr lang="en-US" sz="3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Text 7">
              <a:extLst>
                <a:ext uri="{FF2B5EF4-FFF2-40B4-BE49-F238E27FC236}">
                  <a16:creationId xmlns:a16="http://schemas.microsoft.com/office/drawing/2014/main" id="{A1E9F406-FED6-8DF2-475E-FAD09402E8C6}"/>
                </a:ext>
              </a:extLst>
            </p:cNvPr>
            <p:cNvSpPr/>
            <p:nvPr/>
          </p:nvSpPr>
          <p:spPr>
            <a:xfrm>
              <a:off x="1051084" y="5841325"/>
              <a:ext cx="5730121" cy="725805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Detect similarities among source code images (BMP files) using advanced algorithms.</a:t>
              </a:r>
              <a:endParaRPr lang="en-US" sz="1750" dirty="0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F6B93DC-EC52-A777-C7A5-8F683CA5F212}"/>
              </a:ext>
            </a:extLst>
          </p:cNvPr>
          <p:cNvGrpSpPr/>
          <p:nvPr/>
        </p:nvGrpSpPr>
        <p:grpSpPr>
          <a:xfrm>
            <a:off x="793790" y="1761736"/>
            <a:ext cx="6244709" cy="2615527"/>
            <a:chOff x="7599521" y="2919055"/>
            <a:chExt cx="6244709" cy="1839278"/>
          </a:xfrm>
          <a:noFill/>
        </p:grpSpPr>
        <p:sp>
          <p:nvSpPr>
            <p:cNvPr id="10" name="Shape 8">
              <a:extLst>
                <a:ext uri="{FF2B5EF4-FFF2-40B4-BE49-F238E27FC236}">
                  <a16:creationId xmlns:a16="http://schemas.microsoft.com/office/drawing/2014/main" id="{DFFFBDBF-1ADA-3468-38DE-7C67988C8AE0}"/>
                </a:ext>
              </a:extLst>
            </p:cNvPr>
            <p:cNvSpPr/>
            <p:nvPr/>
          </p:nvSpPr>
          <p:spPr>
            <a:xfrm>
              <a:off x="7599521" y="2919055"/>
              <a:ext cx="6244709" cy="1839278"/>
            </a:xfrm>
            <a:prstGeom prst="roundRect">
              <a:avLst>
                <a:gd name="adj" fmla="val 5180"/>
              </a:avLst>
            </a:prstGeom>
            <a:grpFill/>
            <a:ln w="30480">
              <a:solidFill>
                <a:srgbClr val="0359A6"/>
              </a:solidFill>
              <a:prstDash val="solid"/>
            </a:ln>
          </p:spPr>
        </p:sp>
        <p:sp>
          <p:nvSpPr>
            <p:cNvPr id="11" name="Text 9">
              <a:extLst>
                <a:ext uri="{FF2B5EF4-FFF2-40B4-BE49-F238E27FC236}">
                  <a16:creationId xmlns:a16="http://schemas.microsoft.com/office/drawing/2014/main" id="{EF3ED97C-8758-FD21-48FD-B8EF0C55F4F2}"/>
                </a:ext>
              </a:extLst>
            </p:cNvPr>
            <p:cNvSpPr/>
            <p:nvPr/>
          </p:nvSpPr>
          <p:spPr>
            <a:xfrm>
              <a:off x="7856815" y="3176349"/>
              <a:ext cx="2977039" cy="372070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900"/>
                </a:lnSpc>
                <a:buNone/>
              </a:pPr>
              <a:r>
                <a:rPr lang="en-US" sz="3600" b="1" dirty="0">
                  <a:solidFill>
                    <a:srgbClr val="272525"/>
                  </a:solidFill>
                  <a:latin typeface="Times New Roman" panose="02020603050405020304" pitchFamily="18" charset="0"/>
                  <a:ea typeface="Petrona Bold" pitchFamily="34" charset="-122"/>
                  <a:cs typeface="Times New Roman" panose="02020603050405020304" pitchFamily="18" charset="0"/>
                </a:rPr>
                <a:t>Core Algorithms</a:t>
              </a:r>
              <a:endParaRPr lang="en-US" sz="3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Text 10">
              <a:extLst>
                <a:ext uri="{FF2B5EF4-FFF2-40B4-BE49-F238E27FC236}">
                  <a16:creationId xmlns:a16="http://schemas.microsoft.com/office/drawing/2014/main" id="{5B29D52F-08E5-B3C5-1792-76EB17E33B39}"/>
                </a:ext>
              </a:extLst>
            </p:cNvPr>
            <p:cNvSpPr/>
            <p:nvPr/>
          </p:nvSpPr>
          <p:spPr>
            <a:xfrm>
              <a:off x="7856815" y="3775234"/>
              <a:ext cx="5730121" cy="725805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Utilize Jaccard Distance </a:t>
              </a:r>
              <a:r>
                <a:rPr lang="en-US" sz="1750" dirty="0">
                  <a:solidFill>
                    <a:srgbClr val="272525"/>
                  </a:solidFill>
                  <a:latin typeface="Times New Roman" panose="02020603050405020304" pitchFamily="18" charset="0"/>
                  <a:ea typeface="Inter" pitchFamily="34" charset="-122"/>
                  <a:cs typeface="Times New Roman" panose="02020603050405020304" pitchFamily="18" charset="0"/>
                </a:rPr>
                <a:t>[1]</a:t>
              </a:r>
              <a:r>
                <a:rPr lang="en-US" sz="1750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, Perceptual Hash (</a:t>
              </a:r>
              <a:r>
                <a:rPr lang="en-US" sz="1750" dirty="0" err="1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pHash</a:t>
              </a:r>
              <a:r>
                <a:rPr lang="en-US" sz="1750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) [1], and Earth Mover's Distance (EMD) [2].</a:t>
              </a:r>
              <a:endParaRPr lang="en-US" sz="1750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584F185-FCF5-6A88-3C8E-067E79116C19}"/>
              </a:ext>
            </a:extLst>
          </p:cNvPr>
          <p:cNvGrpSpPr/>
          <p:nvPr/>
        </p:nvGrpSpPr>
        <p:grpSpPr>
          <a:xfrm>
            <a:off x="4192845" y="4943096"/>
            <a:ext cx="6244709" cy="2605399"/>
            <a:chOff x="7599521" y="4985147"/>
            <a:chExt cx="6244709" cy="1839278"/>
          </a:xfrm>
          <a:noFill/>
        </p:grpSpPr>
        <p:sp>
          <p:nvSpPr>
            <p:cNvPr id="13" name="Shape 11">
              <a:extLst>
                <a:ext uri="{FF2B5EF4-FFF2-40B4-BE49-F238E27FC236}">
                  <a16:creationId xmlns:a16="http://schemas.microsoft.com/office/drawing/2014/main" id="{B4013FCE-B3EC-DBA0-56DF-8B48A9E2C3E8}"/>
                </a:ext>
              </a:extLst>
            </p:cNvPr>
            <p:cNvSpPr/>
            <p:nvPr/>
          </p:nvSpPr>
          <p:spPr>
            <a:xfrm>
              <a:off x="7599521" y="4985147"/>
              <a:ext cx="6244709" cy="1839278"/>
            </a:xfrm>
            <a:prstGeom prst="roundRect">
              <a:avLst>
                <a:gd name="adj" fmla="val 5180"/>
              </a:avLst>
            </a:prstGeom>
            <a:grpFill/>
            <a:ln w="30480">
              <a:solidFill>
                <a:srgbClr val="0359A6"/>
              </a:solidFill>
              <a:prstDash val="solid"/>
            </a:ln>
          </p:spPr>
        </p:sp>
        <p:sp>
          <p:nvSpPr>
            <p:cNvPr id="14" name="Text 12">
              <a:extLst>
                <a:ext uri="{FF2B5EF4-FFF2-40B4-BE49-F238E27FC236}">
                  <a16:creationId xmlns:a16="http://schemas.microsoft.com/office/drawing/2014/main" id="{614620E1-AB49-485B-E15F-525A123E4143}"/>
                </a:ext>
              </a:extLst>
            </p:cNvPr>
            <p:cNvSpPr/>
            <p:nvPr/>
          </p:nvSpPr>
          <p:spPr>
            <a:xfrm>
              <a:off x="7856815" y="5242441"/>
              <a:ext cx="3135511" cy="372070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900"/>
                </a:lnSpc>
                <a:buNone/>
              </a:pPr>
              <a:r>
                <a:rPr lang="en-US" sz="3600" b="1" dirty="0">
                  <a:solidFill>
                    <a:srgbClr val="272525"/>
                  </a:solidFill>
                  <a:latin typeface="Times New Roman" panose="02020603050405020304" pitchFamily="18" charset="0"/>
                  <a:ea typeface="Petrona Bold" pitchFamily="34" charset="-122"/>
                  <a:cs typeface="Times New Roman" panose="02020603050405020304" pitchFamily="18" charset="0"/>
                </a:rPr>
                <a:t>Output &amp; Visualization</a:t>
              </a:r>
              <a:endParaRPr lang="en-US" sz="3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Text 13">
              <a:extLst>
                <a:ext uri="{FF2B5EF4-FFF2-40B4-BE49-F238E27FC236}">
                  <a16:creationId xmlns:a16="http://schemas.microsoft.com/office/drawing/2014/main" id="{AA8A6612-4D24-8729-BF89-B095F1BAA116}"/>
                </a:ext>
              </a:extLst>
            </p:cNvPr>
            <p:cNvSpPr/>
            <p:nvPr/>
          </p:nvSpPr>
          <p:spPr>
            <a:xfrm>
              <a:off x="7856815" y="5841325"/>
              <a:ext cx="5730121" cy="725805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Generate similarity results in CSV files and display them in the terminal, enabling visualization in future.</a:t>
              </a:r>
              <a:endParaRPr lang="en-US" sz="1750" dirty="0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506F2FA5-26B5-9A6E-0D0A-539FC2926639}"/>
              </a:ext>
            </a:extLst>
          </p:cNvPr>
          <p:cNvSpPr/>
          <p:nvPr/>
        </p:nvSpPr>
        <p:spPr>
          <a:xfrm>
            <a:off x="735425" y="328120"/>
            <a:ext cx="9039975" cy="84895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>
              <a:lnSpc>
                <a:spcPts val="5850"/>
              </a:lnSpc>
            </a:pPr>
            <a:r>
              <a:rPr lang="en-US" sz="5400" b="1" dirty="0">
                <a:solidFill>
                  <a:srgbClr val="0359A6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Project Description – “How?”</a:t>
            </a:r>
            <a:endParaRPr lang="en-US" sz="5400" dirty="0">
              <a:solidFill>
                <a:srgbClr val="0359A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25FD26A-9C4A-72EA-0ECB-412D45AB89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7B789-0610-4B90-A9FF-705BEFBDCE4E}" type="datetime1">
              <a:rPr lang="en-US" smtClean="0"/>
              <a:t>4/23/2026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418F53-D80F-4A46-3D79-83E85496C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77167-E697-4EBC-B8EC-2672F922F3D4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8914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F4F665-ED46-CF05-1DA1-662B039D29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420E8C4-E9A6-7AD7-77EB-874DFBDBEC86}"/>
              </a:ext>
            </a:extLst>
          </p:cNvPr>
          <p:cNvSpPr txBox="1"/>
          <p:nvPr/>
        </p:nvSpPr>
        <p:spPr>
          <a:xfrm>
            <a:off x="793790" y="2229492"/>
            <a:ext cx="6521410" cy="33547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0359A6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BMP image file handling</a:t>
            </a:r>
            <a:endParaRPr lang="en-US" dirty="0">
              <a:solidFill>
                <a:srgbClr val="0359A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.bmp format images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Methods and constructors for reading and writing .bmp files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Properly handling exceptions thrown by the file operations</a:t>
            </a:r>
          </a:p>
          <a:p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6C5DEFA-4599-99E5-D0BD-9B0CF4E9AACC}"/>
              </a:ext>
            </a:extLst>
          </p:cNvPr>
          <p:cNvSpPr/>
          <p:nvPr/>
        </p:nvSpPr>
        <p:spPr>
          <a:xfrm>
            <a:off x="782174" y="540065"/>
            <a:ext cx="13066052" cy="8489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5850"/>
              </a:lnSpc>
            </a:pPr>
            <a:r>
              <a:rPr lang="en-US" sz="5400" b="1" dirty="0">
                <a:solidFill>
                  <a:srgbClr val="0359A6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What I Had Implemented Till Midterm…</a:t>
            </a:r>
            <a:endParaRPr lang="en-US" sz="5400" dirty="0">
              <a:solidFill>
                <a:srgbClr val="0359A6"/>
              </a:solidFill>
              <a:latin typeface="Times New Roman" panose="02020603050405020304" pitchFamily="18" charset="0"/>
              <a:ea typeface="Petrona Bold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159B5D-3A5D-EAE2-47D5-39AC05D256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06948-2A2E-42FB-9C8F-41C6B5922DE4}" type="datetime1">
              <a:rPr lang="en-US" smtClean="0"/>
              <a:t>4/23/2026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5047408-69D9-FA77-DDF8-2486E4874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77167-E697-4EBC-B8EC-2672F922F3D4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1562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87EDE8-85E6-C72D-F893-C2650F76D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E424973-CD36-CC0B-4069-B3892E79D9A8}"/>
              </a:ext>
            </a:extLst>
          </p:cNvPr>
          <p:cNvSpPr txBox="1"/>
          <p:nvPr/>
        </p:nvSpPr>
        <p:spPr>
          <a:xfrm>
            <a:off x="793789" y="2229492"/>
            <a:ext cx="7096763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0359A6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Normalization</a:t>
            </a:r>
            <a:endParaRPr lang="en-US" dirty="0">
              <a:solidFill>
                <a:srgbClr val="0359A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Grayscale image generation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Gaussian blur image generation using </a:t>
            </a:r>
            <a:r>
              <a:rPr lang="en-US" sz="2800" i="1" dirty="0">
                <a:solidFill>
                  <a:srgbClr val="0359A6"/>
                </a:solidFill>
              </a:rPr>
              <a:t>‘Gaussian kernel’</a:t>
            </a:r>
            <a:endParaRPr lang="en-US" sz="2800" dirty="0">
              <a:solidFill>
                <a:srgbClr val="0359A6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Negative image generation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Pixel vector extraction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Image resizing using </a:t>
            </a:r>
            <a:r>
              <a:rPr lang="en-US" sz="2800" i="1" dirty="0">
                <a:solidFill>
                  <a:srgbClr val="0359A6"/>
                </a:solidFill>
              </a:rPr>
              <a:t>‘Bilinear Interpolation’</a:t>
            </a:r>
            <a:endParaRPr lang="en-US" sz="2800" dirty="0">
              <a:solidFill>
                <a:srgbClr val="0359A6"/>
              </a:solidFill>
            </a:endParaRPr>
          </a:p>
          <a:p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0A0F1BC-B1E7-2C45-7F9D-4B608B9EEC98}"/>
              </a:ext>
            </a:extLst>
          </p:cNvPr>
          <p:cNvSpPr/>
          <p:nvPr/>
        </p:nvSpPr>
        <p:spPr>
          <a:xfrm>
            <a:off x="782174" y="540065"/>
            <a:ext cx="13066052" cy="8489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5850"/>
              </a:lnSpc>
            </a:pPr>
            <a:r>
              <a:rPr lang="en-US" sz="5400" b="1" dirty="0">
                <a:solidFill>
                  <a:srgbClr val="0359A6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What I Had Implemented Till Midterm…</a:t>
            </a:r>
            <a:endParaRPr lang="en-US" sz="5400" dirty="0">
              <a:solidFill>
                <a:srgbClr val="0359A6"/>
              </a:solidFill>
              <a:latin typeface="Times New Roman" panose="02020603050405020304" pitchFamily="18" charset="0"/>
              <a:ea typeface="Petrona Bold"/>
              <a:cs typeface="Times New Roman" panose="02020603050405020304" pitchFamily="18" charset="0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94E10CE-1786-4AA8-9794-CBB212987E48}"/>
              </a:ext>
            </a:extLst>
          </p:cNvPr>
          <p:cNvGrpSpPr/>
          <p:nvPr/>
        </p:nvGrpSpPr>
        <p:grpSpPr>
          <a:xfrm>
            <a:off x="7886701" y="1683786"/>
            <a:ext cx="5997216" cy="5170448"/>
            <a:chOff x="7886701" y="1683786"/>
            <a:chExt cx="5997216" cy="5170448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7BF6FD92-05A8-F1BF-79C3-F99BCFC8F501}"/>
                </a:ext>
              </a:extLst>
            </p:cNvPr>
            <p:cNvGrpSpPr/>
            <p:nvPr/>
          </p:nvGrpSpPr>
          <p:grpSpPr>
            <a:xfrm>
              <a:off x="7886701" y="1698675"/>
              <a:ext cx="1978417" cy="2367121"/>
              <a:chOff x="7886701" y="1698675"/>
              <a:chExt cx="1978417" cy="2367121"/>
            </a:xfrm>
          </p:grpSpPr>
          <p:pic>
            <p:nvPicPr>
              <p:cNvPr id="2" name="Picture 1">
                <a:extLst>
                  <a:ext uri="{FF2B5EF4-FFF2-40B4-BE49-F238E27FC236}">
                    <a16:creationId xmlns:a16="http://schemas.microsoft.com/office/drawing/2014/main" id="{BB1A1F45-C049-4268-8D42-40ED6342CA7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-557" r="21737"/>
              <a:stretch>
                <a:fillRect/>
              </a:stretch>
            </p:blipFill>
            <p:spPr>
              <a:xfrm>
                <a:off x="7886701" y="1698675"/>
                <a:ext cx="1978417" cy="1982912"/>
              </a:xfrm>
              <a:prstGeom prst="rect">
                <a:avLst/>
              </a:prstGeom>
            </p:spPr>
          </p:pic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7259E31-D1DA-9C73-19E5-93F8A3B58C9D}"/>
                  </a:ext>
                </a:extLst>
              </p:cNvPr>
              <p:cNvSpPr txBox="1"/>
              <p:nvPr/>
            </p:nvSpPr>
            <p:spPr>
              <a:xfrm>
                <a:off x="8079981" y="3696464"/>
                <a:ext cx="160276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Colorful Image</a:t>
                </a:r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4F7A0964-0CA6-B851-6C24-ED8CA12D798E}"/>
                </a:ext>
              </a:extLst>
            </p:cNvPr>
            <p:cNvGrpSpPr/>
            <p:nvPr/>
          </p:nvGrpSpPr>
          <p:grpSpPr>
            <a:xfrm>
              <a:off x="11905499" y="1683786"/>
              <a:ext cx="1978418" cy="2370025"/>
              <a:chOff x="11905499" y="1683786"/>
              <a:chExt cx="1978418" cy="2370025"/>
            </a:xfrm>
          </p:grpSpPr>
          <p:pic>
            <p:nvPicPr>
              <p:cNvPr id="3" name="Picture 2">
                <a:extLst>
                  <a:ext uri="{FF2B5EF4-FFF2-40B4-BE49-F238E27FC236}">
                    <a16:creationId xmlns:a16="http://schemas.microsoft.com/office/drawing/2014/main" id="{0022A94B-0946-9FAE-1348-2DC70FE6203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0"/>
                        </a14:imgEffect>
                      </a14:imgLayer>
                    </a14:imgProps>
                  </a:ext>
                </a:extLst>
              </a:blip>
              <a:srcRect l="398" r="20782"/>
              <a:stretch>
                <a:fillRect/>
              </a:stretch>
            </p:blipFill>
            <p:spPr>
              <a:xfrm>
                <a:off x="11905499" y="1683786"/>
                <a:ext cx="1978418" cy="1982912"/>
              </a:xfrm>
              <a:prstGeom prst="rect">
                <a:avLst/>
              </a:prstGeom>
            </p:spPr>
          </p:pic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D5AF4D8-07B4-990B-C8E1-7633F82881BA}"/>
                  </a:ext>
                </a:extLst>
              </p:cNvPr>
              <p:cNvSpPr txBox="1"/>
              <p:nvPr/>
            </p:nvSpPr>
            <p:spPr>
              <a:xfrm>
                <a:off x="11999411" y="3684479"/>
                <a:ext cx="179059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Grayscale Image</a:t>
                </a:r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4F239592-54C7-2AFB-9871-2A49B80F5B61}"/>
                </a:ext>
              </a:extLst>
            </p:cNvPr>
            <p:cNvGrpSpPr/>
            <p:nvPr/>
          </p:nvGrpSpPr>
          <p:grpSpPr>
            <a:xfrm>
              <a:off x="11846812" y="4224991"/>
              <a:ext cx="1954623" cy="2629243"/>
              <a:chOff x="11846812" y="4224991"/>
              <a:chExt cx="1954623" cy="2629243"/>
            </a:xfrm>
          </p:grpSpPr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F1CC6296-0880-98A9-0C0E-B761CBF61D1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BEBA8EAE-BF5A-486C-A8C5-ECC9F3942E4B}">
                    <a14:imgProps xmlns:a14="http://schemas.microsoft.com/office/drawing/2010/main">
                      <a14:imgLayer r:embed="rId7">
                        <a14:imgEffect>
                          <a14:artisticBlur radius="4"/>
                        </a14:imgEffect>
                        <a14:imgEffect>
                          <a14:saturation sat="0"/>
                        </a14:imgEffect>
                      </a14:imgLayer>
                    </a14:imgProps>
                  </a:ext>
                </a:extLst>
              </a:blip>
              <a:srcRect r="9696"/>
              <a:stretch>
                <a:fillRect/>
              </a:stretch>
            </p:blipFill>
            <p:spPr>
              <a:xfrm>
                <a:off x="11922865" y="4224991"/>
                <a:ext cx="1790595" cy="1982912"/>
              </a:xfrm>
              <a:prstGeom prst="rect">
                <a:avLst/>
              </a:prstGeom>
            </p:spPr>
          </p:pic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2099ACC-E17A-935E-B075-2DDFA54A9A9A}"/>
                  </a:ext>
                </a:extLst>
              </p:cNvPr>
              <p:cNvSpPr txBox="1"/>
              <p:nvPr/>
            </p:nvSpPr>
            <p:spPr>
              <a:xfrm>
                <a:off x="11846812" y="6207903"/>
                <a:ext cx="1954623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Gaussian Blur Image</a:t>
                </a:r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8EDC9056-8D79-F36C-3E2F-CF8B71177C78}"/>
                </a:ext>
              </a:extLst>
            </p:cNvPr>
            <p:cNvGrpSpPr/>
            <p:nvPr/>
          </p:nvGrpSpPr>
          <p:grpSpPr>
            <a:xfrm>
              <a:off x="7986068" y="5098522"/>
              <a:ext cx="1790594" cy="1360788"/>
              <a:chOff x="7986068" y="5098522"/>
              <a:chExt cx="1790594" cy="1360788"/>
            </a:xfrm>
          </p:grpSpPr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AA701DA-17AD-2703-9F44-A4DB32601908}"/>
                  </a:ext>
                </a:extLst>
              </p:cNvPr>
              <p:cNvSpPr txBox="1"/>
              <p:nvPr/>
            </p:nvSpPr>
            <p:spPr>
              <a:xfrm>
                <a:off x="7986068" y="6089978"/>
                <a:ext cx="179059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Resized Image</a:t>
                </a:r>
              </a:p>
            </p:txBody>
          </p:sp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12987CD2-FF7A-0083-3D06-E5B1387CD3B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0"/>
                        </a14:imgEffect>
                      </a14:imgLayer>
                    </a14:imgProps>
                  </a:ext>
                </a:extLst>
              </a:blip>
              <a:srcRect l="398" r="20782"/>
              <a:stretch>
                <a:fillRect/>
              </a:stretch>
            </p:blipFill>
            <p:spPr>
              <a:xfrm>
                <a:off x="8341419" y="5098522"/>
                <a:ext cx="989209" cy="991456"/>
              </a:xfrm>
              <a:prstGeom prst="rect">
                <a:avLst/>
              </a:prstGeom>
            </p:spPr>
          </p:pic>
        </p:grpSp>
      </p:grpSp>
      <p:sp>
        <p:nvSpPr>
          <p:cNvPr id="26" name="Date Placeholder 25">
            <a:extLst>
              <a:ext uri="{FF2B5EF4-FFF2-40B4-BE49-F238E27FC236}">
                <a16:creationId xmlns:a16="http://schemas.microsoft.com/office/drawing/2014/main" id="{CDD0A5C7-A750-D84E-8143-9520C363EC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F8BB9-CC5B-49E3-8E8F-826E2D6E5270}" type="datetime1">
              <a:rPr lang="en-US" smtClean="0"/>
              <a:t>4/23/2026</a:t>
            </a:fld>
            <a:endParaRPr lang="en-US"/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57D2E669-18AD-BE1D-BCEF-887BD8848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77167-E697-4EBC-B8EC-2672F922F3D4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7527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67C824-5D13-A75F-6A60-B6AF62EAE9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EE225D9-705F-B2B8-6783-35A0DDE48100}"/>
                  </a:ext>
                </a:extLst>
              </p:cNvPr>
              <p:cNvSpPr txBox="1"/>
              <p:nvPr/>
            </p:nvSpPr>
            <p:spPr>
              <a:xfrm>
                <a:off x="793789" y="2229492"/>
                <a:ext cx="7096763" cy="48982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600" b="1" dirty="0">
                    <a:solidFill>
                      <a:srgbClr val="0359A6"/>
                    </a:solidFill>
                    <a:latin typeface="Times New Roman" panose="02020603050405020304" pitchFamily="18" charset="0"/>
                    <a:ea typeface="Petrona Bold" pitchFamily="34" charset="-122"/>
                    <a:cs typeface="Times New Roman" panose="02020603050405020304" pitchFamily="18" charset="0"/>
                  </a:rPr>
                  <a:t>Jaccard Similarity</a:t>
                </a:r>
                <a:endParaRPr lang="en-US" dirty="0">
                  <a:solidFill>
                    <a:srgbClr val="0359A6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Works on binary pixel presence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Requires: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Grayscale images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Same dimensions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Compares pixel positions (x, y)</a:t>
                </a:r>
                <a:endParaRPr lang="en-US" sz="2800" dirty="0">
                  <a:solidFill>
                    <a:srgbClr val="0359A6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Jaccard Similarity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280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∩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80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280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800" i="1" smtClean="0">
                            <a:latin typeface="Cambria Math" panose="02040503050406030204" pitchFamily="18" charset="0"/>
                          </a:rPr>
                          <m:t>∪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80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</m:oMath>
                </a14:m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Ignores pixel intensity, focuses on structure overlap</a:t>
                </a:r>
                <a:endParaRPr lang="en-US" sz="2800" dirty="0">
                  <a:solidFill>
                    <a:srgbClr val="0359A6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EE225D9-705F-B2B8-6783-35A0DDE481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789" y="2229492"/>
                <a:ext cx="7096763" cy="4898264"/>
              </a:xfrm>
              <a:prstGeom prst="rect">
                <a:avLst/>
              </a:prstGeom>
              <a:blipFill>
                <a:blip r:embed="rId3"/>
                <a:stretch>
                  <a:fillRect l="-2577" t="-21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CAA09DA2-16E4-7661-7B4B-13F8C35E1EBC}"/>
              </a:ext>
            </a:extLst>
          </p:cNvPr>
          <p:cNvSpPr/>
          <p:nvPr/>
        </p:nvSpPr>
        <p:spPr>
          <a:xfrm>
            <a:off x="782174" y="540065"/>
            <a:ext cx="13066052" cy="8489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5850"/>
              </a:lnSpc>
            </a:pPr>
            <a:r>
              <a:rPr lang="en-US" sz="5400" b="1" dirty="0">
                <a:solidFill>
                  <a:srgbClr val="0359A6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What I Had Implemented Till Midterm…</a:t>
            </a:r>
            <a:endParaRPr lang="en-US" sz="5400" dirty="0">
              <a:solidFill>
                <a:srgbClr val="0359A6"/>
              </a:solidFill>
              <a:latin typeface="Times New Roman" panose="02020603050405020304" pitchFamily="18" charset="0"/>
              <a:ea typeface="Petrona Bold"/>
              <a:cs typeface="Times New Roman" panose="02020603050405020304" pitchFamily="18" charset="0"/>
            </a:endParaRP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8E7CF7BA-D864-8049-F464-AE55C791E52C}"/>
              </a:ext>
            </a:extLst>
          </p:cNvPr>
          <p:cNvGrpSpPr/>
          <p:nvPr/>
        </p:nvGrpSpPr>
        <p:grpSpPr>
          <a:xfrm>
            <a:off x="8597709" y="2262934"/>
            <a:ext cx="5884408" cy="4677491"/>
            <a:chOff x="8643854" y="3234093"/>
            <a:chExt cx="5884408" cy="4677491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A94440CD-1EB3-3005-25BC-B4D8A67CA828}"/>
                </a:ext>
              </a:extLst>
            </p:cNvPr>
            <p:cNvSpPr/>
            <p:nvPr/>
          </p:nvSpPr>
          <p:spPr>
            <a:xfrm>
              <a:off x="8969339" y="4232953"/>
              <a:ext cx="4867271" cy="27432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359A6"/>
                </a:solidFill>
              </a:endParaRP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C159232-E71D-0083-78C8-DAF5C0D7290A}"/>
                </a:ext>
              </a:extLst>
            </p:cNvPr>
            <p:cNvSpPr/>
            <p:nvPr/>
          </p:nvSpPr>
          <p:spPr>
            <a:xfrm>
              <a:off x="11116637" y="4749986"/>
              <a:ext cx="787311" cy="1661367"/>
            </a:xfrm>
            <a:custGeom>
              <a:avLst/>
              <a:gdLst>
                <a:gd name="csX0" fmla="*/ 393656 w 787311"/>
                <a:gd name="csY0" fmla="*/ 0 h 1661367"/>
                <a:gd name="csX1" fmla="*/ 396602 w 787311"/>
                <a:gd name="csY1" fmla="*/ 2203 h 1661367"/>
                <a:gd name="csX2" fmla="*/ 787311 w 787311"/>
                <a:gd name="csY2" fmla="*/ 830683 h 1661367"/>
                <a:gd name="csX3" fmla="*/ 396602 w 787311"/>
                <a:gd name="csY3" fmla="*/ 1659163 h 1661367"/>
                <a:gd name="csX4" fmla="*/ 393656 w 787311"/>
                <a:gd name="csY4" fmla="*/ 1661367 h 1661367"/>
                <a:gd name="csX5" fmla="*/ 390709 w 787311"/>
                <a:gd name="csY5" fmla="*/ 1659163 h 1661367"/>
                <a:gd name="csX6" fmla="*/ 0 w 787311"/>
                <a:gd name="csY6" fmla="*/ 830683 h 1661367"/>
                <a:gd name="csX7" fmla="*/ 390709 w 787311"/>
                <a:gd name="csY7" fmla="*/ 2203 h 1661367"/>
                <a:gd name="csX8" fmla="*/ 393656 w 787311"/>
                <a:gd name="csY8" fmla="*/ 0 h 166136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787311" h="1661367">
                  <a:moveTo>
                    <a:pt x="393656" y="0"/>
                  </a:moveTo>
                  <a:lnTo>
                    <a:pt x="396602" y="2203"/>
                  </a:lnTo>
                  <a:cubicBezTo>
                    <a:pt x="635218" y="199126"/>
                    <a:pt x="787311" y="497143"/>
                    <a:pt x="787311" y="830683"/>
                  </a:cubicBezTo>
                  <a:cubicBezTo>
                    <a:pt x="787311" y="1164223"/>
                    <a:pt x="635218" y="1462240"/>
                    <a:pt x="396602" y="1659163"/>
                  </a:cubicBezTo>
                  <a:lnTo>
                    <a:pt x="393656" y="1661367"/>
                  </a:lnTo>
                  <a:lnTo>
                    <a:pt x="390709" y="1659163"/>
                  </a:lnTo>
                  <a:cubicBezTo>
                    <a:pt x="152093" y="1462240"/>
                    <a:pt x="0" y="1164223"/>
                    <a:pt x="0" y="830683"/>
                  </a:cubicBezTo>
                  <a:cubicBezTo>
                    <a:pt x="0" y="497143"/>
                    <a:pt x="152093" y="199126"/>
                    <a:pt x="390709" y="2203"/>
                  </a:cubicBezTo>
                  <a:lnTo>
                    <a:pt x="393656" y="0"/>
                  </a:lnTo>
                  <a:close/>
                </a:path>
              </a:pathLst>
            </a:cu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BDB4FABA-9B8B-6486-338D-4DD33764418F}"/>
                </a:ext>
              </a:extLst>
            </p:cNvPr>
            <p:cNvSpPr/>
            <p:nvPr/>
          </p:nvSpPr>
          <p:spPr>
            <a:xfrm>
              <a:off x="9756649" y="4507019"/>
              <a:ext cx="1753643" cy="2147298"/>
            </a:xfrm>
            <a:custGeom>
              <a:avLst/>
              <a:gdLst>
                <a:gd name="csX0" fmla="*/ 1073649 w 1753643"/>
                <a:gd name="csY0" fmla="*/ 0 h 2147298"/>
                <a:gd name="csX1" fmla="*/ 1673936 w 1753643"/>
                <a:gd name="csY1" fmla="*/ 183362 h 2147298"/>
                <a:gd name="csX2" fmla="*/ 1753643 w 1753643"/>
                <a:gd name="csY2" fmla="*/ 242966 h 2147298"/>
                <a:gd name="csX3" fmla="*/ 1750696 w 1753643"/>
                <a:gd name="csY3" fmla="*/ 245169 h 2147298"/>
                <a:gd name="csX4" fmla="*/ 1359987 w 1753643"/>
                <a:gd name="csY4" fmla="*/ 1073649 h 2147298"/>
                <a:gd name="csX5" fmla="*/ 1750696 w 1753643"/>
                <a:gd name="csY5" fmla="*/ 1902129 h 2147298"/>
                <a:gd name="csX6" fmla="*/ 1753643 w 1753643"/>
                <a:gd name="csY6" fmla="*/ 1904333 h 2147298"/>
                <a:gd name="csX7" fmla="*/ 1673936 w 1753643"/>
                <a:gd name="csY7" fmla="*/ 1963936 h 2147298"/>
                <a:gd name="csX8" fmla="*/ 1073649 w 1753643"/>
                <a:gd name="csY8" fmla="*/ 2147298 h 2147298"/>
                <a:gd name="csX9" fmla="*/ 0 w 1753643"/>
                <a:gd name="csY9" fmla="*/ 1073649 h 2147298"/>
                <a:gd name="csX10" fmla="*/ 1073649 w 1753643"/>
                <a:gd name="csY10" fmla="*/ 0 h 214729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753643" h="2147298">
                  <a:moveTo>
                    <a:pt x="1073649" y="0"/>
                  </a:moveTo>
                  <a:cubicBezTo>
                    <a:pt x="1296009" y="0"/>
                    <a:pt x="1502581" y="67597"/>
                    <a:pt x="1673936" y="183362"/>
                  </a:cubicBezTo>
                  <a:lnTo>
                    <a:pt x="1753643" y="242966"/>
                  </a:lnTo>
                  <a:lnTo>
                    <a:pt x="1750696" y="245169"/>
                  </a:lnTo>
                  <a:cubicBezTo>
                    <a:pt x="1512080" y="442092"/>
                    <a:pt x="1359987" y="740109"/>
                    <a:pt x="1359987" y="1073649"/>
                  </a:cubicBezTo>
                  <a:cubicBezTo>
                    <a:pt x="1359987" y="1407189"/>
                    <a:pt x="1512080" y="1705206"/>
                    <a:pt x="1750696" y="1902129"/>
                  </a:cubicBezTo>
                  <a:lnTo>
                    <a:pt x="1753643" y="1904333"/>
                  </a:lnTo>
                  <a:lnTo>
                    <a:pt x="1673936" y="1963936"/>
                  </a:lnTo>
                  <a:cubicBezTo>
                    <a:pt x="1502581" y="2079701"/>
                    <a:pt x="1296009" y="2147298"/>
                    <a:pt x="1073649" y="2147298"/>
                  </a:cubicBezTo>
                  <a:cubicBezTo>
                    <a:pt x="480689" y="2147298"/>
                    <a:pt x="0" y="1666609"/>
                    <a:pt x="0" y="1073649"/>
                  </a:cubicBezTo>
                  <a:cubicBezTo>
                    <a:pt x="0" y="480689"/>
                    <a:pt x="480689" y="0"/>
                    <a:pt x="1073649" y="0"/>
                  </a:cubicBezTo>
                  <a:close/>
                </a:path>
              </a:pathLst>
            </a:cu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CBA61BF0-12D8-A8E6-9644-BE83852DF8C3}"/>
                </a:ext>
              </a:extLst>
            </p:cNvPr>
            <p:cNvSpPr/>
            <p:nvPr/>
          </p:nvSpPr>
          <p:spPr>
            <a:xfrm>
              <a:off x="11496499" y="4507019"/>
              <a:ext cx="1753642" cy="2147298"/>
            </a:xfrm>
            <a:custGeom>
              <a:avLst/>
              <a:gdLst>
                <a:gd name="csX0" fmla="*/ 679993 w 1753642"/>
                <a:gd name="csY0" fmla="*/ 0 h 2147298"/>
                <a:gd name="csX1" fmla="*/ 1753642 w 1753642"/>
                <a:gd name="csY1" fmla="*/ 1073649 h 2147298"/>
                <a:gd name="csX2" fmla="*/ 679993 w 1753642"/>
                <a:gd name="csY2" fmla="*/ 2147298 h 2147298"/>
                <a:gd name="csX3" fmla="*/ 79706 w 1753642"/>
                <a:gd name="csY3" fmla="*/ 1963936 h 2147298"/>
                <a:gd name="csX4" fmla="*/ 0 w 1753642"/>
                <a:gd name="csY4" fmla="*/ 1904333 h 2147298"/>
                <a:gd name="csX5" fmla="*/ 2946 w 1753642"/>
                <a:gd name="csY5" fmla="*/ 1902129 h 2147298"/>
                <a:gd name="csX6" fmla="*/ 393655 w 1753642"/>
                <a:gd name="csY6" fmla="*/ 1073649 h 2147298"/>
                <a:gd name="csX7" fmla="*/ 2946 w 1753642"/>
                <a:gd name="csY7" fmla="*/ 245169 h 2147298"/>
                <a:gd name="csX8" fmla="*/ 0 w 1753642"/>
                <a:gd name="csY8" fmla="*/ 242966 h 2147298"/>
                <a:gd name="csX9" fmla="*/ 79706 w 1753642"/>
                <a:gd name="csY9" fmla="*/ 183362 h 2147298"/>
                <a:gd name="csX10" fmla="*/ 679993 w 1753642"/>
                <a:gd name="csY10" fmla="*/ 0 h 214729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753642" h="2147298">
                  <a:moveTo>
                    <a:pt x="679993" y="0"/>
                  </a:moveTo>
                  <a:cubicBezTo>
                    <a:pt x="1272953" y="0"/>
                    <a:pt x="1753642" y="480689"/>
                    <a:pt x="1753642" y="1073649"/>
                  </a:cubicBezTo>
                  <a:cubicBezTo>
                    <a:pt x="1753642" y="1666609"/>
                    <a:pt x="1272953" y="2147298"/>
                    <a:pt x="679993" y="2147298"/>
                  </a:cubicBezTo>
                  <a:cubicBezTo>
                    <a:pt x="457633" y="2147298"/>
                    <a:pt x="251061" y="2079701"/>
                    <a:pt x="79706" y="1963936"/>
                  </a:cubicBezTo>
                  <a:lnTo>
                    <a:pt x="0" y="1904333"/>
                  </a:lnTo>
                  <a:lnTo>
                    <a:pt x="2946" y="1902129"/>
                  </a:lnTo>
                  <a:cubicBezTo>
                    <a:pt x="241562" y="1705206"/>
                    <a:pt x="393655" y="1407189"/>
                    <a:pt x="393655" y="1073649"/>
                  </a:cubicBezTo>
                  <a:cubicBezTo>
                    <a:pt x="393655" y="740109"/>
                    <a:pt x="241562" y="442092"/>
                    <a:pt x="2946" y="245169"/>
                  </a:cubicBezTo>
                  <a:lnTo>
                    <a:pt x="0" y="242966"/>
                  </a:lnTo>
                  <a:lnTo>
                    <a:pt x="79706" y="183362"/>
                  </a:lnTo>
                  <a:cubicBezTo>
                    <a:pt x="251061" y="67597"/>
                    <a:pt x="457633" y="0"/>
                    <a:pt x="679993" y="0"/>
                  </a:cubicBezTo>
                  <a:close/>
                </a:path>
              </a:pathLst>
            </a:cu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C2D1F056-D4FC-E1B0-C1A4-5BCBB755526D}"/>
                </a:ext>
              </a:extLst>
            </p:cNvPr>
            <p:cNvCxnSpPr>
              <a:cxnSpLocks/>
            </p:cNvCxnSpPr>
            <p:nvPr/>
          </p:nvCxnSpPr>
          <p:spPr>
            <a:xfrm>
              <a:off x="9526547" y="3911117"/>
              <a:ext cx="1057850" cy="169343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111C646B-B47E-4194-67C1-9FEEED1C012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461813" y="3911117"/>
              <a:ext cx="802121" cy="169343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F1352486-083C-18EB-4449-95AC162F239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41583" y="5604553"/>
              <a:ext cx="198330" cy="161271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502856A8-0DDE-01CC-278A-1E293A8BBD35}"/>
                </a:ext>
              </a:extLst>
            </p:cNvPr>
            <p:cNvSpPr txBox="1"/>
            <p:nvPr/>
          </p:nvSpPr>
          <p:spPr>
            <a:xfrm>
              <a:off x="8643854" y="3234093"/>
              <a:ext cx="206867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 = Nonzero pixels in image1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A197F8C-CF9D-0786-DA10-8C6CC898A42F}"/>
                </a:ext>
              </a:extLst>
            </p:cNvPr>
            <p:cNvSpPr txBox="1"/>
            <p:nvPr/>
          </p:nvSpPr>
          <p:spPr>
            <a:xfrm>
              <a:off x="12619069" y="3266115"/>
              <a:ext cx="190919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 = Nonzero pixels in image2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D314FEE6-C8FB-9411-0496-9338A6E982A5}"/>
                </a:ext>
              </a:extLst>
            </p:cNvPr>
            <p:cNvSpPr txBox="1"/>
            <p:nvPr/>
          </p:nvSpPr>
          <p:spPr>
            <a:xfrm>
              <a:off x="10131228" y="7265253"/>
              <a:ext cx="275812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Nonzero pixels in both A and B</a:t>
              </a:r>
            </a:p>
          </p:txBody>
        </p:sp>
      </p:grp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BDCAB9-BD2D-741A-5B6F-E8614408F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8164C-7D56-4007-B8E5-2D2D09F7871E}" type="datetime1">
              <a:rPr lang="en-US" smtClean="0"/>
              <a:t>4/23/2026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A545B4-0511-6A62-0035-1CF88E935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77167-E697-4EBC-B8EC-2672F922F3D4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9430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9C8640-7B32-D31C-6A66-D31EBE6CEE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7B8459A-149F-F5E7-F3A2-511DF24549A9}"/>
              </a:ext>
            </a:extLst>
          </p:cNvPr>
          <p:cNvSpPr txBox="1"/>
          <p:nvPr/>
        </p:nvSpPr>
        <p:spPr>
          <a:xfrm>
            <a:off x="793789" y="2229492"/>
            <a:ext cx="7096763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0359A6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Perceptual Hash Similarity</a:t>
            </a:r>
            <a:endParaRPr lang="en-US" dirty="0">
              <a:solidFill>
                <a:srgbClr val="0359A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Captures visual similarity using frequency domain</a:t>
            </a:r>
            <a:endParaRPr lang="en-US" sz="2800" dirty="0">
              <a:solidFill>
                <a:srgbClr val="0359A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Steps: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Resize: 32 x 32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DCT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Take top-left 8 x 8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binary hash</a:t>
            </a:r>
            <a:endParaRPr lang="en-US" sz="2800" dirty="0">
              <a:solidFill>
                <a:srgbClr val="0359A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Similarity based on Hamming distance of the signatures</a:t>
            </a:r>
            <a:endParaRPr lang="en-US" sz="2800" i="1" dirty="0">
              <a:solidFill>
                <a:srgbClr val="0359A6"/>
              </a:solidFill>
              <a:latin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</a:rPr>
              <a:t>Robust to minor changes (noise, formatting)</a:t>
            </a:r>
          </a:p>
          <a:p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AC91CBE-44BC-2161-CF90-1E67CF90C19B}"/>
              </a:ext>
            </a:extLst>
          </p:cNvPr>
          <p:cNvSpPr/>
          <p:nvPr/>
        </p:nvSpPr>
        <p:spPr>
          <a:xfrm>
            <a:off x="782174" y="540065"/>
            <a:ext cx="13066052" cy="8489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5850"/>
              </a:lnSpc>
            </a:pPr>
            <a:r>
              <a:rPr lang="en-US" sz="5400" b="1" dirty="0">
                <a:solidFill>
                  <a:srgbClr val="0359A6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What I Had Implemented Till Midterm…</a:t>
            </a:r>
            <a:endParaRPr lang="en-US" sz="5400" dirty="0">
              <a:solidFill>
                <a:srgbClr val="0359A6"/>
              </a:solidFill>
              <a:latin typeface="Times New Roman" panose="02020603050405020304" pitchFamily="18" charset="0"/>
              <a:ea typeface="Petrona Bold"/>
              <a:cs typeface="Times New Roman" panose="02020603050405020304" pitchFamily="18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C01C80F-308B-6D79-2F88-15080AF6F2E2}"/>
              </a:ext>
            </a:extLst>
          </p:cNvPr>
          <p:cNvGrpSpPr/>
          <p:nvPr/>
        </p:nvGrpSpPr>
        <p:grpSpPr>
          <a:xfrm>
            <a:off x="8040323" y="2291828"/>
            <a:ext cx="5634580" cy="5200643"/>
            <a:chOff x="8040323" y="2291828"/>
            <a:chExt cx="5634580" cy="5200643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1CC814C2-9EBF-B6A9-A485-A1E883703AF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-298" r="21478"/>
            <a:stretch>
              <a:fillRect/>
            </a:stretch>
          </p:blipFill>
          <p:spPr>
            <a:xfrm>
              <a:off x="8040323" y="2291828"/>
              <a:ext cx="1978417" cy="1982912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DEBDF188-70EF-6E24-4E68-9C62FF60411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1423" b="1423"/>
            <a:stretch/>
          </p:blipFill>
          <p:spPr>
            <a:xfrm>
              <a:off x="11452573" y="2306059"/>
              <a:ext cx="1978417" cy="1922128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FA4654B-A8E4-FCAC-7CB8-4CDBEC301A07}"/>
                </a:ext>
              </a:extLst>
            </p:cNvPr>
            <p:cNvSpPr txBox="1"/>
            <p:nvPr/>
          </p:nvSpPr>
          <p:spPr>
            <a:xfrm>
              <a:off x="8342504" y="4345631"/>
              <a:ext cx="15616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359A6"/>
                  </a:solidFill>
                </a:rPr>
                <a:t>32 x 32 image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65C3DC2-8EE2-BDB0-2CFF-3B21882EBE50}"/>
                </a:ext>
              </a:extLst>
            </p:cNvPr>
            <p:cNvSpPr txBox="1"/>
            <p:nvPr/>
          </p:nvSpPr>
          <p:spPr>
            <a:xfrm>
              <a:off x="11869319" y="4345631"/>
              <a:ext cx="15616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359A6"/>
                  </a:solidFill>
                </a:rPr>
                <a:t>32 x 32 DCT</a:t>
              </a:r>
            </a:p>
          </p:txBody>
        </p:sp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B4A15617-A176-31ED-D36A-F573881D10B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3353" t="3630" r="3546"/>
            <a:stretch>
              <a:fillRect/>
            </a:stretch>
          </p:blipFill>
          <p:spPr>
            <a:xfrm>
              <a:off x="8079982" y="5052883"/>
              <a:ext cx="1824193" cy="1906500"/>
            </a:xfrm>
            <a:prstGeom prst="rect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DAEBA2F4-2E49-BB52-9AAF-65CB62007049}"/>
                </a:ext>
              </a:extLst>
            </p:cNvPr>
            <p:cNvSpPr txBox="1"/>
            <p:nvPr/>
          </p:nvSpPr>
          <p:spPr>
            <a:xfrm>
              <a:off x="8079982" y="7123139"/>
              <a:ext cx="182419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359A6"/>
                  </a:solidFill>
                </a:rPr>
                <a:t>Top-left 8x8 grid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8D62C20A-9A97-6161-F7CA-52D993CD0559}"/>
                </a:ext>
              </a:extLst>
            </p:cNvPr>
            <p:cNvSpPr txBox="1"/>
            <p:nvPr/>
          </p:nvSpPr>
          <p:spPr>
            <a:xfrm>
              <a:off x="11291299" y="5759054"/>
              <a:ext cx="2383604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rgbClr val="0359A6"/>
                  </a:solidFill>
                </a:rPr>
                <a:t>Hash signature:</a:t>
              </a:r>
              <a:r>
                <a:rPr lang="en-US" dirty="0"/>
                <a:t> </a:t>
              </a:r>
            </a:p>
            <a:p>
              <a:r>
                <a:rPr lang="en-US" dirty="0"/>
                <a:t>010100001011100110010101001010010000</a:t>
              </a:r>
            </a:p>
          </p:txBody>
        </p: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E76B1C26-8243-77F9-92F4-F29FE63FDD59}"/>
                </a:ext>
              </a:extLst>
            </p:cNvPr>
            <p:cNvCxnSpPr>
              <a:cxnSpLocks/>
            </p:cNvCxnSpPr>
            <p:nvPr/>
          </p:nvCxnSpPr>
          <p:spPr>
            <a:xfrm>
              <a:off x="10243334" y="3220949"/>
              <a:ext cx="883579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317A1613-C82F-0C99-2465-26F0962F5EF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093605" y="2919882"/>
              <a:ext cx="1645005" cy="2371847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2C48E611-4A00-397E-5A15-47B37CCB4795}"/>
                </a:ext>
              </a:extLst>
            </p:cNvPr>
            <p:cNvCxnSpPr>
              <a:cxnSpLocks/>
            </p:cNvCxnSpPr>
            <p:nvPr/>
          </p:nvCxnSpPr>
          <p:spPr>
            <a:xfrm>
              <a:off x="10243334" y="6209016"/>
              <a:ext cx="883579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1D765131-0D9F-D79D-F3F1-908D9EE83F5D}"/>
                </a:ext>
              </a:extLst>
            </p:cNvPr>
            <p:cNvSpPr/>
            <p:nvPr/>
          </p:nvSpPr>
          <p:spPr>
            <a:xfrm>
              <a:off x="11464003" y="2317489"/>
              <a:ext cx="560357" cy="574301"/>
            </a:xfrm>
            <a:prstGeom prst="rect">
              <a:avLst/>
            </a:prstGeom>
            <a:noFill/>
            <a:ln w="38100"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49FE0C2A-45D4-2926-51F8-62A5BAEE27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574FC-7E80-48EB-A2DC-7339453CD70D}" type="datetime1">
              <a:rPr lang="en-US" smtClean="0"/>
              <a:t>4/23/2026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92AA4F-3466-8972-E33B-CCACA73E5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77167-E697-4EBC-B8EC-2672F922F3D4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52510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9E4006-A2B0-43C1-226E-7C170A6305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03E000B-AEA1-3041-C98A-C0B88EEE05E7}"/>
                  </a:ext>
                </a:extLst>
              </p:cNvPr>
              <p:cNvSpPr txBox="1"/>
              <p:nvPr/>
            </p:nvSpPr>
            <p:spPr>
              <a:xfrm>
                <a:off x="793789" y="2229492"/>
                <a:ext cx="7096763" cy="5474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600" b="1" dirty="0">
                    <a:solidFill>
                      <a:srgbClr val="0359A6"/>
                    </a:solidFill>
                    <a:latin typeface="Times New Roman" panose="02020603050405020304" pitchFamily="18" charset="0"/>
                    <a:ea typeface="Petrona Bold" pitchFamily="34" charset="-122"/>
                    <a:cs typeface="Times New Roman" panose="02020603050405020304" pitchFamily="18" charset="0"/>
                  </a:rPr>
                  <a:t>Earth Mover’s Similarity</a:t>
                </a:r>
              </a:p>
              <a:p>
                <a:r>
                  <a:rPr lang="en-US" sz="3600" b="1" dirty="0">
                    <a:solidFill>
                      <a:srgbClr val="0359A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(Wasserstein Similarity)</a:t>
                </a:r>
                <a:endParaRPr lang="en-US" dirty="0">
                  <a:solidFill>
                    <a:srgbClr val="0359A6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Measures minimum effort to transform one image to another</a:t>
                </a:r>
                <a:endParaRPr lang="en-US" sz="2800" dirty="0">
                  <a:solidFill>
                    <a:srgbClr val="0359A6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Requirements: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Grayscale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Resize: 300 x 300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Solve min-cost flow optimization problem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Using Google </a:t>
                </a:r>
                <a:r>
                  <a:rPr lang="en-US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‘</a:t>
                </a:r>
                <a:r>
                  <a:rPr lang="en-US" sz="2800" i="1" dirty="0">
                    <a:solidFill>
                      <a:srgbClr val="0359A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OR-Tools’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to Compute Earth Mover’s Distance for Image Similarity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EMD similarity = 1 –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𝐸𝑀𝐷</m:t>
                        </m:r>
                        <m:d>
                          <m:dPr>
                            <m:ctrlPr>
                              <a:rPr lang="en-US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US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d>
                      </m:num>
                      <m:den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𝐸𝑀𝐷𝑚𝑎𝑥</m:t>
                        </m:r>
                      </m:den>
                    </m:f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03E000B-AEA1-3041-C98A-C0B88EEE05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789" y="2229492"/>
                <a:ext cx="7096763" cy="5474832"/>
              </a:xfrm>
              <a:prstGeom prst="rect">
                <a:avLst/>
              </a:prstGeom>
              <a:blipFill>
                <a:blip r:embed="rId3"/>
                <a:stretch>
                  <a:fillRect l="-2577" t="-1893" b="-8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C2D5A0F5-9427-AD42-51D6-C1762DDB269A}"/>
              </a:ext>
            </a:extLst>
          </p:cNvPr>
          <p:cNvSpPr/>
          <p:nvPr/>
        </p:nvSpPr>
        <p:spPr>
          <a:xfrm>
            <a:off x="782174" y="540065"/>
            <a:ext cx="13066052" cy="8489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5850"/>
              </a:lnSpc>
            </a:pPr>
            <a:r>
              <a:rPr lang="en-US" sz="5400" b="1" dirty="0">
                <a:solidFill>
                  <a:srgbClr val="0359A6"/>
                </a:solidFill>
                <a:latin typeface="Times New Roman" panose="02020603050405020304" pitchFamily="18" charset="0"/>
                <a:ea typeface="Petrona Bold"/>
                <a:cs typeface="Times New Roman" panose="02020603050405020304" pitchFamily="18" charset="0"/>
              </a:rPr>
              <a:t>Post-mid Implementation</a:t>
            </a:r>
            <a:endParaRPr lang="en-US" sz="5400" dirty="0">
              <a:solidFill>
                <a:srgbClr val="0359A6"/>
              </a:solidFill>
              <a:latin typeface="Times New Roman" panose="02020603050405020304" pitchFamily="18" charset="0"/>
              <a:ea typeface="Petrona Bold"/>
              <a:cs typeface="Times New Roman" panose="02020603050405020304" pitchFamily="18" charset="0"/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0AB1DC6B-D2AB-7209-1084-A2D1E99B062B}"/>
              </a:ext>
            </a:extLst>
          </p:cNvPr>
          <p:cNvGrpSpPr/>
          <p:nvPr/>
        </p:nvGrpSpPr>
        <p:grpSpPr>
          <a:xfrm>
            <a:off x="7610688" y="1200150"/>
            <a:ext cx="6491947" cy="5364381"/>
            <a:chOff x="7610688" y="1200150"/>
            <a:chExt cx="6491947" cy="5364381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A202FFB-C91C-A4FC-CA05-8E1E55691CCD}"/>
                </a:ext>
              </a:extLst>
            </p:cNvPr>
            <p:cNvSpPr txBox="1"/>
            <p:nvPr/>
          </p:nvSpPr>
          <p:spPr>
            <a:xfrm>
              <a:off x="8864600" y="5918200"/>
              <a:ext cx="44196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How Earth Mover’s Distance help finding similarities</a:t>
              </a:r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56EC7C0D-177A-8EDE-EB63-DD4B3184044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959626" y="1539058"/>
              <a:ext cx="1527215" cy="1206500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7AB057F8-A708-B8FE-8E7D-67A885B735D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2309396" y="1539058"/>
              <a:ext cx="1527215" cy="1206500"/>
            </a:xfrm>
            <a:prstGeom prst="rect">
              <a:avLst/>
            </a:prstGeom>
          </p:spPr>
        </p:pic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713B1C1F-8340-7129-9D87-9B9030E3A56E}"/>
                </a:ext>
              </a:extLst>
            </p:cNvPr>
            <p:cNvCxnSpPr/>
            <p:nvPr/>
          </p:nvCxnSpPr>
          <p:spPr>
            <a:xfrm>
              <a:off x="9624060" y="1200150"/>
              <a:ext cx="0" cy="459486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1FE74DA-146B-1EAB-426D-164878AFDC0F}"/>
                </a:ext>
              </a:extLst>
            </p:cNvPr>
            <p:cNvCxnSpPr/>
            <p:nvPr/>
          </p:nvCxnSpPr>
          <p:spPr>
            <a:xfrm>
              <a:off x="12131040" y="1209040"/>
              <a:ext cx="0" cy="459486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72A64930-DCC7-D970-CD37-B64642ED2BB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665197" y="1571136"/>
              <a:ext cx="918984" cy="477068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CC6CE7A8-E7FB-2007-E4D7-F5BFC92B2C6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1137652" y="3360278"/>
              <a:ext cx="918984" cy="477068"/>
            </a:xfrm>
            <a:prstGeom prst="rect">
              <a:avLst/>
            </a:prstGeom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7FBD7EF5-4D25-D7F5-2A70-C93BD634E38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684373" y="2400383"/>
              <a:ext cx="933076" cy="451623"/>
            </a:xfrm>
            <a:prstGeom prst="rect">
              <a:avLst/>
            </a:prstGeom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558F96A9-34C3-6B58-710B-0CA1C7E4BC7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0940972" y="4392255"/>
              <a:ext cx="1115663" cy="508226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46C3B2A6-D050-E954-5FE2-7D5DB1B0C27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9666539" y="3794264"/>
              <a:ext cx="956515" cy="875437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14834D49-0682-5821-FE09-71DBA435058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1122879" y="2176552"/>
              <a:ext cx="918984" cy="744447"/>
            </a:xfrm>
            <a:prstGeom prst="rect">
              <a:avLst/>
            </a:prstGeom>
          </p:spPr>
        </p:pic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6F593A94-C21A-C2DF-2CEB-58DD81BCAADC}"/>
                </a:ext>
              </a:extLst>
            </p:cNvPr>
            <p:cNvCxnSpPr>
              <a:cxnSpLocks/>
              <a:stCxn id="16" idx="3"/>
              <a:endCxn id="17" idx="1"/>
            </p:cNvCxnSpPr>
            <p:nvPr/>
          </p:nvCxnSpPr>
          <p:spPr>
            <a:xfrm>
              <a:off x="10584181" y="1809670"/>
              <a:ext cx="553471" cy="1789142"/>
            </a:xfrm>
            <a:prstGeom prst="line">
              <a:avLst/>
            </a:prstGeom>
            <a:ln w="38100" cap="flat" cmpd="sng" algn="ctr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87F89307-E144-2EAE-A474-45B4881E05AF}"/>
                </a:ext>
              </a:extLst>
            </p:cNvPr>
            <p:cNvCxnSpPr>
              <a:cxnSpLocks/>
              <a:stCxn id="23" idx="3"/>
              <a:endCxn id="25" idx="1"/>
            </p:cNvCxnSpPr>
            <p:nvPr/>
          </p:nvCxnSpPr>
          <p:spPr>
            <a:xfrm flipV="1">
              <a:off x="10623054" y="2548776"/>
              <a:ext cx="499825" cy="1683207"/>
            </a:xfrm>
            <a:prstGeom prst="line">
              <a:avLst/>
            </a:prstGeom>
            <a:ln w="38100" cap="flat" cmpd="sng" algn="ctr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180FB71B-2D75-CCA7-84A1-D8F2B9619CD2}"/>
                </a:ext>
              </a:extLst>
            </p:cNvPr>
            <p:cNvCxnSpPr>
              <a:cxnSpLocks/>
              <a:stCxn id="21" idx="1"/>
              <a:endCxn id="19" idx="3"/>
            </p:cNvCxnSpPr>
            <p:nvPr/>
          </p:nvCxnSpPr>
          <p:spPr>
            <a:xfrm flipH="1" flipV="1">
              <a:off x="10617449" y="2626195"/>
              <a:ext cx="323523" cy="2020173"/>
            </a:xfrm>
            <a:prstGeom prst="line">
              <a:avLst/>
            </a:prstGeom>
            <a:ln w="38100" cap="flat" cmpd="sng" algn="ctr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03A7D9F7-3521-554E-7EE1-0A3D774F84A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116086" y="3469869"/>
              <a:ext cx="918984" cy="477068"/>
            </a:xfrm>
            <a:prstGeom prst="rect">
              <a:avLst/>
            </a:prstGeom>
          </p:spPr>
        </p:pic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3C164942-3298-0A6F-A6FB-5FD165BE80F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610688" y="4228425"/>
              <a:ext cx="1876153" cy="378597"/>
            </a:xfrm>
            <a:prstGeom prst="rect">
              <a:avLst/>
            </a:prstGeom>
          </p:spPr>
        </p:pic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A60A0CAF-37D4-DA44-6B4C-445FCF53375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979729" y="4943898"/>
              <a:ext cx="1269911" cy="851111"/>
            </a:xfrm>
            <a:prstGeom prst="rect">
              <a:avLst/>
            </a:prstGeom>
          </p:spPr>
        </p:pic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7548A990-C2E5-E2FE-7589-E9EE295E7DE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2273835" y="4228425"/>
              <a:ext cx="1828800" cy="368901"/>
            </a:xfrm>
            <a:prstGeom prst="rect">
              <a:avLst/>
            </a:prstGeom>
          </p:spPr>
        </p:pic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7954AE20-A943-0EE6-69DF-0ED102B19EB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2725647" y="3454447"/>
              <a:ext cx="918984" cy="477068"/>
            </a:xfrm>
            <a:prstGeom prst="rect">
              <a:avLst/>
            </a:prstGeom>
          </p:spPr>
        </p:pic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F132D96E-BFE5-9804-554D-D5A90DC7A79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2454661" y="4894236"/>
              <a:ext cx="1555150" cy="902646"/>
            </a:xfrm>
            <a:prstGeom prst="rect">
              <a:avLst/>
            </a:prstGeom>
          </p:spPr>
        </p:pic>
      </p:grpSp>
      <p:sp>
        <p:nvSpPr>
          <p:cNvPr id="49" name="Date Placeholder 48">
            <a:extLst>
              <a:ext uri="{FF2B5EF4-FFF2-40B4-BE49-F238E27FC236}">
                <a16:creationId xmlns:a16="http://schemas.microsoft.com/office/drawing/2014/main" id="{0048BEDB-C8DA-A6DC-9E45-B6170F62F4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459B6-EE10-4988-9305-13C082218624}" type="datetime1">
              <a:rPr lang="en-US" smtClean="0"/>
              <a:t>4/23/2026</a:t>
            </a:fld>
            <a:endParaRPr lang="en-US"/>
          </a:p>
        </p:txBody>
      </p:sp>
      <p:sp>
        <p:nvSpPr>
          <p:cNvPr id="50" name="Slide Number Placeholder 49">
            <a:extLst>
              <a:ext uri="{FF2B5EF4-FFF2-40B4-BE49-F238E27FC236}">
                <a16:creationId xmlns:a16="http://schemas.microsoft.com/office/drawing/2014/main" id="{42A3D3D3-1FA6-66CF-957D-35759E48E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77167-E697-4EBC-B8EC-2672F922F3D4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940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B72662-9BDE-5279-4AD1-11FA73D4C4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D7035B9-00F3-AE72-4B44-D5F7F9370AFC}"/>
              </a:ext>
            </a:extLst>
          </p:cNvPr>
          <p:cNvSpPr txBox="1"/>
          <p:nvPr/>
        </p:nvSpPr>
        <p:spPr>
          <a:xfrm>
            <a:off x="793790" y="2229492"/>
            <a:ext cx="6674104" cy="3077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0359A6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Clang-formatter</a:t>
            </a:r>
            <a:endParaRPr lang="en-US" dirty="0">
              <a:solidFill>
                <a:srgbClr val="0359A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Clang-formatter used as linter to format codes before taking images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as an extension for the project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 dirty="0">
              <a:solidFill>
                <a:srgbClr val="0359A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221E85D-E96E-E412-4AF1-C1AC1E3526AA}"/>
              </a:ext>
            </a:extLst>
          </p:cNvPr>
          <p:cNvSpPr/>
          <p:nvPr/>
        </p:nvSpPr>
        <p:spPr>
          <a:xfrm>
            <a:off x="782174" y="540065"/>
            <a:ext cx="13066052" cy="8489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5850"/>
              </a:lnSpc>
            </a:pPr>
            <a:r>
              <a:rPr lang="en-US" sz="5400" b="1" dirty="0">
                <a:solidFill>
                  <a:srgbClr val="0359A6"/>
                </a:solidFill>
                <a:latin typeface="Times New Roman" panose="02020603050405020304" pitchFamily="18" charset="0"/>
                <a:ea typeface="Petrona Bold"/>
                <a:cs typeface="Times New Roman" panose="02020603050405020304" pitchFamily="18" charset="0"/>
              </a:rPr>
              <a:t>Post-mid Implementation</a:t>
            </a:r>
            <a:endParaRPr lang="en-US" sz="5400" dirty="0">
              <a:solidFill>
                <a:srgbClr val="0359A6"/>
              </a:solidFill>
              <a:latin typeface="Times New Roman" panose="02020603050405020304" pitchFamily="18" charset="0"/>
              <a:ea typeface="Petrona Bold"/>
              <a:cs typeface="Times New Roman" panose="02020603050405020304" pitchFamily="18" charset="0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32640E74-A03F-5E56-AB22-DADCC5123942}"/>
              </a:ext>
            </a:extLst>
          </p:cNvPr>
          <p:cNvGrpSpPr/>
          <p:nvPr/>
        </p:nvGrpSpPr>
        <p:grpSpPr>
          <a:xfrm>
            <a:off x="8508999" y="1038224"/>
            <a:ext cx="4724401" cy="6825632"/>
            <a:chOff x="8585199" y="771524"/>
            <a:chExt cx="4724401" cy="6825632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783F3B04-A201-9BE6-739A-E9E9E68F63B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585200" y="771524"/>
              <a:ext cx="4724400" cy="323879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FA9A0DB1-BFE2-F2F4-C629-662F69180F9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585199" y="4756597"/>
              <a:ext cx="4724401" cy="2840559"/>
            </a:xfrm>
            <a:prstGeom prst="rect">
              <a:avLst/>
            </a:prstGeom>
          </p:spPr>
        </p:pic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4215E634-A0B5-D3E5-91E6-A72167802C4F}"/>
                </a:ext>
              </a:extLst>
            </p:cNvPr>
            <p:cNvCxnSpPr>
              <a:cxnSpLocks/>
              <a:stCxn id="3" idx="2"/>
              <a:endCxn id="9" idx="0"/>
            </p:cNvCxnSpPr>
            <p:nvPr/>
          </p:nvCxnSpPr>
          <p:spPr>
            <a:xfrm>
              <a:off x="10947400" y="4010322"/>
              <a:ext cx="0" cy="746275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F0CF8F9C-026C-49B4-BFE2-2ADBD7E19DB5}"/>
                </a:ext>
              </a:extLst>
            </p:cNvPr>
            <p:cNvSpPr/>
            <p:nvPr/>
          </p:nvSpPr>
          <p:spPr>
            <a:xfrm>
              <a:off x="10934700" y="4187267"/>
              <a:ext cx="2169184" cy="338554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1600" b="0" cap="none" spc="0" dirty="0">
                  <a:ln w="0"/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Clang-formatter applied</a:t>
              </a:r>
            </a:p>
          </p:txBody>
        </p:sp>
      </p:grpSp>
      <p:sp>
        <p:nvSpPr>
          <p:cNvPr id="26" name="Date Placeholder 25">
            <a:extLst>
              <a:ext uri="{FF2B5EF4-FFF2-40B4-BE49-F238E27FC236}">
                <a16:creationId xmlns:a16="http://schemas.microsoft.com/office/drawing/2014/main" id="{3009ADD2-12FE-B803-77CE-021E9A721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1E66D-D798-45AE-8E62-8CC2B15FDAA6}" type="datetime1">
              <a:rPr lang="en-US" smtClean="0"/>
              <a:t>4/23/2026</a:t>
            </a:fld>
            <a:endParaRPr lang="en-US"/>
          </a:p>
        </p:txBody>
      </p:sp>
      <p:sp>
        <p:nvSpPr>
          <p:cNvPr id="28" name="Slide Number Placeholder 27">
            <a:extLst>
              <a:ext uri="{FF2B5EF4-FFF2-40B4-BE49-F238E27FC236}">
                <a16:creationId xmlns:a16="http://schemas.microsoft.com/office/drawing/2014/main" id="{420A3AD4-981B-DF34-F1BC-8DB8BA40A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77167-E697-4EBC-B8EC-2672F922F3D4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0178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844CB5-4885-7C71-F9B8-BF1286574B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129791B-78BE-FF3E-D6F7-FA2B1FA0CAAE}"/>
              </a:ext>
            </a:extLst>
          </p:cNvPr>
          <p:cNvSpPr txBox="1"/>
          <p:nvPr/>
        </p:nvSpPr>
        <p:spPr>
          <a:xfrm>
            <a:off x="793790" y="2229492"/>
            <a:ext cx="6674104" cy="3939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0359A6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GEXF file generation</a:t>
            </a:r>
            <a:endParaRPr lang="en-US" dirty="0">
              <a:solidFill>
                <a:srgbClr val="0359A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Gexf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files are used for visualizing the similarity scores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similar code fragments usually sticks together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Force Atlas 2 algorithm is used to visualize the scenario in Gephi Graph Visualizer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 dirty="0">
              <a:solidFill>
                <a:srgbClr val="0359A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9BE27C-74F1-0FF3-D9C9-8EF465AD5353}"/>
              </a:ext>
            </a:extLst>
          </p:cNvPr>
          <p:cNvSpPr/>
          <p:nvPr/>
        </p:nvSpPr>
        <p:spPr>
          <a:xfrm>
            <a:off x="782174" y="540065"/>
            <a:ext cx="13066052" cy="8489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5850"/>
              </a:lnSpc>
            </a:pPr>
            <a:r>
              <a:rPr lang="en-US" sz="5400" b="1" dirty="0">
                <a:solidFill>
                  <a:srgbClr val="0359A6"/>
                </a:solidFill>
                <a:latin typeface="Times New Roman" panose="02020603050405020304" pitchFamily="18" charset="0"/>
                <a:ea typeface="Petrona Bold"/>
                <a:cs typeface="Times New Roman" panose="02020603050405020304" pitchFamily="18" charset="0"/>
              </a:rPr>
              <a:t>Post-mid Implementation</a:t>
            </a:r>
            <a:endParaRPr lang="en-US" sz="5400" dirty="0">
              <a:solidFill>
                <a:srgbClr val="0359A6"/>
              </a:solidFill>
              <a:latin typeface="Times New Roman" panose="02020603050405020304" pitchFamily="18" charset="0"/>
              <a:ea typeface="Petrona Bold"/>
              <a:cs typeface="Times New Roman" panose="02020603050405020304" pitchFamily="18" charset="0"/>
            </a:endParaRPr>
          </a:p>
        </p:txBody>
      </p:sp>
      <p:sp>
        <p:nvSpPr>
          <p:cNvPr id="26" name="Date Placeholder 25">
            <a:extLst>
              <a:ext uri="{FF2B5EF4-FFF2-40B4-BE49-F238E27FC236}">
                <a16:creationId xmlns:a16="http://schemas.microsoft.com/office/drawing/2014/main" id="{8D0F0673-7A5D-59EC-0083-96E7CFC2AA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1E66D-D798-45AE-8E62-8CC2B15FDAA6}" type="datetime1">
              <a:rPr lang="en-US" smtClean="0"/>
              <a:t>4/23/2026</a:t>
            </a:fld>
            <a:endParaRPr lang="en-US"/>
          </a:p>
        </p:txBody>
      </p:sp>
      <p:sp>
        <p:nvSpPr>
          <p:cNvPr id="28" name="Slide Number Placeholder 27">
            <a:extLst>
              <a:ext uri="{FF2B5EF4-FFF2-40B4-BE49-F238E27FC236}">
                <a16:creationId xmlns:a16="http://schemas.microsoft.com/office/drawing/2014/main" id="{18C63B9A-5F88-E9D0-3A59-C99D90937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77167-E697-4EBC-B8EC-2672F922F3D4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4F21783-D269-43D0-56CB-39D68B8F77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3260" y="1583325"/>
            <a:ext cx="5845512" cy="5068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9262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90B3DF-C54F-BBEF-DE12-287769578B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C507C75-7403-298A-BADA-CFB5B27DB46C}"/>
              </a:ext>
            </a:extLst>
          </p:cNvPr>
          <p:cNvSpPr txBox="1"/>
          <p:nvPr/>
        </p:nvSpPr>
        <p:spPr>
          <a:xfrm>
            <a:off x="793789" y="1607192"/>
            <a:ext cx="12668211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Pairwise similarity (single &amp; directory)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Multi-algorithm support: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Jaccard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pHash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Processing Pipeline: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to Image conversion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Normalization + Resizing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extraction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CSV (scores)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GEXF (graph visualization)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Weighted scoring system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Clang-based code formatting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Doxygen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-style header comments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E48524B-F355-FE6C-9349-466CAFA101E9}"/>
              </a:ext>
            </a:extLst>
          </p:cNvPr>
          <p:cNvSpPr/>
          <p:nvPr/>
        </p:nvSpPr>
        <p:spPr>
          <a:xfrm>
            <a:off x="782174" y="540065"/>
            <a:ext cx="13066052" cy="8489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5850"/>
              </a:lnSpc>
            </a:pPr>
            <a:r>
              <a:rPr lang="en-US" sz="5400" b="1" dirty="0">
                <a:solidFill>
                  <a:srgbClr val="0359A6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Features Implemented</a:t>
            </a:r>
            <a:endParaRPr lang="en-US" sz="5400" dirty="0">
              <a:solidFill>
                <a:srgbClr val="0359A6"/>
              </a:solidFill>
              <a:latin typeface="Times New Roman" panose="02020603050405020304" pitchFamily="18" charset="0"/>
              <a:ea typeface="Petrona Bold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BD1FA3-54F2-5EF6-2B13-593B84DB57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E2DB0-9534-4CA8-BA48-81D799A8C81A}" type="datetime1">
              <a:rPr lang="en-US" smtClean="0"/>
              <a:t>4/23/2026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4CF7467-E3ED-2298-86A9-6BD15CA8D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77167-E697-4EBC-B8EC-2672F922F3D4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01432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A6ED3B-5684-0900-9D37-C58EB1F65B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3FC6C2CB-9AE4-F4BD-4401-967297B07C5B}"/>
              </a:ext>
            </a:extLst>
          </p:cNvPr>
          <p:cNvGrpSpPr/>
          <p:nvPr/>
        </p:nvGrpSpPr>
        <p:grpSpPr>
          <a:xfrm>
            <a:off x="793791" y="2238783"/>
            <a:ext cx="2508209" cy="2336329"/>
            <a:chOff x="793790" y="3362562"/>
            <a:chExt cx="6244709" cy="3273625"/>
          </a:xfrm>
          <a:noFill/>
        </p:grpSpPr>
        <p:sp>
          <p:nvSpPr>
            <p:cNvPr id="4" name="Shape 2">
              <a:extLst>
                <a:ext uri="{FF2B5EF4-FFF2-40B4-BE49-F238E27FC236}">
                  <a16:creationId xmlns:a16="http://schemas.microsoft.com/office/drawing/2014/main" id="{F8D0CF1B-6D5F-8A97-39AA-4B96891670B2}"/>
                </a:ext>
              </a:extLst>
            </p:cNvPr>
            <p:cNvSpPr/>
            <p:nvPr/>
          </p:nvSpPr>
          <p:spPr>
            <a:xfrm>
              <a:off x="793790" y="3362562"/>
              <a:ext cx="6244709" cy="3273625"/>
            </a:xfrm>
            <a:prstGeom prst="roundRect">
              <a:avLst>
                <a:gd name="adj" fmla="val 10745"/>
              </a:avLst>
            </a:prstGeom>
            <a:grpFill/>
            <a:ln w="30480">
              <a:solidFill>
                <a:srgbClr val="0359A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 3">
              <a:extLst>
                <a:ext uri="{FF2B5EF4-FFF2-40B4-BE49-F238E27FC236}">
                  <a16:creationId xmlns:a16="http://schemas.microsoft.com/office/drawing/2014/main" id="{F3CE6AD1-680D-CB63-0040-E806B5EBC6EF}"/>
                </a:ext>
              </a:extLst>
            </p:cNvPr>
            <p:cNvSpPr/>
            <p:nvPr/>
          </p:nvSpPr>
          <p:spPr>
            <a:xfrm>
              <a:off x="1120634" y="4489674"/>
              <a:ext cx="5591016" cy="1673314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0" tIns="0" rIns="0" bIns="0" rtlCol="0" anchor="t"/>
            <a:lstStyle/>
            <a:p>
              <a:pPr algn="ctr">
                <a:lnSpc>
                  <a:spcPts val="2900"/>
                </a:lnSpc>
              </a:pPr>
              <a:r>
                <a:rPr lang="en-US" sz="3200" b="1" dirty="0">
                  <a:latin typeface="Times New Roman" panose="02020603050405020304" pitchFamily="18" charset="0"/>
                  <a:ea typeface="Inter" panose="020B0604020202020204" charset="0"/>
                  <a:cs typeface="Times New Roman" panose="02020603050405020304" pitchFamily="18" charset="0"/>
                </a:rPr>
                <a:t>Input Images</a:t>
              </a:r>
            </a:p>
            <a:p>
              <a:pPr algn="ctr">
                <a:lnSpc>
                  <a:spcPts val="2900"/>
                </a:lnSpc>
              </a:pPr>
              <a:r>
                <a:rPr lang="en-US" sz="2000" dirty="0">
                  <a:latin typeface="Times New Roman" panose="02020603050405020304" pitchFamily="18" charset="0"/>
                  <a:ea typeface="Inter" panose="020B0604020202020204" charset="0"/>
                  <a:cs typeface="Times New Roman" panose="02020603050405020304" pitchFamily="18" charset="0"/>
                </a:rPr>
                <a:t>(Under the </a:t>
              </a:r>
            </a:p>
            <a:p>
              <a:pPr algn="ctr">
                <a:lnSpc>
                  <a:spcPts val="2900"/>
                </a:lnSpc>
              </a:pPr>
              <a:r>
                <a:rPr lang="en-US" sz="2000" dirty="0">
                  <a:latin typeface="Times New Roman" panose="02020603050405020304" pitchFamily="18" charset="0"/>
                  <a:ea typeface="Inter" panose="020B0604020202020204" charset="0"/>
                  <a:cs typeface="Times New Roman" panose="02020603050405020304" pitchFamily="18" charset="0"/>
                </a:rPr>
                <a:t>assumptions)</a:t>
              </a: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64D5889D-BF52-D79F-3389-8779F889B099}"/>
              </a:ext>
            </a:extLst>
          </p:cNvPr>
          <p:cNvGrpSpPr/>
          <p:nvPr/>
        </p:nvGrpSpPr>
        <p:grpSpPr>
          <a:xfrm>
            <a:off x="3302000" y="2257452"/>
            <a:ext cx="3511536" cy="2321026"/>
            <a:chOff x="3302000" y="2257452"/>
            <a:chExt cx="3511536" cy="2321026"/>
          </a:xfrm>
          <a:noFill/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C813BF41-B2E8-A08A-E352-A4084114872A}"/>
                </a:ext>
              </a:extLst>
            </p:cNvPr>
            <p:cNvGrpSpPr/>
            <p:nvPr/>
          </p:nvGrpSpPr>
          <p:grpSpPr>
            <a:xfrm>
              <a:off x="4305327" y="2257452"/>
              <a:ext cx="2508209" cy="2321026"/>
              <a:chOff x="793790" y="3362562"/>
              <a:chExt cx="6244709" cy="3273625"/>
            </a:xfrm>
            <a:grpFill/>
          </p:grpSpPr>
          <p:sp>
            <p:nvSpPr>
              <p:cNvPr id="7" name="Shape 2">
                <a:extLst>
                  <a:ext uri="{FF2B5EF4-FFF2-40B4-BE49-F238E27FC236}">
                    <a16:creationId xmlns:a16="http://schemas.microsoft.com/office/drawing/2014/main" id="{1C39575B-7EFE-664B-E7CA-331D8A12BD21}"/>
                  </a:ext>
                </a:extLst>
              </p:cNvPr>
              <p:cNvSpPr/>
              <p:nvPr/>
            </p:nvSpPr>
            <p:spPr>
              <a:xfrm>
                <a:off x="793790" y="3362562"/>
                <a:ext cx="6244709" cy="3273625"/>
              </a:xfrm>
              <a:prstGeom prst="roundRect">
                <a:avLst>
                  <a:gd name="adj" fmla="val 10745"/>
                </a:avLst>
              </a:prstGeom>
              <a:grpFill/>
              <a:ln w="30480">
                <a:solidFill>
                  <a:srgbClr val="0359A6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Text 3">
                <a:extLst>
                  <a:ext uri="{FF2B5EF4-FFF2-40B4-BE49-F238E27FC236}">
                    <a16:creationId xmlns:a16="http://schemas.microsoft.com/office/drawing/2014/main" id="{9BBE76F4-987B-54E3-A2F6-B7C90A4FE648}"/>
                  </a:ext>
                </a:extLst>
              </p:cNvPr>
              <p:cNvSpPr/>
              <p:nvPr/>
            </p:nvSpPr>
            <p:spPr>
              <a:xfrm>
                <a:off x="1120636" y="4497810"/>
                <a:ext cx="5591016" cy="1659049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wrap="none" lIns="0" tIns="0" rIns="0" bIns="0" rtlCol="0" anchor="t"/>
              <a:lstStyle/>
              <a:p>
                <a:pPr algn="l">
                  <a:lnSpc>
                    <a:spcPts val="2900"/>
                  </a:lnSpc>
                </a:pPr>
                <a:r>
                  <a:rPr lang="en-US" sz="2800" b="1" dirty="0">
                    <a:latin typeface="Times New Roman" panose="02020603050405020304" pitchFamily="18" charset="0"/>
                    <a:ea typeface="Inter" panose="020B0604020202020204" charset="0"/>
                    <a:cs typeface="Times New Roman" panose="02020603050405020304" pitchFamily="18" charset="0"/>
                  </a:rPr>
                  <a:t>Normalization</a:t>
                </a:r>
              </a:p>
              <a:p>
                <a:pPr algn="ctr">
                  <a:lnSpc>
                    <a:spcPts val="2900"/>
                  </a:lnSpc>
                </a:pPr>
                <a:r>
                  <a:rPr lang="en-US" sz="2000" dirty="0">
                    <a:latin typeface="Times New Roman" panose="02020603050405020304" pitchFamily="18" charset="0"/>
                    <a:ea typeface="Inter" panose="020B0604020202020204" charset="0"/>
                    <a:cs typeface="Times New Roman" panose="02020603050405020304" pitchFamily="18" charset="0"/>
                  </a:rPr>
                  <a:t>(Padding and </a:t>
                </a:r>
              </a:p>
              <a:p>
                <a:pPr algn="ctr">
                  <a:lnSpc>
                    <a:spcPts val="2900"/>
                  </a:lnSpc>
                </a:pPr>
                <a:r>
                  <a:rPr lang="en-US" sz="2000" dirty="0">
                    <a:latin typeface="Times New Roman" panose="02020603050405020304" pitchFamily="18" charset="0"/>
                    <a:ea typeface="Inter" panose="020B0604020202020204" charset="0"/>
                    <a:cs typeface="Times New Roman" panose="02020603050405020304" pitchFamily="18" charset="0"/>
                  </a:rPr>
                  <a:t>scaling)</a:t>
                </a:r>
              </a:p>
              <a:p>
                <a:pPr algn="ctr">
                  <a:lnSpc>
                    <a:spcPts val="2900"/>
                  </a:lnSpc>
                </a:pPr>
                <a:endParaRPr lang="en-US" sz="2800" dirty="0">
                  <a:latin typeface="Times New Roman" panose="02020603050405020304" pitchFamily="18" charset="0"/>
                  <a:ea typeface="Inter" panose="020B0604020202020204" charset="0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C99331D5-3AEA-0DFF-6388-4447445459D3}"/>
                </a:ext>
              </a:extLst>
            </p:cNvPr>
            <p:cNvCxnSpPr>
              <a:cxnSpLocks/>
              <a:stCxn id="4" idx="3"/>
              <a:endCxn id="7" idx="1"/>
            </p:cNvCxnSpPr>
            <p:nvPr/>
          </p:nvCxnSpPr>
          <p:spPr>
            <a:xfrm>
              <a:off x="3302000" y="3406948"/>
              <a:ext cx="1003327" cy="11017"/>
            </a:xfrm>
            <a:prstGeom prst="straightConnector1">
              <a:avLst/>
            </a:prstGeom>
            <a:grpFill/>
            <a:ln>
              <a:solidFill>
                <a:srgbClr val="0359A6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7A67F34C-D36D-F615-800B-FFE1EDAD6C9E}"/>
              </a:ext>
            </a:extLst>
          </p:cNvPr>
          <p:cNvGrpSpPr/>
          <p:nvPr/>
        </p:nvGrpSpPr>
        <p:grpSpPr>
          <a:xfrm>
            <a:off x="6813536" y="2260817"/>
            <a:ext cx="3511536" cy="2321026"/>
            <a:chOff x="6813536" y="2260817"/>
            <a:chExt cx="3511536" cy="2321026"/>
          </a:xfrm>
          <a:noFill/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59076FF2-49D7-5092-22A3-C3B0C644E8A2}"/>
                </a:ext>
              </a:extLst>
            </p:cNvPr>
            <p:cNvGrpSpPr/>
            <p:nvPr/>
          </p:nvGrpSpPr>
          <p:grpSpPr>
            <a:xfrm>
              <a:off x="7816863" y="2260817"/>
              <a:ext cx="2508209" cy="2321026"/>
              <a:chOff x="793790" y="3362562"/>
              <a:chExt cx="6244709" cy="3273625"/>
            </a:xfrm>
            <a:grpFill/>
          </p:grpSpPr>
          <p:sp>
            <p:nvSpPr>
              <p:cNvPr id="12" name="Shape 2">
                <a:extLst>
                  <a:ext uri="{FF2B5EF4-FFF2-40B4-BE49-F238E27FC236}">
                    <a16:creationId xmlns:a16="http://schemas.microsoft.com/office/drawing/2014/main" id="{3B0FAF2C-AEF3-C6A6-B8E1-E374C4531653}"/>
                  </a:ext>
                </a:extLst>
              </p:cNvPr>
              <p:cNvSpPr/>
              <p:nvPr/>
            </p:nvSpPr>
            <p:spPr>
              <a:xfrm>
                <a:off x="793790" y="3362562"/>
                <a:ext cx="6244709" cy="3273625"/>
              </a:xfrm>
              <a:prstGeom prst="roundRect">
                <a:avLst>
                  <a:gd name="adj" fmla="val 10745"/>
                </a:avLst>
              </a:prstGeom>
              <a:grpFill/>
              <a:ln w="30480">
                <a:solidFill>
                  <a:srgbClr val="0359A6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" name="Text 3">
                <a:extLst>
                  <a:ext uri="{FF2B5EF4-FFF2-40B4-BE49-F238E27FC236}">
                    <a16:creationId xmlns:a16="http://schemas.microsoft.com/office/drawing/2014/main" id="{1DBFCDB2-2B5E-B1EB-471E-63883E71228E}"/>
                  </a:ext>
                </a:extLst>
              </p:cNvPr>
              <p:cNvSpPr/>
              <p:nvPr/>
            </p:nvSpPr>
            <p:spPr>
              <a:xfrm>
                <a:off x="1447483" y="4736006"/>
                <a:ext cx="5591016" cy="632045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wrap="none" lIns="0" tIns="0" rIns="0" bIns="0" rtlCol="0" anchor="t"/>
              <a:lstStyle/>
              <a:p>
                <a:pPr algn="l">
                  <a:lnSpc>
                    <a:spcPts val="2900"/>
                  </a:lnSpc>
                </a:pPr>
                <a:r>
                  <a:rPr lang="en-US" sz="2800" b="1" dirty="0">
                    <a:latin typeface="Times New Roman" panose="02020603050405020304" pitchFamily="18" charset="0"/>
                    <a:ea typeface="Inter" panose="020B0604020202020204" charset="0"/>
                    <a:cs typeface="Times New Roman" panose="02020603050405020304" pitchFamily="18" charset="0"/>
                  </a:rPr>
                  <a:t>Gray-scaling</a:t>
                </a:r>
              </a:p>
            </p:txBody>
          </p:sp>
        </p:grp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62DE90F9-5B24-430E-000D-A37F37F61D80}"/>
                </a:ext>
              </a:extLst>
            </p:cNvPr>
            <p:cNvCxnSpPr>
              <a:cxnSpLocks/>
              <a:stCxn id="7" idx="3"/>
              <a:endCxn id="12" idx="1"/>
            </p:cNvCxnSpPr>
            <p:nvPr/>
          </p:nvCxnSpPr>
          <p:spPr>
            <a:xfrm>
              <a:off x="6813536" y="3417965"/>
              <a:ext cx="1003327" cy="3365"/>
            </a:xfrm>
            <a:prstGeom prst="straightConnector1">
              <a:avLst/>
            </a:prstGeom>
            <a:grpFill/>
            <a:ln>
              <a:solidFill>
                <a:srgbClr val="0359A6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3E529DFD-5E7D-A647-34CA-4A68E1DB934F}"/>
              </a:ext>
            </a:extLst>
          </p:cNvPr>
          <p:cNvGrpSpPr/>
          <p:nvPr/>
        </p:nvGrpSpPr>
        <p:grpSpPr>
          <a:xfrm>
            <a:off x="10325072" y="2260817"/>
            <a:ext cx="3511536" cy="2346426"/>
            <a:chOff x="10325072" y="2260817"/>
            <a:chExt cx="3511536" cy="2346426"/>
          </a:xfrm>
          <a:noFill/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42035E25-1E43-CDB0-8C9B-2EB0D996E6FC}"/>
                </a:ext>
              </a:extLst>
            </p:cNvPr>
            <p:cNvGrpSpPr/>
            <p:nvPr/>
          </p:nvGrpSpPr>
          <p:grpSpPr>
            <a:xfrm>
              <a:off x="11328399" y="2260817"/>
              <a:ext cx="2508209" cy="2346426"/>
              <a:chOff x="793790" y="3362562"/>
              <a:chExt cx="6244709" cy="3273625"/>
            </a:xfrm>
            <a:grpFill/>
          </p:grpSpPr>
          <p:sp>
            <p:nvSpPr>
              <p:cNvPr id="16" name="Shape 2">
                <a:extLst>
                  <a:ext uri="{FF2B5EF4-FFF2-40B4-BE49-F238E27FC236}">
                    <a16:creationId xmlns:a16="http://schemas.microsoft.com/office/drawing/2014/main" id="{5565A206-D3D5-1024-1B94-E2FD9F947ABD}"/>
                  </a:ext>
                </a:extLst>
              </p:cNvPr>
              <p:cNvSpPr/>
              <p:nvPr/>
            </p:nvSpPr>
            <p:spPr>
              <a:xfrm>
                <a:off x="793790" y="3362562"/>
                <a:ext cx="6244709" cy="3273625"/>
              </a:xfrm>
              <a:prstGeom prst="roundRect">
                <a:avLst>
                  <a:gd name="adj" fmla="val 10745"/>
                </a:avLst>
              </a:prstGeom>
              <a:grpFill/>
              <a:ln w="30480">
                <a:solidFill>
                  <a:srgbClr val="0359A6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Text 3">
                <a:extLst>
                  <a:ext uri="{FF2B5EF4-FFF2-40B4-BE49-F238E27FC236}">
                    <a16:creationId xmlns:a16="http://schemas.microsoft.com/office/drawing/2014/main" id="{20DDD637-0C68-AD1B-C725-804FAA35BC5F}"/>
                  </a:ext>
                </a:extLst>
              </p:cNvPr>
              <p:cNvSpPr/>
              <p:nvPr/>
            </p:nvSpPr>
            <p:spPr>
              <a:xfrm>
                <a:off x="1051084" y="4745449"/>
                <a:ext cx="5591016" cy="636573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wrap="none" lIns="0" tIns="0" rIns="0" bIns="0" rtlCol="0" anchor="t"/>
              <a:lstStyle/>
              <a:p>
                <a:pPr algn="ctr">
                  <a:lnSpc>
                    <a:spcPts val="2900"/>
                  </a:lnSpc>
                </a:pPr>
                <a:r>
                  <a:rPr lang="en-US" sz="2800" b="1" dirty="0">
                    <a:latin typeface="Times New Roman" panose="02020603050405020304" pitchFamily="18" charset="0"/>
                    <a:ea typeface="Inter" panose="020B0604020202020204" charset="0"/>
                    <a:cs typeface="Times New Roman" panose="02020603050405020304" pitchFamily="18" charset="0"/>
                  </a:rPr>
                  <a:t>Gaussian blur</a:t>
                </a:r>
              </a:p>
            </p:txBody>
          </p:sp>
        </p:grp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71FDB2FE-B580-4B50-BC0D-218224732C10}"/>
                </a:ext>
              </a:extLst>
            </p:cNvPr>
            <p:cNvCxnSpPr>
              <a:cxnSpLocks/>
              <a:stCxn id="12" idx="3"/>
              <a:endCxn id="16" idx="1"/>
            </p:cNvCxnSpPr>
            <p:nvPr/>
          </p:nvCxnSpPr>
          <p:spPr>
            <a:xfrm>
              <a:off x="10325072" y="3421330"/>
              <a:ext cx="1003327" cy="12700"/>
            </a:xfrm>
            <a:prstGeom prst="straightConnector1">
              <a:avLst/>
            </a:prstGeom>
            <a:grpFill/>
            <a:ln>
              <a:solidFill>
                <a:srgbClr val="0359A6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9FE54186-ABEC-0C97-7C1A-18D648083CB8}"/>
              </a:ext>
            </a:extLst>
          </p:cNvPr>
          <p:cNvGrpSpPr/>
          <p:nvPr/>
        </p:nvGrpSpPr>
        <p:grpSpPr>
          <a:xfrm>
            <a:off x="8743963" y="4607242"/>
            <a:ext cx="3838542" cy="2819401"/>
            <a:chOff x="7816863" y="4607242"/>
            <a:chExt cx="3838542" cy="2819401"/>
          </a:xfrm>
          <a:noFill/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302F9002-77D4-8CAA-F1AB-1D920908348A}"/>
                </a:ext>
              </a:extLst>
            </p:cNvPr>
            <p:cNvGrpSpPr/>
            <p:nvPr/>
          </p:nvGrpSpPr>
          <p:grpSpPr>
            <a:xfrm>
              <a:off x="7816863" y="5105617"/>
              <a:ext cx="2508209" cy="2321026"/>
              <a:chOff x="793790" y="3362562"/>
              <a:chExt cx="6244709" cy="3273625"/>
            </a:xfrm>
            <a:grpFill/>
          </p:grpSpPr>
          <p:sp>
            <p:nvSpPr>
              <p:cNvPr id="28" name="Shape 2">
                <a:extLst>
                  <a:ext uri="{FF2B5EF4-FFF2-40B4-BE49-F238E27FC236}">
                    <a16:creationId xmlns:a16="http://schemas.microsoft.com/office/drawing/2014/main" id="{A31551D1-47D3-BF2D-57C6-C3BEA5D621CF}"/>
                  </a:ext>
                </a:extLst>
              </p:cNvPr>
              <p:cNvSpPr/>
              <p:nvPr/>
            </p:nvSpPr>
            <p:spPr>
              <a:xfrm>
                <a:off x="793790" y="3362562"/>
                <a:ext cx="6244709" cy="3273625"/>
              </a:xfrm>
              <a:prstGeom prst="roundRect">
                <a:avLst>
                  <a:gd name="adj" fmla="val 10745"/>
                </a:avLst>
              </a:prstGeom>
              <a:grpFill/>
              <a:ln w="30480">
                <a:solidFill>
                  <a:srgbClr val="0359A6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Text 3">
                <a:extLst>
                  <a:ext uri="{FF2B5EF4-FFF2-40B4-BE49-F238E27FC236}">
                    <a16:creationId xmlns:a16="http://schemas.microsoft.com/office/drawing/2014/main" id="{BE9DCA81-6FED-65EB-9806-35A7D29011EB}"/>
                  </a:ext>
                </a:extLst>
              </p:cNvPr>
              <p:cNvSpPr/>
              <p:nvPr/>
            </p:nvSpPr>
            <p:spPr>
              <a:xfrm>
                <a:off x="1120634" y="3970882"/>
                <a:ext cx="5591016" cy="2286931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wrap="none" lIns="0" tIns="0" rIns="0" bIns="0" rtlCol="0" anchor="t"/>
              <a:lstStyle/>
              <a:p>
                <a:pPr algn="ctr">
                  <a:lnSpc>
                    <a:spcPts val="2900"/>
                  </a:lnSpc>
                </a:pPr>
                <a:r>
                  <a:rPr lang="en-US" sz="3200" b="1" dirty="0">
                    <a:latin typeface="Times New Roman" panose="02020603050405020304" pitchFamily="18" charset="0"/>
                    <a:ea typeface="Inter" panose="020B0604020202020204" charset="0"/>
                    <a:cs typeface="Times New Roman" panose="02020603050405020304" pitchFamily="18" charset="0"/>
                  </a:rPr>
                  <a:t>Similarity </a:t>
                </a:r>
              </a:p>
              <a:p>
                <a:pPr algn="ctr">
                  <a:lnSpc>
                    <a:spcPts val="2900"/>
                  </a:lnSpc>
                </a:pPr>
                <a:r>
                  <a:rPr lang="en-US" sz="3200" b="1" dirty="0">
                    <a:latin typeface="Times New Roman" panose="02020603050405020304" pitchFamily="18" charset="0"/>
                    <a:ea typeface="Inter" panose="020B0604020202020204" charset="0"/>
                    <a:cs typeface="Times New Roman" panose="02020603050405020304" pitchFamily="18" charset="0"/>
                  </a:rPr>
                  <a:t>Algorithms</a:t>
                </a:r>
              </a:p>
              <a:p>
                <a:pPr algn="ctr">
                  <a:lnSpc>
                    <a:spcPts val="2900"/>
                  </a:lnSpc>
                </a:pPr>
                <a:r>
                  <a:rPr lang="en-US" dirty="0">
                    <a:latin typeface="Times New Roman" panose="02020603050405020304" pitchFamily="18" charset="0"/>
                    <a:ea typeface="Inter" panose="020B0604020202020204" charset="0"/>
                    <a:cs typeface="Times New Roman" panose="02020603050405020304" pitchFamily="18" charset="0"/>
                  </a:rPr>
                  <a:t>(Jaccard [1], p-Hash [1],</a:t>
                </a:r>
              </a:p>
              <a:p>
                <a:pPr algn="ctr">
                  <a:lnSpc>
                    <a:spcPts val="2900"/>
                  </a:lnSpc>
                </a:pPr>
                <a:r>
                  <a:rPr lang="en-US" dirty="0">
                    <a:latin typeface="Times New Roman" panose="02020603050405020304" pitchFamily="18" charset="0"/>
                    <a:ea typeface="Inter" panose="020B0604020202020204" charset="0"/>
                    <a:cs typeface="Times New Roman" panose="02020603050405020304" pitchFamily="18" charset="0"/>
                  </a:rPr>
                  <a:t>EMD [2])</a:t>
                </a:r>
              </a:p>
            </p:txBody>
          </p:sp>
        </p:grpSp>
        <p:cxnSp>
          <p:nvCxnSpPr>
            <p:cNvPr id="48" name="Connector: Elbow 47">
              <a:extLst>
                <a:ext uri="{FF2B5EF4-FFF2-40B4-BE49-F238E27FC236}">
                  <a16:creationId xmlns:a16="http://schemas.microsoft.com/office/drawing/2014/main" id="{46A28333-5FBF-51DF-7D9E-53A1F00DA865}"/>
                </a:ext>
              </a:extLst>
            </p:cNvPr>
            <p:cNvCxnSpPr>
              <a:cxnSpLocks/>
              <a:stCxn id="16" idx="2"/>
              <a:endCxn id="28" idx="3"/>
            </p:cNvCxnSpPr>
            <p:nvPr/>
          </p:nvCxnSpPr>
          <p:spPr>
            <a:xfrm rot="5400000">
              <a:off x="10160795" y="4771520"/>
              <a:ext cx="1658887" cy="1330332"/>
            </a:xfrm>
            <a:prstGeom prst="bentConnector2">
              <a:avLst/>
            </a:prstGeom>
            <a:grpFill/>
            <a:ln>
              <a:solidFill>
                <a:srgbClr val="0359A6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38C95634-4E40-6580-E5C5-D898CD6E9F8E}"/>
              </a:ext>
            </a:extLst>
          </p:cNvPr>
          <p:cNvGrpSpPr/>
          <p:nvPr/>
        </p:nvGrpSpPr>
        <p:grpSpPr>
          <a:xfrm>
            <a:off x="5204490" y="5089820"/>
            <a:ext cx="3526773" cy="2336329"/>
            <a:chOff x="4277390" y="5089820"/>
            <a:chExt cx="3526773" cy="2336329"/>
          </a:xfrm>
          <a:noFill/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FEC6422D-837D-3336-1625-2C3DBE443BCF}"/>
                </a:ext>
              </a:extLst>
            </p:cNvPr>
            <p:cNvGrpSpPr/>
            <p:nvPr/>
          </p:nvGrpSpPr>
          <p:grpSpPr>
            <a:xfrm>
              <a:off x="4277390" y="5089820"/>
              <a:ext cx="2508209" cy="2336329"/>
              <a:chOff x="793790" y="3362562"/>
              <a:chExt cx="6244709" cy="3273625"/>
            </a:xfrm>
            <a:grpFill/>
          </p:grpSpPr>
          <p:sp>
            <p:nvSpPr>
              <p:cNvPr id="34" name="Shape 2">
                <a:extLst>
                  <a:ext uri="{FF2B5EF4-FFF2-40B4-BE49-F238E27FC236}">
                    <a16:creationId xmlns:a16="http://schemas.microsoft.com/office/drawing/2014/main" id="{3B5F34BF-8B34-DADC-2829-F1B7AA33DDC2}"/>
                  </a:ext>
                </a:extLst>
              </p:cNvPr>
              <p:cNvSpPr/>
              <p:nvPr/>
            </p:nvSpPr>
            <p:spPr>
              <a:xfrm>
                <a:off x="793790" y="3362562"/>
                <a:ext cx="6244709" cy="3273625"/>
              </a:xfrm>
              <a:prstGeom prst="roundRect">
                <a:avLst>
                  <a:gd name="adj" fmla="val 10745"/>
                </a:avLst>
              </a:prstGeom>
              <a:grpFill/>
              <a:ln w="30480">
                <a:solidFill>
                  <a:srgbClr val="0359A6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Text 3">
                <a:extLst>
                  <a:ext uri="{FF2B5EF4-FFF2-40B4-BE49-F238E27FC236}">
                    <a16:creationId xmlns:a16="http://schemas.microsoft.com/office/drawing/2014/main" id="{9F7EA1B1-A03E-5328-D73A-55D30B1EF8AE}"/>
                  </a:ext>
                </a:extLst>
              </p:cNvPr>
              <p:cNvSpPr/>
              <p:nvPr/>
            </p:nvSpPr>
            <p:spPr>
              <a:xfrm>
                <a:off x="1120634" y="4042888"/>
                <a:ext cx="5591016" cy="2251764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wrap="none" lIns="0" tIns="0" rIns="0" bIns="0" rtlCol="0" anchor="t"/>
              <a:lstStyle/>
              <a:p>
                <a:pPr algn="ctr">
                  <a:lnSpc>
                    <a:spcPts val="2900"/>
                  </a:lnSpc>
                </a:pPr>
                <a:r>
                  <a:rPr lang="en-US" sz="3200" b="1" dirty="0">
                    <a:latin typeface="Times New Roman" panose="02020603050405020304" pitchFamily="18" charset="0"/>
                    <a:ea typeface="Inter" panose="020B0604020202020204" charset="0"/>
                    <a:cs typeface="Times New Roman" panose="02020603050405020304" pitchFamily="18" charset="0"/>
                  </a:rPr>
                  <a:t>Output </a:t>
                </a:r>
              </a:p>
              <a:p>
                <a:pPr algn="ctr">
                  <a:lnSpc>
                    <a:spcPts val="2900"/>
                  </a:lnSpc>
                </a:pPr>
                <a:r>
                  <a:rPr lang="en-US" sz="3200" b="1" dirty="0">
                    <a:latin typeface="Times New Roman" panose="02020603050405020304" pitchFamily="18" charset="0"/>
                    <a:ea typeface="Inter" panose="020B0604020202020204" charset="0"/>
                    <a:cs typeface="Times New Roman" panose="02020603050405020304" pitchFamily="18" charset="0"/>
                  </a:rPr>
                  <a:t>CSV files</a:t>
                </a:r>
              </a:p>
              <a:p>
                <a:pPr algn="ctr">
                  <a:lnSpc>
                    <a:spcPts val="2900"/>
                  </a:lnSpc>
                </a:pPr>
                <a:r>
                  <a:rPr lang="en-US" sz="2000" dirty="0">
                    <a:latin typeface="Times New Roman" panose="02020603050405020304" pitchFamily="18" charset="0"/>
                    <a:ea typeface="Inter" panose="020B0604020202020204" charset="0"/>
                    <a:cs typeface="Times New Roman" panose="02020603050405020304" pitchFamily="18" charset="0"/>
                  </a:rPr>
                  <a:t>(With similarity</a:t>
                </a:r>
              </a:p>
              <a:p>
                <a:pPr algn="ctr">
                  <a:lnSpc>
                    <a:spcPts val="2900"/>
                  </a:lnSpc>
                </a:pPr>
                <a:r>
                  <a:rPr lang="en-US" sz="2000" dirty="0">
                    <a:latin typeface="Times New Roman" panose="02020603050405020304" pitchFamily="18" charset="0"/>
                    <a:ea typeface="Inter" panose="020B0604020202020204" charset="0"/>
                    <a:cs typeface="Times New Roman" panose="02020603050405020304" pitchFamily="18" charset="0"/>
                  </a:rPr>
                  <a:t>Scores of files)</a:t>
                </a:r>
                <a:endParaRPr lang="en-US" sz="3200" dirty="0">
                  <a:latin typeface="Times New Roman" panose="02020603050405020304" pitchFamily="18" charset="0"/>
                  <a:ea typeface="Inter" panose="020B0604020202020204" charset="0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5F4B7015-07BB-0955-006C-AC5CF31C1A39}"/>
                </a:ext>
              </a:extLst>
            </p:cNvPr>
            <p:cNvCxnSpPr>
              <a:cxnSpLocks/>
              <a:stCxn id="28" idx="1"/>
              <a:endCxn id="34" idx="3"/>
            </p:cNvCxnSpPr>
            <p:nvPr/>
          </p:nvCxnSpPr>
          <p:spPr>
            <a:xfrm flipH="1" flipV="1">
              <a:off x="6785599" y="6257985"/>
              <a:ext cx="1018564" cy="8145"/>
            </a:xfrm>
            <a:prstGeom prst="straightConnector1">
              <a:avLst/>
            </a:prstGeom>
            <a:grpFill/>
            <a:ln>
              <a:solidFill>
                <a:srgbClr val="0359A6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1AF65166-26A4-F28B-6835-B01DA7452C24}"/>
              </a:ext>
            </a:extLst>
          </p:cNvPr>
          <p:cNvSpPr/>
          <p:nvPr/>
        </p:nvSpPr>
        <p:spPr>
          <a:xfrm>
            <a:off x="782174" y="540065"/>
            <a:ext cx="13066052" cy="8489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5850"/>
              </a:lnSpc>
            </a:pPr>
            <a:r>
              <a:rPr lang="en-US" sz="5400" b="1" dirty="0">
                <a:solidFill>
                  <a:srgbClr val="0359A6"/>
                </a:solidFill>
                <a:latin typeface="Times New Roman" panose="02020603050405020304" pitchFamily="18" charset="0"/>
                <a:ea typeface="Petrona Bold"/>
                <a:cs typeface="Times New Roman" panose="02020603050405020304" pitchFamily="18" charset="0"/>
              </a:rPr>
              <a:t>Work Flow</a:t>
            </a:r>
            <a:endParaRPr lang="en-US" sz="5400" dirty="0">
              <a:solidFill>
                <a:srgbClr val="0359A6"/>
              </a:solidFill>
              <a:latin typeface="Times New Roman" panose="02020603050405020304" pitchFamily="18" charset="0"/>
              <a:ea typeface="Petrona Bold"/>
              <a:cs typeface="Times New Roman" panose="02020603050405020304" pitchFamily="18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E59A694-2878-D100-CE06-91DF053727EF}"/>
              </a:ext>
            </a:extLst>
          </p:cNvPr>
          <p:cNvGrpSpPr/>
          <p:nvPr/>
        </p:nvGrpSpPr>
        <p:grpSpPr>
          <a:xfrm>
            <a:off x="1675166" y="5089820"/>
            <a:ext cx="3526773" cy="2336329"/>
            <a:chOff x="4277390" y="5089820"/>
            <a:chExt cx="3526773" cy="2336329"/>
          </a:xfrm>
          <a:noFill/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FD67C31F-7839-D845-D453-EAB244569245}"/>
                </a:ext>
              </a:extLst>
            </p:cNvPr>
            <p:cNvGrpSpPr/>
            <p:nvPr/>
          </p:nvGrpSpPr>
          <p:grpSpPr>
            <a:xfrm>
              <a:off x="4277390" y="5089820"/>
              <a:ext cx="2508209" cy="2336329"/>
              <a:chOff x="793790" y="3362562"/>
              <a:chExt cx="6244709" cy="3273625"/>
            </a:xfrm>
            <a:grpFill/>
          </p:grpSpPr>
          <p:sp>
            <p:nvSpPr>
              <p:cNvPr id="19" name="Shape 2">
                <a:extLst>
                  <a:ext uri="{FF2B5EF4-FFF2-40B4-BE49-F238E27FC236}">
                    <a16:creationId xmlns:a16="http://schemas.microsoft.com/office/drawing/2014/main" id="{F56D034C-0B51-C341-7DD8-7AB7647F0CF8}"/>
                  </a:ext>
                </a:extLst>
              </p:cNvPr>
              <p:cNvSpPr/>
              <p:nvPr/>
            </p:nvSpPr>
            <p:spPr>
              <a:xfrm>
                <a:off x="793790" y="3362562"/>
                <a:ext cx="6244709" cy="3273625"/>
              </a:xfrm>
              <a:prstGeom prst="roundRect">
                <a:avLst>
                  <a:gd name="adj" fmla="val 10745"/>
                </a:avLst>
              </a:prstGeom>
              <a:grpFill/>
              <a:ln w="30480">
                <a:solidFill>
                  <a:srgbClr val="0359A6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" name="Text 3">
                <a:extLst>
                  <a:ext uri="{FF2B5EF4-FFF2-40B4-BE49-F238E27FC236}">
                    <a16:creationId xmlns:a16="http://schemas.microsoft.com/office/drawing/2014/main" id="{295E658C-4FCA-B140-0607-23F17C11350D}"/>
                  </a:ext>
                </a:extLst>
              </p:cNvPr>
              <p:cNvSpPr/>
              <p:nvPr/>
            </p:nvSpPr>
            <p:spPr>
              <a:xfrm>
                <a:off x="1120634" y="4042888"/>
                <a:ext cx="5591016" cy="2251764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wrap="none" lIns="0" tIns="0" rIns="0" bIns="0" rtlCol="0" anchor="t"/>
              <a:lstStyle/>
              <a:p>
                <a:pPr algn="ctr">
                  <a:lnSpc>
                    <a:spcPts val="2900"/>
                  </a:lnSpc>
                </a:pPr>
                <a:r>
                  <a:rPr lang="en-US" sz="3200" b="1" dirty="0">
                    <a:latin typeface="Times New Roman" panose="02020603050405020304" pitchFamily="18" charset="0"/>
                    <a:ea typeface="Inter" panose="020B0604020202020204" charset="0"/>
                    <a:cs typeface="Times New Roman" panose="02020603050405020304" pitchFamily="18" charset="0"/>
                  </a:rPr>
                  <a:t>Output </a:t>
                </a:r>
              </a:p>
              <a:p>
                <a:pPr algn="ctr">
                  <a:lnSpc>
                    <a:spcPts val="2900"/>
                  </a:lnSpc>
                </a:pPr>
                <a:r>
                  <a:rPr lang="en-US" sz="3200" b="1" dirty="0">
                    <a:latin typeface="Times New Roman" panose="02020603050405020304" pitchFamily="18" charset="0"/>
                    <a:ea typeface="Inter" panose="020B0604020202020204" charset="0"/>
                    <a:cs typeface="Times New Roman" panose="02020603050405020304" pitchFamily="18" charset="0"/>
                  </a:rPr>
                  <a:t>GEXF files</a:t>
                </a:r>
              </a:p>
              <a:p>
                <a:pPr algn="ctr">
                  <a:lnSpc>
                    <a:spcPts val="2900"/>
                  </a:lnSpc>
                </a:pPr>
                <a:r>
                  <a:rPr lang="en-US" sz="2000" dirty="0">
                    <a:latin typeface="Times New Roman" panose="02020603050405020304" pitchFamily="18" charset="0"/>
                    <a:ea typeface="Inter" panose="020B0604020202020204" charset="0"/>
                    <a:cs typeface="Times New Roman" panose="02020603050405020304" pitchFamily="18" charset="0"/>
                  </a:rPr>
                  <a:t>(For visualization</a:t>
                </a:r>
              </a:p>
              <a:p>
                <a:pPr algn="ctr">
                  <a:lnSpc>
                    <a:spcPts val="2900"/>
                  </a:lnSpc>
                </a:pPr>
                <a:r>
                  <a:rPr lang="en-US" sz="2000" dirty="0">
                    <a:latin typeface="Times New Roman" panose="02020603050405020304" pitchFamily="18" charset="0"/>
                    <a:ea typeface="Inter" panose="020B0604020202020204" charset="0"/>
                    <a:cs typeface="Times New Roman" panose="02020603050405020304" pitchFamily="18" charset="0"/>
                  </a:rPr>
                  <a:t>With Force Atlas 2)</a:t>
                </a:r>
                <a:endParaRPr lang="en-US" sz="3200" dirty="0">
                  <a:latin typeface="Times New Roman" panose="02020603050405020304" pitchFamily="18" charset="0"/>
                  <a:ea typeface="Inter" panose="020B0604020202020204" charset="0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EC1E1C5C-383D-5585-9636-00B5FAF51971}"/>
                </a:ext>
              </a:extLst>
            </p:cNvPr>
            <p:cNvCxnSpPr>
              <a:cxnSpLocks/>
              <a:endCxn id="19" idx="3"/>
            </p:cNvCxnSpPr>
            <p:nvPr/>
          </p:nvCxnSpPr>
          <p:spPr>
            <a:xfrm flipH="1" flipV="1">
              <a:off x="6785599" y="6257985"/>
              <a:ext cx="1018564" cy="8145"/>
            </a:xfrm>
            <a:prstGeom prst="straightConnector1">
              <a:avLst/>
            </a:prstGeom>
            <a:grpFill/>
            <a:ln>
              <a:solidFill>
                <a:srgbClr val="0359A6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2" name="Date Placeholder 21">
            <a:extLst>
              <a:ext uri="{FF2B5EF4-FFF2-40B4-BE49-F238E27FC236}">
                <a16:creationId xmlns:a16="http://schemas.microsoft.com/office/drawing/2014/main" id="{DC25E589-533F-0930-0EFE-50AB1EA43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92F1C-525F-4C3E-8C80-918C3A2350D7}" type="datetime1">
              <a:rPr lang="en-US" smtClean="0"/>
              <a:t>4/23/2026</a:t>
            </a:fld>
            <a:endParaRPr lang="en-US"/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6ECAF600-C689-1B84-C98E-5881F2BBC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77167-E697-4EBC-B8EC-2672F922F3D4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8619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7648A8-C67D-9902-3B24-CF58BB36D9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338F353-33EB-5B9C-BD5E-CEF881463942}"/>
              </a:ext>
            </a:extLst>
          </p:cNvPr>
          <p:cNvSpPr/>
          <p:nvPr/>
        </p:nvSpPr>
        <p:spPr>
          <a:xfrm>
            <a:off x="782174" y="540065"/>
            <a:ext cx="13066052" cy="8489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5850"/>
              </a:lnSpc>
            </a:pPr>
            <a:r>
              <a:rPr lang="en-US" sz="5400" b="1" dirty="0">
                <a:solidFill>
                  <a:srgbClr val="0359A6"/>
                </a:solidFill>
                <a:latin typeface="Times New Roman" panose="02020603050405020304" pitchFamily="18" charset="0"/>
                <a:ea typeface="Petrona Bold"/>
                <a:cs typeface="Times New Roman" panose="02020603050405020304" pitchFamily="18" charset="0"/>
              </a:rPr>
              <a:t>Project Screenshots</a:t>
            </a:r>
            <a:endParaRPr lang="en-US" sz="5400" dirty="0">
              <a:solidFill>
                <a:srgbClr val="0359A6"/>
              </a:solidFill>
              <a:latin typeface="Times New Roman" panose="02020603050405020304" pitchFamily="18" charset="0"/>
              <a:ea typeface="Petrona Bold"/>
              <a:cs typeface="Times New Roman" panose="02020603050405020304" pitchFamily="18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4DA56B6-A821-8B89-787F-2CD33A96E16F}"/>
              </a:ext>
            </a:extLst>
          </p:cNvPr>
          <p:cNvGrpSpPr/>
          <p:nvPr/>
        </p:nvGrpSpPr>
        <p:grpSpPr>
          <a:xfrm>
            <a:off x="920608" y="1660767"/>
            <a:ext cx="13733819" cy="4624594"/>
            <a:chOff x="933308" y="1660767"/>
            <a:chExt cx="13733819" cy="4624594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82BDDFB-D7C8-6D8E-701E-4F0C05ED550A}"/>
                </a:ext>
              </a:extLst>
            </p:cNvPr>
            <p:cNvSpPr txBox="1"/>
            <p:nvPr/>
          </p:nvSpPr>
          <p:spPr>
            <a:xfrm>
              <a:off x="10910673" y="3434455"/>
              <a:ext cx="3756454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Intro Screen with interactive menu</a:t>
              </a: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FAD156F6-A766-FE6E-DCA0-410CF493C55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33308" y="1660767"/>
              <a:ext cx="10096784" cy="4624594"/>
            </a:xfrm>
            <a:prstGeom prst="rect">
              <a:avLst/>
            </a:prstGeom>
          </p:spPr>
        </p:pic>
      </p:grp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4FF53B1-0BA9-651C-62A3-57120D2DF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DB677-8046-4357-944E-5E93FB8534A3}" type="datetime1">
              <a:rPr lang="en-US" smtClean="0"/>
              <a:t>4/23/2026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80E034A-8EF9-7C72-015C-4CFBF4102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77167-E697-4EBC-B8EC-2672F922F3D4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4554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946090-04B4-EAE7-5866-C6AB5840B4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46C14AF-FD5C-FE8D-D403-45F10F3ACDBA}"/>
              </a:ext>
            </a:extLst>
          </p:cNvPr>
          <p:cNvSpPr/>
          <p:nvPr/>
        </p:nvSpPr>
        <p:spPr>
          <a:xfrm>
            <a:off x="782174" y="540065"/>
            <a:ext cx="13066052" cy="8489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5850"/>
              </a:lnSpc>
            </a:pPr>
            <a:r>
              <a:rPr lang="en-US" sz="5400" b="1" dirty="0">
                <a:solidFill>
                  <a:srgbClr val="0359A6"/>
                </a:solidFill>
                <a:latin typeface="Times New Roman" panose="02020603050405020304" pitchFamily="18" charset="0"/>
                <a:ea typeface="Petrona Bold"/>
                <a:cs typeface="Times New Roman" panose="02020603050405020304" pitchFamily="18" charset="0"/>
              </a:rPr>
              <a:t>Project Screenshots</a:t>
            </a:r>
            <a:endParaRPr lang="en-US" sz="5400" dirty="0">
              <a:solidFill>
                <a:srgbClr val="0359A6"/>
              </a:solidFill>
              <a:latin typeface="Times New Roman" panose="02020603050405020304" pitchFamily="18" charset="0"/>
              <a:ea typeface="Petrona Bold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6B10517-A675-A78A-4137-01165BF5C8B9}"/>
              </a:ext>
            </a:extLst>
          </p:cNvPr>
          <p:cNvSpPr txBox="1"/>
          <p:nvPr/>
        </p:nvSpPr>
        <p:spPr>
          <a:xfrm>
            <a:off x="10148570" y="3422302"/>
            <a:ext cx="265176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Directory based similarity generation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18D67E8-7B95-69DA-703E-F3EADC267B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144" y="1410814"/>
            <a:ext cx="8278956" cy="6216691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C7E4A52-AF4C-2B43-3A0C-B3051CB4EE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51B7C-44AA-4C3B-AD72-949060E0BA05}" type="datetime1">
              <a:rPr lang="en-US" smtClean="0"/>
              <a:t>4/23/2026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A3BCA13-66EC-B765-E83C-3208B69DF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77167-E697-4EBC-B8EC-2672F922F3D4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2901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B6B30-61C3-A285-3C87-F63FD36DBA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4631860-EEB4-0400-FFDB-A2D7EE727295}"/>
              </a:ext>
            </a:extLst>
          </p:cNvPr>
          <p:cNvSpPr/>
          <p:nvPr/>
        </p:nvSpPr>
        <p:spPr>
          <a:xfrm>
            <a:off x="782174" y="540065"/>
            <a:ext cx="13066052" cy="8489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5850"/>
              </a:lnSpc>
            </a:pPr>
            <a:r>
              <a:rPr lang="en-US" sz="5400" b="1" dirty="0">
                <a:solidFill>
                  <a:srgbClr val="0359A6"/>
                </a:solidFill>
                <a:latin typeface="Times New Roman" panose="02020603050405020304" pitchFamily="18" charset="0"/>
                <a:ea typeface="Petrona Bold"/>
                <a:cs typeface="Times New Roman" panose="02020603050405020304" pitchFamily="18" charset="0"/>
              </a:rPr>
              <a:t>Project Screenshots</a:t>
            </a:r>
            <a:endParaRPr lang="en-US" sz="5400" dirty="0">
              <a:solidFill>
                <a:srgbClr val="0359A6"/>
              </a:solidFill>
              <a:latin typeface="Times New Roman" panose="02020603050405020304" pitchFamily="18" charset="0"/>
              <a:ea typeface="Petrona Bold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9B5304F-D938-567B-DA4C-9EC6717BC7DF}"/>
              </a:ext>
            </a:extLst>
          </p:cNvPr>
          <p:cNvSpPr txBox="1"/>
          <p:nvPr/>
        </p:nvSpPr>
        <p:spPr>
          <a:xfrm>
            <a:off x="10151110" y="2914427"/>
            <a:ext cx="265176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Similarities shown on console and .csv and .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gexf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stored on directories for further visualization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B375C7B-97EC-136C-03C5-ADBD418A45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22" y="1430067"/>
            <a:ext cx="7191778" cy="6254562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ABEB5A-89C1-0879-90BA-DC352A8C4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8A17D-7CB3-4878-9162-869D61594627}" type="datetime1">
              <a:rPr lang="en-US" smtClean="0"/>
              <a:t>4/23/2026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2E03BC-FB07-B04A-820E-4DE0B6F82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77167-E697-4EBC-B8EC-2672F922F3D4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3622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E1C612-B384-4F7D-DB9C-3B118B54A8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CA2BB72-2336-5667-9440-CC415EFAD374}"/>
              </a:ext>
            </a:extLst>
          </p:cNvPr>
          <p:cNvSpPr/>
          <p:nvPr/>
        </p:nvSpPr>
        <p:spPr>
          <a:xfrm>
            <a:off x="782174" y="540065"/>
            <a:ext cx="13066052" cy="8489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5850"/>
              </a:lnSpc>
            </a:pPr>
            <a:r>
              <a:rPr lang="en-US" sz="5400" b="1" dirty="0">
                <a:solidFill>
                  <a:srgbClr val="0359A6"/>
                </a:solidFill>
                <a:latin typeface="Times New Roman" panose="02020603050405020304" pitchFamily="18" charset="0"/>
                <a:ea typeface="Petrona Bold"/>
                <a:cs typeface="Times New Roman" panose="02020603050405020304" pitchFamily="18" charset="0"/>
              </a:rPr>
              <a:t>Project Screenshots</a:t>
            </a:r>
            <a:endParaRPr lang="en-US" sz="5400" dirty="0">
              <a:solidFill>
                <a:srgbClr val="0359A6"/>
              </a:solidFill>
              <a:latin typeface="Times New Roman" panose="02020603050405020304" pitchFamily="18" charset="0"/>
              <a:ea typeface="Petrona Bold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6963EA6-437B-EC8C-B218-24D9DD7EFD0D}"/>
              </a:ext>
            </a:extLst>
          </p:cNvPr>
          <p:cNvSpPr txBox="1"/>
          <p:nvPr/>
        </p:nvSpPr>
        <p:spPr>
          <a:xfrm>
            <a:off x="9027676" y="3206859"/>
            <a:ext cx="458597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gexf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files visualized on Gephi Graph visualizer using Modularity Class and Force Atlas 2 algorithm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F0A80F5-48A6-2EB5-E6F0-9F49F04FC3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174" y="1389015"/>
            <a:ext cx="6837826" cy="592942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7381518-ED9C-B838-323F-CBADCA3F561F}"/>
              </a:ext>
            </a:extLst>
          </p:cNvPr>
          <p:cNvSpPr/>
          <p:nvPr/>
        </p:nvSpPr>
        <p:spPr>
          <a:xfrm>
            <a:off x="909174" y="4353725"/>
            <a:ext cx="2875426" cy="2682075"/>
          </a:xfrm>
          <a:prstGeom prst="rect">
            <a:avLst/>
          </a:prstGeom>
          <a:noFill/>
          <a:ln w="57150">
            <a:solidFill>
              <a:srgbClr val="FF558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1C31A39-09FE-1704-1034-D3A6C60E6F31}"/>
              </a:ext>
            </a:extLst>
          </p:cNvPr>
          <p:cNvSpPr/>
          <p:nvPr/>
        </p:nvSpPr>
        <p:spPr>
          <a:xfrm>
            <a:off x="2890374" y="1930382"/>
            <a:ext cx="2875426" cy="1945494"/>
          </a:xfrm>
          <a:prstGeom prst="rect">
            <a:avLst/>
          </a:prstGeom>
          <a:noFill/>
          <a:ln w="57150">
            <a:solidFill>
              <a:srgbClr val="DF89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3511275-ED33-4C4F-0745-6EA86576660A}"/>
              </a:ext>
            </a:extLst>
          </p:cNvPr>
          <p:cNvSpPr/>
          <p:nvPr/>
        </p:nvSpPr>
        <p:spPr>
          <a:xfrm>
            <a:off x="5892800" y="1930382"/>
            <a:ext cx="1765300" cy="3149618"/>
          </a:xfrm>
          <a:prstGeom prst="rect">
            <a:avLst/>
          </a:prstGeom>
          <a:noFill/>
          <a:ln w="57150">
            <a:solidFill>
              <a:srgbClr val="00C4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359A6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DAA465A-E55E-5078-7C0D-362ED81A8DBE}"/>
              </a:ext>
            </a:extLst>
          </p:cNvPr>
          <p:cNvSpPr/>
          <p:nvPr/>
        </p:nvSpPr>
        <p:spPr>
          <a:xfrm>
            <a:off x="8900676" y="1116780"/>
            <a:ext cx="482055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Similar Codes!!!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63947C7-253F-A607-DC0B-277D4B67B835}"/>
              </a:ext>
            </a:extLst>
          </p:cNvPr>
          <p:cNvCxnSpPr>
            <a:cxnSpLocks/>
            <a:stCxn id="8" idx="3"/>
          </p:cNvCxnSpPr>
          <p:nvPr/>
        </p:nvCxnSpPr>
        <p:spPr>
          <a:xfrm flipV="1">
            <a:off x="7658100" y="2051032"/>
            <a:ext cx="2108200" cy="1454159"/>
          </a:xfrm>
          <a:prstGeom prst="straightConnector1">
            <a:avLst/>
          </a:prstGeom>
          <a:ln w="38100">
            <a:solidFill>
              <a:srgbClr val="00C4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9CDEFF8-C99B-E631-A11F-8E763DB38323}"/>
              </a:ext>
            </a:extLst>
          </p:cNvPr>
          <p:cNvCxnSpPr>
            <a:cxnSpLocks/>
            <a:stCxn id="7" idx="3"/>
          </p:cNvCxnSpPr>
          <p:nvPr/>
        </p:nvCxnSpPr>
        <p:spPr>
          <a:xfrm flipV="1">
            <a:off x="5765800" y="1965730"/>
            <a:ext cx="3098802" cy="937399"/>
          </a:xfrm>
          <a:prstGeom prst="straightConnector1">
            <a:avLst/>
          </a:prstGeom>
          <a:ln w="38100">
            <a:solidFill>
              <a:srgbClr val="DF89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E6821B7-5025-140C-BE71-7A12081D01F4}"/>
              </a:ext>
            </a:extLst>
          </p:cNvPr>
          <p:cNvCxnSpPr>
            <a:cxnSpLocks/>
            <a:stCxn id="5" idx="0"/>
            <a:endCxn id="9" idx="1"/>
          </p:cNvCxnSpPr>
          <p:nvPr/>
        </p:nvCxnSpPr>
        <p:spPr>
          <a:xfrm flipV="1">
            <a:off x="2346887" y="1578445"/>
            <a:ext cx="6553789" cy="2775280"/>
          </a:xfrm>
          <a:prstGeom prst="straightConnector1">
            <a:avLst/>
          </a:prstGeom>
          <a:ln w="38100">
            <a:solidFill>
              <a:srgbClr val="FF558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Date Placeholder 21">
            <a:extLst>
              <a:ext uri="{FF2B5EF4-FFF2-40B4-BE49-F238E27FC236}">
                <a16:creationId xmlns:a16="http://schemas.microsoft.com/office/drawing/2014/main" id="{95665BB5-75D7-1901-2BE1-D13175407A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45454-C60D-45E9-8E7E-9F2B3C289E13}" type="datetime1">
              <a:rPr lang="en-US" smtClean="0"/>
              <a:t>4/23/2026</a:t>
            </a:fld>
            <a:endParaRPr lang="en-US"/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1690E83E-987E-7699-9349-2193B3ECC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77167-E697-4EBC-B8EC-2672F922F3D4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598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81BCF3-EA1E-E820-1AD8-25A836B53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59205D0-E112-286E-31E8-0558FF2813AF}"/>
              </a:ext>
            </a:extLst>
          </p:cNvPr>
          <p:cNvSpPr/>
          <p:nvPr/>
        </p:nvSpPr>
        <p:spPr>
          <a:xfrm>
            <a:off x="782174" y="540065"/>
            <a:ext cx="13066052" cy="8489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5850"/>
              </a:lnSpc>
            </a:pPr>
            <a:r>
              <a:rPr lang="en-US" sz="5400" b="1" dirty="0">
                <a:solidFill>
                  <a:srgbClr val="0359A6"/>
                </a:solidFill>
                <a:latin typeface="Times New Roman" panose="02020603050405020304" pitchFamily="18" charset="0"/>
                <a:ea typeface="Petrona Bold"/>
                <a:cs typeface="Times New Roman" panose="02020603050405020304" pitchFamily="18" charset="0"/>
              </a:rPr>
              <a:t>Conclusion</a:t>
            </a:r>
            <a:endParaRPr lang="en-US" sz="5400" dirty="0">
              <a:solidFill>
                <a:srgbClr val="0359A6"/>
              </a:solidFill>
              <a:latin typeface="Times New Roman" panose="02020603050405020304" pitchFamily="18" charset="0"/>
              <a:ea typeface="Petrona Bold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11B3135-9D92-5867-D685-B8F0268FADCF}"/>
              </a:ext>
            </a:extLst>
          </p:cNvPr>
          <p:cNvSpPr txBox="1"/>
          <p:nvPr/>
        </p:nvSpPr>
        <p:spPr>
          <a:xfrm>
            <a:off x="782174" y="1783080"/>
            <a:ext cx="882396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a multi-algorithm clone detection system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Combined: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Structural (Jaccard)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Frequency-based 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pHash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Distribution-based (EMD)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Accurate and flexible similarity detection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E700A4-BD92-3B4F-552E-C68A4B366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08CA8-8F19-4F06-8B41-BEC7E317AB10}" type="datetime1">
              <a:rPr lang="en-US" smtClean="0"/>
              <a:t>4/23/2026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2010E5-F4E6-0DFE-EED6-A7FD55752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77167-E697-4EBC-B8EC-2672F922F3D4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0441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D54148-3F84-0DEC-2193-EDEF13D2DA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FE7E609-8136-525C-D066-60E5076625F3}"/>
              </a:ext>
            </a:extLst>
          </p:cNvPr>
          <p:cNvSpPr/>
          <p:nvPr/>
        </p:nvSpPr>
        <p:spPr>
          <a:xfrm>
            <a:off x="782174" y="3690325"/>
            <a:ext cx="13066052" cy="160556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>
              <a:lnSpc>
                <a:spcPts val="5850"/>
              </a:lnSpc>
            </a:pPr>
            <a:r>
              <a:rPr lang="en-US" sz="5400" b="1" dirty="0">
                <a:solidFill>
                  <a:srgbClr val="0359A6"/>
                </a:solidFill>
                <a:latin typeface="Times New Roman" panose="02020603050405020304" pitchFamily="18" charset="0"/>
                <a:ea typeface="Petrona Bold"/>
                <a:cs typeface="Times New Roman" panose="02020603050405020304" pitchFamily="18" charset="0"/>
              </a:rPr>
              <a:t>Thank you</a:t>
            </a:r>
          </a:p>
          <a:p>
            <a:pPr algn="ctr">
              <a:lnSpc>
                <a:spcPts val="5850"/>
              </a:lnSpc>
            </a:pPr>
            <a:r>
              <a:rPr lang="en-US" sz="5400" b="1" dirty="0">
                <a:solidFill>
                  <a:srgbClr val="0359A6"/>
                </a:solidFill>
                <a:latin typeface="Times New Roman" panose="02020603050405020304" pitchFamily="18" charset="0"/>
                <a:ea typeface="Petrona Bold"/>
                <a:cs typeface="Times New Roman" panose="02020603050405020304" pitchFamily="18" charset="0"/>
              </a:rPr>
              <a:t>Questions?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162241-63D4-F09D-D180-0965231DE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6FC9C-1680-4F4C-9E6F-720D97D82DAD}" type="datetime1">
              <a:rPr lang="en-US" smtClean="0"/>
              <a:t>4/23/2026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B30EA67-E64E-0CAB-6E30-BC069DC5D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77167-E697-4EBC-B8EC-2672F922F3D4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10680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C130E4-AA05-BE55-B51F-F99317C51B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B54A1D0-D37C-66E5-0041-CCDFE3746D76}"/>
              </a:ext>
            </a:extLst>
          </p:cNvPr>
          <p:cNvSpPr/>
          <p:nvPr/>
        </p:nvSpPr>
        <p:spPr>
          <a:xfrm>
            <a:off x="782174" y="540065"/>
            <a:ext cx="13066052" cy="8489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5850"/>
              </a:lnSpc>
            </a:pPr>
            <a:r>
              <a:rPr lang="en-US" sz="5400" b="1" dirty="0">
                <a:solidFill>
                  <a:srgbClr val="0359A6"/>
                </a:solidFill>
                <a:latin typeface="Times New Roman" panose="02020603050405020304" pitchFamily="18" charset="0"/>
                <a:ea typeface="Petrona Bold"/>
                <a:cs typeface="Times New Roman" panose="02020603050405020304" pitchFamily="18" charset="0"/>
              </a:rPr>
              <a:t>References</a:t>
            </a:r>
            <a:endParaRPr lang="en-US" sz="5400" dirty="0">
              <a:solidFill>
                <a:srgbClr val="0359A6"/>
              </a:solidFill>
              <a:latin typeface="Times New Roman" panose="02020603050405020304" pitchFamily="18" charset="0"/>
              <a:ea typeface="Petrona Bold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45C9674-0B6D-01E9-802D-46E14207C89E}"/>
              </a:ext>
            </a:extLst>
          </p:cNvPr>
          <p:cNvSpPr txBox="1"/>
          <p:nvPr/>
        </p:nvSpPr>
        <p:spPr>
          <a:xfrm>
            <a:off x="782174" y="1783080"/>
            <a:ext cx="88239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Y. Wang and D. Liu, “Image-Based Clone Code Detection and Visualization,” 978-1-7281-4691-1/19/$31.00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©2019 IEEE DOI 10.1109/AIAM48774.2019.00041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pp. 168–175, Oct. 2019,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10.1109/aiam48774.2019.00041. </a:t>
            </a:r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3B7E78-16C9-9C52-9405-65C37F5ACCBA}"/>
              </a:ext>
            </a:extLst>
          </p:cNvPr>
          <p:cNvSpPr txBox="1"/>
          <p:nvPr/>
        </p:nvSpPr>
        <p:spPr>
          <a:xfrm>
            <a:off x="782174" y="3084104"/>
            <a:ext cx="88239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C.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Ragkhitwetsagul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J. Krinke, and B. Marnette, “A picture is worth a thousand words: Code clone detection based on image similarity,” 978-1-5386-6430-8/18 © 2018 IEEE IWSC 2018, Campobasso, Italy. Accepted 10.1109/iwsc.2018.8327318. 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07E868-AE70-56B5-B329-5D98FEDD713B}"/>
              </a:ext>
            </a:extLst>
          </p:cNvPr>
          <p:cNvSpPr txBox="1"/>
          <p:nvPr/>
        </p:nvSpPr>
        <p:spPr>
          <a:xfrm>
            <a:off x="782174" y="4255041"/>
            <a:ext cx="88239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</a:t>
            </a: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https://solarianprogrammer.com/2018/11/19/cpp-reading-writing-bmp-images/</a:t>
            </a:r>
            <a:endParaRPr lang="en-US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BMP images normalization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A3103E-DCCF-B37A-005B-553A9C13E04E}"/>
              </a:ext>
            </a:extLst>
          </p:cNvPr>
          <p:cNvSpPr txBox="1"/>
          <p:nvPr/>
        </p:nvSpPr>
        <p:spPr>
          <a:xfrm>
            <a:off x="782174" y="5006764"/>
            <a:ext cx="88239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</a:t>
            </a: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https://www.geeksforgeeks.org/dsa/discrete-cosine-transform-algorithm-program/</a:t>
            </a:r>
            <a:endParaRPr lang="en-US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Discrete Cosine Transformation on the image for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pHash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similarity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62A085C-D429-A4B5-F511-B5E0BD3EF08B}"/>
              </a:ext>
            </a:extLst>
          </p:cNvPr>
          <p:cNvSpPr txBox="1"/>
          <p:nvPr/>
        </p:nvSpPr>
        <p:spPr>
          <a:xfrm>
            <a:off x="782174" y="5758487"/>
            <a:ext cx="88239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 </a:t>
            </a: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https://www.geeksforgeeks.org/maths/what-is-bilinear-interpolation/</a:t>
            </a:r>
            <a:endParaRPr lang="en-US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Bilinear Interpolation for resizing the images to desired dimension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FC538-BEC6-79AA-892C-3EC8301C1C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08CA8-8F19-4F06-8B41-BEC7E317AB10}" type="datetime1">
              <a:rPr lang="en-US" smtClean="0"/>
              <a:t>4/23/2026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C7B8D3-4861-CD2D-2C7F-A06D28914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77167-E697-4EBC-B8EC-2672F922F3D4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43183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" grpId="0"/>
      <p:bldP spid="3" grpId="0"/>
      <p:bldP spid="7" grpId="0"/>
      <p:bldP spid="8" grpId="0"/>
      <p:bldP spid="1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56B506-7E09-DE2A-1A17-A93D7BA1E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9586A46-38C4-2910-30A4-C2D2B54D5E9E}"/>
              </a:ext>
            </a:extLst>
          </p:cNvPr>
          <p:cNvSpPr/>
          <p:nvPr/>
        </p:nvSpPr>
        <p:spPr>
          <a:xfrm>
            <a:off x="782174" y="540065"/>
            <a:ext cx="13066052" cy="8489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5850"/>
              </a:lnSpc>
            </a:pPr>
            <a:r>
              <a:rPr lang="en-US" sz="5400" b="1" dirty="0">
                <a:solidFill>
                  <a:srgbClr val="0359A6"/>
                </a:solidFill>
                <a:latin typeface="Times New Roman" panose="02020603050405020304" pitchFamily="18" charset="0"/>
                <a:ea typeface="Petrona Bold"/>
                <a:cs typeface="Times New Roman" panose="02020603050405020304" pitchFamily="18" charset="0"/>
              </a:rPr>
              <a:t>References</a:t>
            </a:r>
            <a:endParaRPr lang="en-US" sz="5400" dirty="0">
              <a:solidFill>
                <a:srgbClr val="0359A6"/>
              </a:solidFill>
              <a:latin typeface="Times New Roman" panose="02020603050405020304" pitchFamily="18" charset="0"/>
              <a:ea typeface="Petrona Bold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57FDD57-27CA-1D65-2B0D-65F9A7080CF6}"/>
              </a:ext>
            </a:extLst>
          </p:cNvPr>
          <p:cNvSpPr txBox="1"/>
          <p:nvPr/>
        </p:nvSpPr>
        <p:spPr>
          <a:xfrm>
            <a:off x="822960" y="1783080"/>
            <a:ext cx="88239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[6] </a:t>
            </a: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https://docs.gephi.org/desktop/User_Manual/Import/GEXF_File_Format/</a:t>
            </a:r>
            <a:endParaRPr lang="en-US" dirty="0"/>
          </a:p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Format used to generate GEXF files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610A8C-4950-F317-7126-307027D5CF0F}"/>
              </a:ext>
            </a:extLst>
          </p:cNvPr>
          <p:cNvSpPr txBox="1"/>
          <p:nvPr/>
        </p:nvSpPr>
        <p:spPr>
          <a:xfrm>
            <a:off x="822960" y="2753904"/>
            <a:ext cx="88239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[7]</a:t>
            </a:r>
            <a:r>
              <a:rPr lang="en-US" dirty="0"/>
              <a:t> </a:t>
            </a: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https://developers.google.com/optimization/introduction/cppopers</a:t>
            </a:r>
            <a:endParaRPr lang="en-US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Or-tools used to solve the min-flow problem in EMD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05F397-8954-A37E-457E-3949FEE875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3B669-E97B-40DE-8677-35178AB10BA6}" type="datetime1">
              <a:rPr lang="en-US" smtClean="0"/>
              <a:t>4/23/2026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7B0F98-2099-B2C5-4D06-70DCFC09A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77167-E697-4EBC-B8EC-2672F922F3D4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4085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95B7FA-A49A-9CE3-9D14-9AD6658D88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A31E0FF5-08D4-A0A4-A9D3-23A5C8681B24}"/>
              </a:ext>
            </a:extLst>
          </p:cNvPr>
          <p:cNvGrpSpPr/>
          <p:nvPr/>
        </p:nvGrpSpPr>
        <p:grpSpPr>
          <a:xfrm>
            <a:off x="782174" y="3326628"/>
            <a:ext cx="13066052" cy="1576345"/>
            <a:chOff x="782174" y="1792945"/>
            <a:chExt cx="13066052" cy="1576345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7EC395B-3F6A-098E-B437-46234A572CB4}"/>
                </a:ext>
              </a:extLst>
            </p:cNvPr>
            <p:cNvSpPr/>
            <p:nvPr/>
          </p:nvSpPr>
          <p:spPr>
            <a:xfrm>
              <a:off x="782174" y="1792945"/>
              <a:ext cx="13066052" cy="848950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>
                <a:lnSpc>
                  <a:spcPts val="5850"/>
                </a:lnSpc>
              </a:pPr>
              <a:r>
                <a:rPr lang="en-US" sz="5400" b="1" dirty="0" err="1">
                  <a:solidFill>
                    <a:srgbClr val="0359A6"/>
                  </a:solidFill>
                  <a:latin typeface="Times New Roman" panose="02020603050405020304" pitchFamily="18" charset="0"/>
                  <a:ea typeface="Petrona Bold"/>
                  <a:cs typeface="Times New Roman" panose="02020603050405020304" pitchFamily="18" charset="0"/>
                </a:rPr>
                <a:t>Github</a:t>
              </a:r>
              <a:r>
                <a:rPr lang="en-US" sz="5400" b="1" dirty="0">
                  <a:solidFill>
                    <a:srgbClr val="0359A6"/>
                  </a:solidFill>
                  <a:latin typeface="Times New Roman" panose="02020603050405020304" pitchFamily="18" charset="0"/>
                  <a:ea typeface="Petrona Bold"/>
                  <a:cs typeface="Times New Roman" panose="02020603050405020304" pitchFamily="18" charset="0"/>
                </a:rPr>
                <a:t> Repository Link</a:t>
              </a:r>
              <a:endParaRPr lang="en-US" sz="5400" dirty="0">
                <a:solidFill>
                  <a:srgbClr val="0359A6"/>
                </a:solidFill>
                <a:latin typeface="Times New Roman" panose="02020603050405020304" pitchFamily="18" charset="0"/>
                <a:ea typeface="Petrona Bold"/>
                <a:cs typeface="Times New Roman" panose="02020603050405020304" pitchFamily="18" charset="0"/>
              </a:endParaRPr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3DA37AAB-F300-8494-C7FC-C74255241143}"/>
                </a:ext>
              </a:extLst>
            </p:cNvPr>
            <p:cNvSpPr txBox="1"/>
            <p:nvPr/>
          </p:nvSpPr>
          <p:spPr>
            <a:xfrm>
              <a:off x="2903220" y="2846070"/>
              <a:ext cx="882396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  <a:hlinkClick r:id="rId3"/>
                </a:rPr>
                <a:t>https://github.com/tawratnibir/SPL-1-ImCloneDetect</a:t>
              </a:r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EDD87F-D9C1-89D9-1A2F-B5C2A02014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B0660-3A09-4C06-83EB-E834F89E6CC8}" type="datetime1">
              <a:rPr lang="en-US" smtClean="0"/>
              <a:t>4/23/2026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F907DB-10DC-EB06-A7C6-D799DB060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77167-E697-4EBC-B8EC-2672F922F3D4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01450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1299</TotalTime>
  <Words>968</Words>
  <Application>Microsoft Office PowerPoint</Application>
  <PresentationFormat>Custom</PresentationFormat>
  <Paragraphs>244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Times New Roman</vt:lpstr>
      <vt:lpstr>Inter</vt:lpstr>
      <vt:lpstr>Aptos Display</vt:lpstr>
      <vt:lpstr>Cambria Math</vt:lpstr>
      <vt:lpstr>Arial</vt:lpstr>
      <vt:lpstr>Aptos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Tawrat Nibir</dc:creator>
  <cp:lastModifiedBy>Tawrat Nibir</cp:lastModifiedBy>
  <cp:revision>14</cp:revision>
  <dcterms:created xsi:type="dcterms:W3CDTF">2025-11-12T09:07:04Z</dcterms:created>
  <dcterms:modified xsi:type="dcterms:W3CDTF">2026-04-23T05:28:34Z</dcterms:modified>
</cp:coreProperties>
</file>